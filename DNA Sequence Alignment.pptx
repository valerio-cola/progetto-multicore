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0.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Slides/notesSlide23.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9"/>
  </p:notesMasterIdLst>
  <p:handoutMasterIdLst>
    <p:handoutMasterId r:id="rId30"/>
  </p:handoutMasterIdLst>
  <p:sldIdLst>
    <p:sldId id="257" r:id="rId5"/>
    <p:sldId id="276" r:id="rId6"/>
    <p:sldId id="268" r:id="rId7"/>
    <p:sldId id="272" r:id="rId8"/>
    <p:sldId id="274" r:id="rId9"/>
    <p:sldId id="273" r:id="rId10"/>
    <p:sldId id="275" r:id="rId11"/>
    <p:sldId id="277" r:id="rId12"/>
    <p:sldId id="278" r:id="rId13"/>
    <p:sldId id="279" r:id="rId14"/>
    <p:sldId id="280" r:id="rId15"/>
    <p:sldId id="282" r:id="rId16"/>
    <p:sldId id="281" r:id="rId17"/>
    <p:sldId id="283" r:id="rId18"/>
    <p:sldId id="284" r:id="rId19"/>
    <p:sldId id="285" r:id="rId20"/>
    <p:sldId id="286" r:id="rId21"/>
    <p:sldId id="287" r:id="rId22"/>
    <p:sldId id="288" r:id="rId23"/>
    <p:sldId id="289" r:id="rId24"/>
    <p:sldId id="290" r:id="rId25"/>
    <p:sldId id="293" r:id="rId26"/>
    <p:sldId id="291" r:id="rId27"/>
    <p:sldId id="292" r:id="rId28"/>
  </p:sldIdLst>
  <p:sldSz cx="12188825" cy="6858000"/>
  <p:notesSz cx="6858000" cy="9144000"/>
  <p:defaultTextStyle>
    <a:defPPr rtl="0">
      <a:defRPr lang="it-it"/>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CDCFE"/>
    <a:srgbClr val="394404"/>
    <a:srgbClr val="5F6F0F"/>
    <a:srgbClr val="718412"/>
    <a:srgbClr val="65741A"/>
    <a:srgbClr val="70811D"/>
    <a:srgbClr val="7B8D1F"/>
    <a:srgbClr val="839721"/>
    <a:srgbClr val="95AB25"/>
    <a:srgbClr val="BC55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6469" autoAdjust="0"/>
  </p:normalViewPr>
  <p:slideViewPr>
    <p:cSldViewPr>
      <p:cViewPr varScale="1">
        <p:scale>
          <a:sx n="107" d="100"/>
          <a:sy n="107" d="100"/>
        </p:scale>
        <p:origin x="72" y="84"/>
      </p:cViewPr>
      <p:guideLst>
        <p:guide orient="horz" pos="2160"/>
        <p:guide pos="3839"/>
      </p:guideLst>
    </p:cSldViewPr>
  </p:slideViewPr>
  <p:notesTextViewPr>
    <p:cViewPr>
      <p:scale>
        <a:sx n="1" d="1"/>
        <a:sy n="1" d="1"/>
      </p:scale>
      <p:origin x="0" y="0"/>
    </p:cViewPr>
  </p:notesTextViewPr>
  <p:notesViewPr>
    <p:cSldViewPr showGuides="1">
      <p:cViewPr varScale="1">
        <p:scale>
          <a:sx n="89" d="100"/>
          <a:sy n="89" d="100"/>
        </p:scale>
        <p:origin x="3750"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8" Type="http://schemas.openxmlformats.org/officeDocument/2006/relationships/slide" Target="slides/slide4.xml"/></Relationships>
</file>

<file path=ppt/charts/_rels/chart4.xml.rels><?xml version="1.0" encoding="UTF-8" standalone="yes"?>
<Relationships xmlns="http://schemas.openxmlformats.org/package/2006/relationships"><Relationship Id="rId1" Type="http://schemas.openxmlformats.org/officeDocument/2006/relationships/oleObject" Target="file:///C:\Users\Valerio\OneDrive%20-%20clstdio\Desktop\Dati%20Computazionali.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Valerio\OneDrive%20-%20clstdio\Desktop\Dati%20Computazionali.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C:\Users\Valerio\OneDrive%20-%20clstdio\Desktop\Dati%20Computazionali.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C:\Users\Valerio\OneDrive%20-%20clstdio\Desktop\Dati%20Computazionali.xlsx"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file:///C:\Users\Valerio\OneDrive%20-%20clstdio\Desktop\Dati%20Computazionali.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0"/>
  <c:style val="2"/>
  <c:chart>
    <c:autoTitleDeleted val="1"/>
    <c:plotArea>
      <c:layout>
        <c:manualLayout>
          <c:layoutTarget val="inner"/>
          <c:xMode val="edge"/>
          <c:yMode val="edge"/>
          <c:x val="8.7882901493242002E-2"/>
          <c:y val="4.82042279277302E-2"/>
          <c:w val="0.90662810600247901"/>
          <c:h val="0.70836076366030298"/>
        </c:manualLayout>
      </c:layout>
      <c:lineChart>
        <c:grouping val="standard"/>
        <c:varyColors val="0"/>
        <c:ser>
          <c:idx val="0"/>
          <c:order val="0"/>
          <c:tx>
            <c:strRef>
              <c:f>label 0</c:f>
              <c:strCache>
                <c:ptCount val="1"/>
                <c:pt idx="0">
                  <c:v>Sequenziale</c:v>
                </c:pt>
              </c:strCache>
            </c:strRef>
          </c:tx>
          <c:spPr>
            <a:ln w="28440" cap="rnd">
              <a:solidFill>
                <a:srgbClr val="156082"/>
              </a:solidFill>
              <a:round/>
            </a:ln>
          </c:spPr>
          <c:marker>
            <c:symbol val="circle"/>
            <c:size val="5"/>
            <c:spPr>
              <a:solidFill>
                <a:srgbClr val="156082"/>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categories</c:f>
              <c:strCache>
                <c:ptCount val="7"/>
                <c:pt idx="0">
                  <c:v>100</c:v>
                </c:pt>
                <c:pt idx="1">
                  <c:v>1000</c:v>
                </c:pt>
                <c:pt idx="2">
                  <c:v>10000</c:v>
                </c:pt>
                <c:pt idx="3">
                  <c:v>100000</c:v>
                </c:pt>
                <c:pt idx="4">
                  <c:v>1000000</c:v>
                </c:pt>
                <c:pt idx="5">
                  <c:v>5000000</c:v>
                </c:pt>
                <c:pt idx="6">
                  <c:v>10000000</c:v>
                </c:pt>
              </c:strCache>
            </c:strRef>
          </c:cat>
          <c:val>
            <c:numRef>
              <c:f>0</c:f>
              <c:numCache>
                <c:formatCode>0.00000</c:formatCode>
                <c:ptCount val="7"/>
                <c:pt idx="0">
                  <c:v>2.4459999999999998E-4</c:v>
                </c:pt>
                <c:pt idx="1">
                  <c:v>3.1229999999999999E-3</c:v>
                </c:pt>
                <c:pt idx="2">
                  <c:v>3.0973000000000001E-2</c:v>
                </c:pt>
                <c:pt idx="3">
                  <c:v>0.28877439999999999</c:v>
                </c:pt>
                <c:pt idx="4">
                  <c:v>2.3889634000000002</c:v>
                </c:pt>
                <c:pt idx="5">
                  <c:v>10.516999999999999</c:v>
                </c:pt>
                <c:pt idx="6">
                  <c:v>20.852636799999999</c:v>
                </c:pt>
              </c:numCache>
            </c:numRef>
          </c:val>
          <c:smooth val="0"/>
          <c:extLst>
            <c:ext xmlns:c16="http://schemas.microsoft.com/office/drawing/2014/chart" uri="{C3380CC4-5D6E-409C-BE32-E72D297353CC}">
              <c16:uniqueId val="{00000000-D4DD-4933-9D80-DB190AD2DE95}"/>
            </c:ext>
          </c:extLst>
        </c:ser>
        <c:ser>
          <c:idx val="1"/>
          <c:order val="1"/>
          <c:tx>
            <c:strRef>
              <c:f>label 1</c:f>
              <c:strCache>
                <c:ptCount val="1"/>
                <c:pt idx="0">
                  <c:v>MPI (4)</c:v>
                </c:pt>
              </c:strCache>
            </c:strRef>
          </c:tx>
          <c:spPr>
            <a:ln w="28440" cap="rnd">
              <a:solidFill>
                <a:srgbClr val="E97132"/>
              </a:solidFill>
              <a:round/>
            </a:ln>
          </c:spPr>
          <c:marker>
            <c:symbol val="circle"/>
            <c:size val="5"/>
            <c:spPr>
              <a:solidFill>
                <a:srgbClr val="E97132"/>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categories</c:f>
              <c:strCache>
                <c:ptCount val="7"/>
                <c:pt idx="0">
                  <c:v>100</c:v>
                </c:pt>
                <c:pt idx="1">
                  <c:v>1000</c:v>
                </c:pt>
                <c:pt idx="2">
                  <c:v>10000</c:v>
                </c:pt>
                <c:pt idx="3">
                  <c:v>100000</c:v>
                </c:pt>
                <c:pt idx="4">
                  <c:v>1000000</c:v>
                </c:pt>
                <c:pt idx="5">
                  <c:v>5000000</c:v>
                </c:pt>
                <c:pt idx="6">
                  <c:v>10000000</c:v>
                </c:pt>
              </c:strCache>
            </c:strRef>
          </c:cat>
          <c:val>
            <c:numRef>
              <c:f>1</c:f>
              <c:numCache>
                <c:formatCode>0.00000</c:formatCode>
                <c:ptCount val="7"/>
                <c:pt idx="0">
                  <c:v>2.0540000000000001E-4</c:v>
                </c:pt>
                <c:pt idx="1">
                  <c:v>1.325E-3</c:v>
                </c:pt>
                <c:pt idx="2">
                  <c:v>1.0229200000000001E-2</c:v>
                </c:pt>
                <c:pt idx="3">
                  <c:v>8.6048200000000005E-2</c:v>
                </c:pt>
                <c:pt idx="4">
                  <c:v>0.76709479999999997</c:v>
                </c:pt>
                <c:pt idx="5">
                  <c:v>3.5550000000000002</c:v>
                </c:pt>
                <c:pt idx="6">
                  <c:v>7.2506959999999996</c:v>
                </c:pt>
              </c:numCache>
            </c:numRef>
          </c:val>
          <c:smooth val="0"/>
          <c:extLst>
            <c:ext xmlns:c16="http://schemas.microsoft.com/office/drawing/2014/chart" uri="{C3380CC4-5D6E-409C-BE32-E72D297353CC}">
              <c16:uniqueId val="{00000001-D4DD-4933-9D80-DB190AD2DE95}"/>
            </c:ext>
          </c:extLst>
        </c:ser>
        <c:ser>
          <c:idx val="2"/>
          <c:order val="2"/>
          <c:tx>
            <c:strRef>
              <c:f>label 2</c:f>
              <c:strCache>
                <c:ptCount val="1"/>
                <c:pt idx="0">
                  <c:v>MPI (8)</c:v>
                </c:pt>
              </c:strCache>
            </c:strRef>
          </c:tx>
          <c:spPr>
            <a:ln w="28440" cap="rnd">
              <a:solidFill>
                <a:srgbClr val="A02B93"/>
              </a:solidFill>
              <a:round/>
            </a:ln>
          </c:spPr>
          <c:marker>
            <c:symbol val="circle"/>
            <c:size val="5"/>
            <c:spPr>
              <a:solidFill>
                <a:srgbClr val="A02B93"/>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categories</c:f>
              <c:strCache>
                <c:ptCount val="7"/>
                <c:pt idx="0">
                  <c:v>100</c:v>
                </c:pt>
                <c:pt idx="1">
                  <c:v>1000</c:v>
                </c:pt>
                <c:pt idx="2">
                  <c:v>10000</c:v>
                </c:pt>
                <c:pt idx="3">
                  <c:v>100000</c:v>
                </c:pt>
                <c:pt idx="4">
                  <c:v>1000000</c:v>
                </c:pt>
                <c:pt idx="5">
                  <c:v>5000000</c:v>
                </c:pt>
                <c:pt idx="6">
                  <c:v>10000000</c:v>
                </c:pt>
              </c:strCache>
            </c:strRef>
          </c:cat>
          <c:val>
            <c:numRef>
              <c:f>2</c:f>
              <c:numCache>
                <c:formatCode>0.00000</c:formatCode>
                <c:ptCount val="7"/>
                <c:pt idx="0">
                  <c:v>3.1700000000000001E-4</c:v>
                </c:pt>
                <c:pt idx="1">
                  <c:v>9.6100000000000005E-4</c:v>
                </c:pt>
                <c:pt idx="2">
                  <c:v>5.9040000000000004E-3</c:v>
                </c:pt>
                <c:pt idx="3">
                  <c:v>5.0375999999999997E-2</c:v>
                </c:pt>
                <c:pt idx="4">
                  <c:v>0.4513064</c:v>
                </c:pt>
                <c:pt idx="5">
                  <c:v>2.1469999999999998</c:v>
                </c:pt>
                <c:pt idx="6">
                  <c:v>3.9914421999999998</c:v>
                </c:pt>
              </c:numCache>
            </c:numRef>
          </c:val>
          <c:smooth val="0"/>
          <c:extLst>
            <c:ext xmlns:c16="http://schemas.microsoft.com/office/drawing/2014/chart" uri="{C3380CC4-5D6E-409C-BE32-E72D297353CC}">
              <c16:uniqueId val="{00000002-D4DD-4933-9D80-DB190AD2DE95}"/>
            </c:ext>
          </c:extLst>
        </c:ser>
        <c:ser>
          <c:idx val="3"/>
          <c:order val="3"/>
          <c:tx>
            <c:strRef>
              <c:f>label 3</c:f>
              <c:strCache>
                <c:ptCount val="1"/>
                <c:pt idx="0">
                  <c:v>MPI (16)</c:v>
                </c:pt>
              </c:strCache>
            </c:strRef>
          </c:tx>
          <c:spPr>
            <a:ln w="28440" cap="rnd">
              <a:solidFill>
                <a:srgbClr val="4EA72E"/>
              </a:solidFill>
              <a:round/>
            </a:ln>
          </c:spPr>
          <c:marker>
            <c:symbol val="circle"/>
            <c:size val="5"/>
            <c:spPr>
              <a:solidFill>
                <a:srgbClr val="4EA72E"/>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categories</c:f>
              <c:strCache>
                <c:ptCount val="7"/>
                <c:pt idx="0">
                  <c:v>100</c:v>
                </c:pt>
                <c:pt idx="1">
                  <c:v>1000</c:v>
                </c:pt>
                <c:pt idx="2">
                  <c:v>10000</c:v>
                </c:pt>
                <c:pt idx="3">
                  <c:v>100000</c:v>
                </c:pt>
                <c:pt idx="4">
                  <c:v>1000000</c:v>
                </c:pt>
                <c:pt idx="5">
                  <c:v>5000000</c:v>
                </c:pt>
                <c:pt idx="6">
                  <c:v>10000000</c:v>
                </c:pt>
              </c:strCache>
            </c:strRef>
          </c:cat>
          <c:val>
            <c:numRef>
              <c:f>3</c:f>
              <c:numCache>
                <c:formatCode>0.00000</c:formatCode>
                <c:ptCount val="7"/>
                <c:pt idx="0">
                  <c:v>4.08E-4</c:v>
                </c:pt>
                <c:pt idx="1">
                  <c:v>7.2800000000000002E-4</c:v>
                </c:pt>
                <c:pt idx="2">
                  <c:v>4.2379999999999996E-3</c:v>
                </c:pt>
                <c:pt idx="3">
                  <c:v>3.0557000000000001E-2</c:v>
                </c:pt>
                <c:pt idx="4">
                  <c:v>0.28589599999999998</c:v>
                </c:pt>
                <c:pt idx="5">
                  <c:v>1.1970000000000001</c:v>
                </c:pt>
                <c:pt idx="6">
                  <c:v>2.9795218000000001</c:v>
                </c:pt>
              </c:numCache>
            </c:numRef>
          </c:val>
          <c:smooth val="0"/>
          <c:extLst>
            <c:ext xmlns:c16="http://schemas.microsoft.com/office/drawing/2014/chart" uri="{C3380CC4-5D6E-409C-BE32-E72D297353CC}">
              <c16:uniqueId val="{00000003-D4DD-4933-9D80-DB190AD2DE95}"/>
            </c:ext>
          </c:extLst>
        </c:ser>
        <c:ser>
          <c:idx val="4"/>
          <c:order val="4"/>
          <c:tx>
            <c:strRef>
              <c:f>label 4</c:f>
              <c:strCache>
                <c:ptCount val="1"/>
                <c:pt idx="0">
                  <c:v>CUDA</c:v>
                </c:pt>
              </c:strCache>
            </c:strRef>
          </c:tx>
          <c:spPr>
            <a:ln w="28440" cap="rnd">
              <a:solidFill>
                <a:srgbClr val="196B24"/>
              </a:solidFill>
              <a:round/>
            </a:ln>
          </c:spPr>
          <c:marker>
            <c:symbol val="circle"/>
            <c:size val="5"/>
            <c:spPr>
              <a:solidFill>
                <a:srgbClr val="196B24"/>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categories</c:f>
              <c:strCache>
                <c:ptCount val="7"/>
                <c:pt idx="0">
                  <c:v>100</c:v>
                </c:pt>
                <c:pt idx="1">
                  <c:v>1000</c:v>
                </c:pt>
                <c:pt idx="2">
                  <c:v>10000</c:v>
                </c:pt>
                <c:pt idx="3">
                  <c:v>100000</c:v>
                </c:pt>
                <c:pt idx="4">
                  <c:v>1000000</c:v>
                </c:pt>
                <c:pt idx="5">
                  <c:v>5000000</c:v>
                </c:pt>
                <c:pt idx="6">
                  <c:v>10000000</c:v>
                </c:pt>
              </c:strCache>
            </c:strRef>
          </c:cat>
          <c:val>
            <c:numRef>
              <c:f>4</c:f>
              <c:numCache>
                <c:formatCode>0.00000</c:formatCode>
                <c:ptCount val="7"/>
                <c:pt idx="0">
                  <c:v>3.726E-4</c:v>
                </c:pt>
                <c:pt idx="1">
                  <c:v>1.6302000000000001E-3</c:v>
                </c:pt>
                <c:pt idx="2">
                  <c:v>1.27736E-2</c:v>
                </c:pt>
                <c:pt idx="3">
                  <c:v>9.7645800000000005E-2</c:v>
                </c:pt>
                <c:pt idx="4">
                  <c:v>0.84604539999999995</c:v>
                </c:pt>
                <c:pt idx="5">
                  <c:v>4.1180000000000003</c:v>
                </c:pt>
                <c:pt idx="6">
                  <c:v>8.1194615999999993</c:v>
                </c:pt>
              </c:numCache>
            </c:numRef>
          </c:val>
          <c:smooth val="0"/>
          <c:extLst>
            <c:ext xmlns:c16="http://schemas.microsoft.com/office/drawing/2014/chart" uri="{C3380CC4-5D6E-409C-BE32-E72D297353CC}">
              <c16:uniqueId val="{00000004-D4DD-4933-9D80-DB190AD2DE95}"/>
            </c:ext>
          </c:extLst>
        </c:ser>
        <c:ser>
          <c:idx val="5"/>
          <c:order val="5"/>
          <c:tx>
            <c:strRef>
              <c:f>label 5</c:f>
              <c:strCache>
                <c:ptCount val="1"/>
                <c:pt idx="0">
                  <c:v>MPI+CUDA</c:v>
                </c:pt>
              </c:strCache>
            </c:strRef>
          </c:tx>
          <c:spPr>
            <a:ln w="28440" cap="rnd">
              <a:solidFill>
                <a:srgbClr val="0F9ED5"/>
              </a:solidFill>
              <a:round/>
            </a:ln>
          </c:spPr>
          <c:marker>
            <c:symbol val="circle"/>
            <c:size val="5"/>
            <c:spPr>
              <a:solidFill>
                <a:srgbClr val="0F9ED5"/>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categories</c:f>
              <c:strCache>
                <c:ptCount val="7"/>
                <c:pt idx="0">
                  <c:v>100</c:v>
                </c:pt>
                <c:pt idx="1">
                  <c:v>1000</c:v>
                </c:pt>
                <c:pt idx="2">
                  <c:v>10000</c:v>
                </c:pt>
                <c:pt idx="3">
                  <c:v>100000</c:v>
                </c:pt>
                <c:pt idx="4">
                  <c:v>1000000</c:v>
                </c:pt>
                <c:pt idx="5">
                  <c:v>5000000</c:v>
                </c:pt>
                <c:pt idx="6">
                  <c:v>10000000</c:v>
                </c:pt>
              </c:strCache>
            </c:strRef>
          </c:cat>
          <c:val>
            <c:numRef>
              <c:f>5</c:f>
              <c:numCache>
                <c:formatCode>0.00000</c:formatCode>
                <c:ptCount val="7"/>
                <c:pt idx="0">
                  <c:v>7.2460000000000005E-4</c:v>
                </c:pt>
                <c:pt idx="1">
                  <c:v>1.5391999999999999E-3</c:v>
                </c:pt>
                <c:pt idx="2">
                  <c:v>9.6845999999999998E-3</c:v>
                </c:pt>
                <c:pt idx="3">
                  <c:v>7.7296599999999993E-2</c:v>
                </c:pt>
                <c:pt idx="4">
                  <c:v>0.66821419999999998</c:v>
                </c:pt>
                <c:pt idx="5">
                  <c:v>3.469411</c:v>
                </c:pt>
                <c:pt idx="6">
                  <c:v>6.7293741999999996</c:v>
                </c:pt>
              </c:numCache>
            </c:numRef>
          </c:val>
          <c:smooth val="0"/>
          <c:extLst>
            <c:ext xmlns:c16="http://schemas.microsoft.com/office/drawing/2014/chart" uri="{C3380CC4-5D6E-409C-BE32-E72D297353CC}">
              <c16:uniqueId val="{00000005-D4DD-4933-9D80-DB190AD2DE95}"/>
            </c:ext>
          </c:extLst>
        </c:ser>
        <c:dLbls>
          <c:showLegendKey val="0"/>
          <c:showVal val="0"/>
          <c:showCatName val="0"/>
          <c:showSerName val="0"/>
          <c:showPercent val="0"/>
          <c:showBubbleSize val="0"/>
        </c:dLbls>
        <c:hiLowLines>
          <c:spPr>
            <a:ln w="0">
              <a:noFill/>
            </a:ln>
          </c:spPr>
        </c:hiLowLines>
        <c:marker val="1"/>
        <c:smooth val="0"/>
        <c:axId val="95721173"/>
        <c:axId val="63574456"/>
      </c:lineChart>
      <c:catAx>
        <c:axId val="95721173"/>
        <c:scaling>
          <c:orientation val="minMax"/>
        </c:scaling>
        <c:delete val="0"/>
        <c:axPos val="b"/>
        <c:title>
          <c:tx>
            <c:rich>
              <a:bodyPr rot="0"/>
              <a:lstStyle/>
              <a:p>
                <a:pPr>
                  <a:defRPr sz="1400" b="0" u="none" strike="noStrike">
                    <a:solidFill>
                      <a:srgbClr val="000000"/>
                    </a:solidFill>
                    <a:uFillTx/>
                    <a:latin typeface="Arial"/>
                  </a:defRPr>
                </a:pPr>
                <a:r>
                  <a:rPr lang="it-IT" sz="1400" b="0" u="none" strike="noStrike">
                    <a:solidFill>
                      <a:srgbClr val="595959"/>
                    </a:solidFill>
                    <a:uFillTx/>
                    <a:latin typeface="CMU Serif"/>
                  </a:rPr>
                  <a:t>Lunghezza</a:t>
                </a:r>
              </a:p>
            </c:rich>
          </c:tx>
          <c:layout>
            <c:manualLayout>
              <c:xMode val="edge"/>
              <c:yMode val="edge"/>
              <c:x val="2.30183556631057E-3"/>
              <c:y val="0.70470338673103705"/>
            </c:manualLayout>
          </c:layout>
          <c:overlay val="0"/>
          <c:spPr>
            <a:noFill/>
            <a:ln w="0">
              <a:noFill/>
            </a:ln>
          </c:spPr>
        </c:title>
        <c:numFmt formatCode="General" sourceLinked="0"/>
        <c:majorTickMark val="none"/>
        <c:minorTickMark val="none"/>
        <c:tickLblPos val="nextTo"/>
        <c:spPr>
          <a:ln w="9360">
            <a:solidFill>
              <a:srgbClr val="D9D9D9"/>
            </a:solidFill>
            <a:round/>
          </a:ln>
        </c:spPr>
        <c:txPr>
          <a:bodyPr/>
          <a:lstStyle/>
          <a:p>
            <a:pPr>
              <a:defRPr sz="900" b="0" u="none" strike="noStrike">
                <a:solidFill>
                  <a:srgbClr val="595959"/>
                </a:solidFill>
                <a:uFillTx/>
                <a:latin typeface="Aptos Narrow"/>
              </a:defRPr>
            </a:pPr>
            <a:endParaRPr lang="it-IT"/>
          </a:p>
        </c:txPr>
        <c:crossAx val="63574456"/>
        <c:crosses val="autoZero"/>
        <c:auto val="1"/>
        <c:lblAlgn val="ctr"/>
        <c:lblOffset val="100"/>
        <c:noMultiLvlLbl val="0"/>
      </c:catAx>
      <c:valAx>
        <c:axId val="63574456"/>
        <c:scaling>
          <c:logBase val="10"/>
          <c:orientation val="minMax"/>
          <c:max val="100"/>
          <c:min val="1E-4"/>
        </c:scaling>
        <c:delete val="0"/>
        <c:axPos val="l"/>
        <c:majorGridlines>
          <c:spPr>
            <a:ln w="9360">
              <a:solidFill>
                <a:srgbClr val="D9D9D9"/>
              </a:solidFill>
              <a:round/>
            </a:ln>
          </c:spPr>
        </c:majorGridlines>
        <c:title>
          <c:tx>
            <c:rich>
              <a:bodyPr rot="-5400000"/>
              <a:lstStyle/>
              <a:p>
                <a:pPr>
                  <a:defRPr sz="1600" b="0" u="none" strike="noStrike">
                    <a:solidFill>
                      <a:srgbClr val="000000"/>
                    </a:solidFill>
                    <a:uFillTx/>
                    <a:latin typeface="Arial"/>
                  </a:defRPr>
                </a:pPr>
                <a:r>
                  <a:rPr lang="it-IT" sz="1600" b="0" u="none" strike="noStrike">
                    <a:solidFill>
                      <a:srgbClr val="595959"/>
                    </a:solidFill>
                    <a:uFillTx/>
                    <a:latin typeface="CMU Serif"/>
                  </a:rPr>
                  <a:t>Tempo in secondi</a:t>
                </a:r>
              </a:p>
            </c:rich>
          </c:tx>
          <c:layout>
            <c:manualLayout>
              <c:xMode val="edge"/>
              <c:yMode val="edge"/>
              <c:x val="1.8768773200068208E-2"/>
              <c:y val="0.21704523287003169"/>
            </c:manualLayout>
          </c:layout>
          <c:overlay val="0"/>
          <c:spPr>
            <a:noFill/>
            <a:ln w="0">
              <a:noFill/>
            </a:ln>
          </c:spPr>
        </c:title>
        <c:numFmt formatCode="General" sourceLinked="0"/>
        <c:majorTickMark val="none"/>
        <c:minorTickMark val="none"/>
        <c:tickLblPos val="nextTo"/>
        <c:spPr>
          <a:ln w="12600">
            <a:noFill/>
          </a:ln>
        </c:spPr>
        <c:txPr>
          <a:bodyPr/>
          <a:lstStyle/>
          <a:p>
            <a:pPr>
              <a:defRPr sz="1050" b="0" u="none" strike="noStrike">
                <a:solidFill>
                  <a:srgbClr val="595959"/>
                </a:solidFill>
                <a:uFillTx/>
                <a:latin typeface="Aptos Narrow"/>
              </a:defRPr>
            </a:pPr>
            <a:endParaRPr lang="it-IT"/>
          </a:p>
        </c:txPr>
        <c:crossAx val="95721173"/>
        <c:crosses val="autoZero"/>
        <c:crossBetween val="between"/>
      </c:valAx>
      <c:dTable>
        <c:showHorzBorder val="1"/>
        <c:showVertBorder val="1"/>
        <c:showOutline val="1"/>
        <c:showKeys val="1"/>
        <c:spPr>
          <a:noFill/>
          <a:ln w="9360">
            <a:solidFill>
              <a:srgbClr val="D9D9D9"/>
            </a:solidFill>
            <a:round/>
          </a:ln>
        </c:spPr>
        <c:txPr>
          <a:bodyPr/>
          <a:lstStyle/>
          <a:p>
            <a:pPr rtl="0">
              <a:defRPr sz="1050" b="0" u="none" strike="noStrike">
                <a:solidFill>
                  <a:srgbClr val="595959"/>
                </a:solidFill>
                <a:uFillTx/>
                <a:latin typeface="Aptos Narrow"/>
              </a:defRPr>
            </a:pPr>
            <a:endParaRPr lang="it-IT"/>
          </a:p>
        </c:txPr>
      </c:dTable>
      <c:spPr>
        <a:noFill/>
        <a:ln w="0">
          <a:noFill/>
        </a:ln>
      </c:spPr>
    </c:plotArea>
    <c:plotVisOnly val="1"/>
    <c:dispBlanksAs val="gap"/>
    <c:showDLblsOverMax val="1"/>
  </c:chart>
  <c:spPr>
    <a:solidFill>
      <a:srgbClr val="FFFFFF"/>
    </a:solidFill>
    <a:ln w="9360">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0"/>
  <c:style val="2"/>
  <c:chart>
    <c:autoTitleDeleted val="1"/>
    <c:plotArea>
      <c:layout>
        <c:manualLayout>
          <c:layoutTarget val="inner"/>
          <c:xMode val="edge"/>
          <c:yMode val="edge"/>
          <c:x val="9.3312872572743899E-2"/>
          <c:y val="1.7262819106137101E-2"/>
          <c:w val="0.90662810600247901"/>
          <c:h val="0.70836076366030298"/>
        </c:manualLayout>
      </c:layout>
      <c:lineChart>
        <c:grouping val="standard"/>
        <c:varyColors val="0"/>
        <c:ser>
          <c:idx val="0"/>
          <c:order val="0"/>
          <c:tx>
            <c:strRef>
              <c:f>label 0</c:f>
              <c:strCache>
                <c:ptCount val="1"/>
                <c:pt idx="0">
                  <c:v>Sequenziale</c:v>
                </c:pt>
              </c:strCache>
            </c:strRef>
          </c:tx>
          <c:spPr>
            <a:ln w="28440" cap="rnd">
              <a:solidFill>
                <a:srgbClr val="156082"/>
              </a:solidFill>
              <a:round/>
            </a:ln>
          </c:spPr>
          <c:marker>
            <c:symbol val="circle"/>
            <c:size val="5"/>
            <c:spPr>
              <a:solidFill>
                <a:srgbClr val="156082"/>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categories</c:f>
              <c:strCache>
                <c:ptCount val="7"/>
                <c:pt idx="0">
                  <c:v>100</c:v>
                </c:pt>
                <c:pt idx="1">
                  <c:v>1000</c:v>
                </c:pt>
                <c:pt idx="2">
                  <c:v>10000</c:v>
                </c:pt>
                <c:pt idx="3">
                  <c:v>100000</c:v>
                </c:pt>
                <c:pt idx="4">
                  <c:v>1000000</c:v>
                </c:pt>
                <c:pt idx="5">
                  <c:v>5000000</c:v>
                </c:pt>
                <c:pt idx="6">
                  <c:v>10000000</c:v>
                </c:pt>
              </c:strCache>
            </c:strRef>
          </c:cat>
          <c:val>
            <c:numRef>
              <c:f>0</c:f>
              <c:numCache>
                <c:formatCode>0.00000</c:formatCode>
                <c:ptCount val="7"/>
                <c:pt idx="0">
                  <c:v>1.4999999999999999E-4</c:v>
                </c:pt>
                <c:pt idx="1">
                  <c:v>2.173E-3</c:v>
                </c:pt>
                <c:pt idx="2">
                  <c:v>2.1033E-2</c:v>
                </c:pt>
                <c:pt idx="3">
                  <c:v>0.19085833333333299</c:v>
                </c:pt>
                <c:pt idx="4">
                  <c:v>1.6579523333333299</c:v>
                </c:pt>
                <c:pt idx="5">
                  <c:v>6.6898309999999999</c:v>
                </c:pt>
                <c:pt idx="6">
                  <c:v>13.4180246666667</c:v>
                </c:pt>
              </c:numCache>
            </c:numRef>
          </c:val>
          <c:smooth val="0"/>
          <c:extLst>
            <c:ext xmlns:c16="http://schemas.microsoft.com/office/drawing/2014/chart" uri="{C3380CC4-5D6E-409C-BE32-E72D297353CC}">
              <c16:uniqueId val="{00000000-603F-40F0-A6FC-3B890739C15C}"/>
            </c:ext>
          </c:extLst>
        </c:ser>
        <c:ser>
          <c:idx val="1"/>
          <c:order val="1"/>
          <c:tx>
            <c:strRef>
              <c:f>label 1</c:f>
              <c:strCache>
                <c:ptCount val="1"/>
                <c:pt idx="0">
                  <c:v>OpenMP (2)</c:v>
                </c:pt>
              </c:strCache>
            </c:strRef>
          </c:tx>
          <c:spPr>
            <a:ln w="28440" cap="rnd">
              <a:solidFill>
                <a:srgbClr val="E97132"/>
              </a:solidFill>
              <a:round/>
            </a:ln>
          </c:spPr>
          <c:marker>
            <c:symbol val="circle"/>
            <c:size val="5"/>
            <c:spPr>
              <a:solidFill>
                <a:srgbClr val="E97132"/>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categories</c:f>
              <c:strCache>
                <c:ptCount val="7"/>
                <c:pt idx="0">
                  <c:v>100</c:v>
                </c:pt>
                <c:pt idx="1">
                  <c:v>1000</c:v>
                </c:pt>
                <c:pt idx="2">
                  <c:v>10000</c:v>
                </c:pt>
                <c:pt idx="3">
                  <c:v>100000</c:v>
                </c:pt>
                <c:pt idx="4">
                  <c:v>1000000</c:v>
                </c:pt>
                <c:pt idx="5">
                  <c:v>5000000</c:v>
                </c:pt>
                <c:pt idx="6">
                  <c:v>10000000</c:v>
                </c:pt>
              </c:strCache>
            </c:strRef>
          </c:cat>
          <c:val>
            <c:numRef>
              <c:f>1</c:f>
              <c:numCache>
                <c:formatCode>0.00000</c:formatCode>
                <c:ptCount val="7"/>
                <c:pt idx="0">
                  <c:v>2.8800000000000001E-4</c:v>
                </c:pt>
                <c:pt idx="1">
                  <c:v>1.1473333333333301E-3</c:v>
                </c:pt>
                <c:pt idx="2">
                  <c:v>1.1872333333333301E-2</c:v>
                </c:pt>
                <c:pt idx="3">
                  <c:v>0.10700233333333301</c:v>
                </c:pt>
                <c:pt idx="4">
                  <c:v>0.91200466666666702</c:v>
                </c:pt>
                <c:pt idx="5">
                  <c:v>4.0424056666666699</c:v>
                </c:pt>
                <c:pt idx="6">
                  <c:v>7.7441256666666698</c:v>
                </c:pt>
              </c:numCache>
            </c:numRef>
          </c:val>
          <c:smooth val="0"/>
          <c:extLst>
            <c:ext xmlns:c16="http://schemas.microsoft.com/office/drawing/2014/chart" uri="{C3380CC4-5D6E-409C-BE32-E72D297353CC}">
              <c16:uniqueId val="{00000001-603F-40F0-A6FC-3B890739C15C}"/>
            </c:ext>
          </c:extLst>
        </c:ser>
        <c:ser>
          <c:idx val="2"/>
          <c:order val="2"/>
          <c:tx>
            <c:strRef>
              <c:f>label 2</c:f>
              <c:strCache>
                <c:ptCount val="1"/>
                <c:pt idx="0">
                  <c:v>OpenMP (4)</c:v>
                </c:pt>
              </c:strCache>
            </c:strRef>
          </c:tx>
          <c:spPr>
            <a:ln w="28440" cap="rnd">
              <a:solidFill>
                <a:srgbClr val="A02B93"/>
              </a:solidFill>
              <a:round/>
            </a:ln>
          </c:spPr>
          <c:marker>
            <c:symbol val="circle"/>
            <c:size val="5"/>
            <c:spPr>
              <a:solidFill>
                <a:srgbClr val="A02B93"/>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categories</c:f>
              <c:strCache>
                <c:ptCount val="7"/>
                <c:pt idx="0">
                  <c:v>100</c:v>
                </c:pt>
                <c:pt idx="1">
                  <c:v>1000</c:v>
                </c:pt>
                <c:pt idx="2">
                  <c:v>10000</c:v>
                </c:pt>
                <c:pt idx="3">
                  <c:v>100000</c:v>
                </c:pt>
                <c:pt idx="4">
                  <c:v>1000000</c:v>
                </c:pt>
                <c:pt idx="5">
                  <c:v>5000000</c:v>
                </c:pt>
                <c:pt idx="6">
                  <c:v>10000000</c:v>
                </c:pt>
              </c:strCache>
            </c:strRef>
          </c:cat>
          <c:val>
            <c:numRef>
              <c:f>2</c:f>
              <c:numCache>
                <c:formatCode>0.00000</c:formatCode>
                <c:ptCount val="7"/>
                <c:pt idx="0">
                  <c:v>9.8333333333333302E-4</c:v>
                </c:pt>
                <c:pt idx="1">
                  <c:v>2.8960000000000001E-3</c:v>
                </c:pt>
                <c:pt idx="2">
                  <c:v>7.5300000000000002E-3</c:v>
                </c:pt>
                <c:pt idx="3">
                  <c:v>6.1229666666666703E-2</c:v>
                </c:pt>
                <c:pt idx="4">
                  <c:v>0.52072333333333298</c:v>
                </c:pt>
                <c:pt idx="5">
                  <c:v>2.3110233333333299</c:v>
                </c:pt>
                <c:pt idx="6">
                  <c:v>4.1831959999999997</c:v>
                </c:pt>
              </c:numCache>
            </c:numRef>
          </c:val>
          <c:smooth val="0"/>
          <c:extLst>
            <c:ext xmlns:c16="http://schemas.microsoft.com/office/drawing/2014/chart" uri="{C3380CC4-5D6E-409C-BE32-E72D297353CC}">
              <c16:uniqueId val="{00000002-603F-40F0-A6FC-3B890739C15C}"/>
            </c:ext>
          </c:extLst>
        </c:ser>
        <c:ser>
          <c:idx val="3"/>
          <c:order val="3"/>
          <c:tx>
            <c:strRef>
              <c:f>label 3</c:f>
              <c:strCache>
                <c:ptCount val="1"/>
                <c:pt idx="0">
                  <c:v>OpenMP (8)</c:v>
                </c:pt>
              </c:strCache>
            </c:strRef>
          </c:tx>
          <c:spPr>
            <a:ln w="28440" cap="rnd">
              <a:solidFill>
                <a:srgbClr val="4EA72E"/>
              </a:solidFill>
              <a:round/>
            </a:ln>
          </c:spPr>
          <c:marker>
            <c:symbol val="circle"/>
            <c:size val="5"/>
            <c:spPr>
              <a:solidFill>
                <a:srgbClr val="4EA72E"/>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categories</c:f>
              <c:strCache>
                <c:ptCount val="7"/>
                <c:pt idx="0">
                  <c:v>100</c:v>
                </c:pt>
                <c:pt idx="1">
                  <c:v>1000</c:v>
                </c:pt>
                <c:pt idx="2">
                  <c:v>10000</c:v>
                </c:pt>
                <c:pt idx="3">
                  <c:v>100000</c:v>
                </c:pt>
                <c:pt idx="4">
                  <c:v>1000000</c:v>
                </c:pt>
                <c:pt idx="5">
                  <c:v>5000000</c:v>
                </c:pt>
                <c:pt idx="6">
                  <c:v>10000000</c:v>
                </c:pt>
              </c:strCache>
            </c:strRef>
          </c:cat>
          <c:val>
            <c:numRef>
              <c:f>3</c:f>
              <c:numCache>
                <c:formatCode>0.00000</c:formatCode>
                <c:ptCount val="7"/>
                <c:pt idx="0">
                  <c:v>3.0023333333333299E-3</c:v>
                </c:pt>
                <c:pt idx="1">
                  <c:v>2.2113333333333299E-3</c:v>
                </c:pt>
                <c:pt idx="2">
                  <c:v>7.8829999999999994E-3</c:v>
                </c:pt>
                <c:pt idx="3">
                  <c:v>4.2298333333333299E-2</c:v>
                </c:pt>
                <c:pt idx="4">
                  <c:v>0.347154666666667</c:v>
                </c:pt>
                <c:pt idx="5">
                  <c:v>1.49568833333333</c:v>
                </c:pt>
                <c:pt idx="6">
                  <c:v>2.797355</c:v>
                </c:pt>
              </c:numCache>
            </c:numRef>
          </c:val>
          <c:smooth val="0"/>
          <c:extLst>
            <c:ext xmlns:c16="http://schemas.microsoft.com/office/drawing/2014/chart" uri="{C3380CC4-5D6E-409C-BE32-E72D297353CC}">
              <c16:uniqueId val="{00000003-603F-40F0-A6FC-3B890739C15C}"/>
            </c:ext>
          </c:extLst>
        </c:ser>
        <c:dLbls>
          <c:showLegendKey val="0"/>
          <c:showVal val="0"/>
          <c:showCatName val="0"/>
          <c:showSerName val="0"/>
          <c:showPercent val="0"/>
          <c:showBubbleSize val="0"/>
        </c:dLbls>
        <c:hiLowLines>
          <c:spPr>
            <a:ln w="0">
              <a:noFill/>
            </a:ln>
          </c:spPr>
        </c:hiLowLines>
        <c:marker val="1"/>
        <c:smooth val="0"/>
        <c:axId val="56020431"/>
        <c:axId val="86719737"/>
      </c:lineChart>
      <c:catAx>
        <c:axId val="56020431"/>
        <c:scaling>
          <c:orientation val="minMax"/>
        </c:scaling>
        <c:delete val="0"/>
        <c:axPos val="b"/>
        <c:numFmt formatCode="General" sourceLinked="0"/>
        <c:majorTickMark val="none"/>
        <c:minorTickMark val="none"/>
        <c:tickLblPos val="nextTo"/>
        <c:spPr>
          <a:ln w="9360">
            <a:solidFill>
              <a:srgbClr val="D9D9D9"/>
            </a:solidFill>
            <a:round/>
          </a:ln>
        </c:spPr>
        <c:txPr>
          <a:bodyPr/>
          <a:lstStyle/>
          <a:p>
            <a:pPr>
              <a:defRPr sz="900" b="0" u="none" strike="noStrike">
                <a:solidFill>
                  <a:srgbClr val="595959"/>
                </a:solidFill>
                <a:uFillTx/>
                <a:latin typeface="Aptos Narrow"/>
              </a:defRPr>
            </a:pPr>
            <a:endParaRPr lang="it-IT"/>
          </a:p>
        </c:txPr>
        <c:crossAx val="86719737"/>
        <c:crosses val="autoZero"/>
        <c:auto val="1"/>
        <c:lblAlgn val="ctr"/>
        <c:lblOffset val="100"/>
        <c:noMultiLvlLbl val="0"/>
      </c:catAx>
      <c:valAx>
        <c:axId val="86719737"/>
        <c:scaling>
          <c:logBase val="10"/>
          <c:orientation val="minMax"/>
          <c:max val="100"/>
          <c:min val="1E-4"/>
        </c:scaling>
        <c:delete val="0"/>
        <c:axPos val="l"/>
        <c:majorGridlines>
          <c:spPr>
            <a:ln w="9360">
              <a:solidFill>
                <a:srgbClr val="D9D9D9"/>
              </a:solidFill>
              <a:round/>
            </a:ln>
          </c:spPr>
        </c:majorGridlines>
        <c:numFmt formatCode="General" sourceLinked="0"/>
        <c:majorTickMark val="none"/>
        <c:minorTickMark val="none"/>
        <c:tickLblPos val="nextTo"/>
        <c:spPr>
          <a:ln w="12600">
            <a:noFill/>
          </a:ln>
        </c:spPr>
        <c:txPr>
          <a:bodyPr/>
          <a:lstStyle/>
          <a:p>
            <a:pPr>
              <a:defRPr sz="1050" b="0" u="none" strike="noStrike">
                <a:solidFill>
                  <a:srgbClr val="595959"/>
                </a:solidFill>
                <a:uFillTx/>
                <a:latin typeface="Aptos Narrow"/>
              </a:defRPr>
            </a:pPr>
            <a:endParaRPr lang="it-IT"/>
          </a:p>
        </c:txPr>
        <c:crossAx val="56020431"/>
        <c:crosses val="autoZero"/>
        <c:crossBetween val="between"/>
      </c:valAx>
      <c:dTable>
        <c:showHorzBorder val="1"/>
        <c:showVertBorder val="1"/>
        <c:showOutline val="1"/>
        <c:showKeys val="1"/>
        <c:spPr>
          <a:noFill/>
          <a:ln w="9360">
            <a:solidFill>
              <a:srgbClr val="D9D9D9"/>
            </a:solidFill>
            <a:round/>
          </a:ln>
        </c:spPr>
        <c:txPr>
          <a:bodyPr/>
          <a:lstStyle/>
          <a:p>
            <a:pPr rtl="0">
              <a:defRPr sz="1050" b="0" u="none" strike="noStrike">
                <a:solidFill>
                  <a:srgbClr val="595959"/>
                </a:solidFill>
                <a:uFillTx/>
                <a:latin typeface="Aptos Narrow"/>
              </a:defRPr>
            </a:pPr>
            <a:endParaRPr lang="it-IT"/>
          </a:p>
        </c:txPr>
      </c:dTable>
      <c:spPr>
        <a:noFill/>
        <a:ln w="0">
          <a:noFill/>
        </a:ln>
      </c:spPr>
    </c:plotArea>
    <c:plotVisOnly val="1"/>
    <c:dispBlanksAs val="gap"/>
    <c:showDLblsOverMax val="1"/>
  </c:chart>
  <c:spPr>
    <a:solidFill>
      <a:srgbClr val="FFFFFF"/>
    </a:solidFill>
    <a:ln w="9360">
      <a:noFill/>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0"/>
  <c:style val="2"/>
  <c:chart>
    <c:autoTitleDeleted val="1"/>
    <c:plotArea>
      <c:layout>
        <c:manualLayout>
          <c:layoutTarget val="inner"/>
          <c:xMode val="edge"/>
          <c:yMode val="edge"/>
          <c:x val="9.26609266092661E-2"/>
          <c:y val="3.0079455164585701E-2"/>
          <c:w val="0.906577637204943"/>
          <c:h val="0.70835698070374598"/>
        </c:manualLayout>
      </c:layout>
      <c:lineChart>
        <c:grouping val="standard"/>
        <c:varyColors val="0"/>
        <c:ser>
          <c:idx val="0"/>
          <c:order val="0"/>
          <c:tx>
            <c:strRef>
              <c:f>label 0</c:f>
              <c:strCache>
                <c:ptCount val="1"/>
                <c:pt idx="0">
                  <c:v>Sequenziale</c:v>
                </c:pt>
              </c:strCache>
            </c:strRef>
          </c:tx>
          <c:spPr>
            <a:ln w="28440" cap="rnd">
              <a:solidFill>
                <a:srgbClr val="156082"/>
              </a:solidFill>
              <a:round/>
            </a:ln>
          </c:spPr>
          <c:marker>
            <c:symbol val="circle"/>
            <c:size val="5"/>
            <c:spPr>
              <a:solidFill>
                <a:srgbClr val="156082"/>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categories</c:f>
              <c:strCache>
                <c:ptCount val="7"/>
                <c:pt idx="0">
                  <c:v>200</c:v>
                </c:pt>
                <c:pt idx="1">
                  <c:v>2000</c:v>
                </c:pt>
                <c:pt idx="2">
                  <c:v>20000</c:v>
                </c:pt>
                <c:pt idx="3">
                  <c:v>200000</c:v>
                </c:pt>
                <c:pt idx="4">
                  <c:v>1000000</c:v>
                </c:pt>
                <c:pt idx="5">
                  <c:v>2000000</c:v>
                </c:pt>
                <c:pt idx="6">
                  <c:v>4000000</c:v>
                </c:pt>
              </c:strCache>
            </c:strRef>
          </c:cat>
          <c:val>
            <c:numRef>
              <c:f>0</c:f>
              <c:numCache>
                <c:formatCode>0.000</c:formatCode>
                <c:ptCount val="7"/>
                <c:pt idx="0">
                  <c:v>6.9000000000000006E-2</c:v>
                </c:pt>
                <c:pt idx="1">
                  <c:v>0.21199999999999999</c:v>
                </c:pt>
                <c:pt idx="2">
                  <c:v>1.5760000000000001</c:v>
                </c:pt>
                <c:pt idx="3">
                  <c:v>15.335000000000001</c:v>
                </c:pt>
                <c:pt idx="4">
                  <c:v>76</c:v>
                </c:pt>
                <c:pt idx="5">
                  <c:v>153.101</c:v>
                </c:pt>
                <c:pt idx="6">
                  <c:v>306.976</c:v>
                </c:pt>
              </c:numCache>
            </c:numRef>
          </c:val>
          <c:smooth val="0"/>
          <c:extLst>
            <c:ext xmlns:c16="http://schemas.microsoft.com/office/drawing/2014/chart" uri="{C3380CC4-5D6E-409C-BE32-E72D297353CC}">
              <c16:uniqueId val="{00000000-4906-4DCA-800B-ED3EF1877439}"/>
            </c:ext>
          </c:extLst>
        </c:ser>
        <c:ser>
          <c:idx val="1"/>
          <c:order val="1"/>
          <c:tx>
            <c:strRef>
              <c:f>label 1</c:f>
              <c:strCache>
                <c:ptCount val="1"/>
                <c:pt idx="0">
                  <c:v>MPI (4)</c:v>
                </c:pt>
              </c:strCache>
            </c:strRef>
          </c:tx>
          <c:spPr>
            <a:ln w="28440" cap="rnd">
              <a:solidFill>
                <a:srgbClr val="E97132"/>
              </a:solidFill>
              <a:round/>
            </a:ln>
          </c:spPr>
          <c:marker>
            <c:symbol val="circle"/>
            <c:size val="5"/>
            <c:spPr>
              <a:solidFill>
                <a:srgbClr val="E97132"/>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categories</c:f>
              <c:strCache>
                <c:ptCount val="7"/>
                <c:pt idx="0">
                  <c:v>200</c:v>
                </c:pt>
                <c:pt idx="1">
                  <c:v>2000</c:v>
                </c:pt>
                <c:pt idx="2">
                  <c:v>20000</c:v>
                </c:pt>
                <c:pt idx="3">
                  <c:v>200000</c:v>
                </c:pt>
                <c:pt idx="4">
                  <c:v>1000000</c:v>
                </c:pt>
                <c:pt idx="5">
                  <c:v>2000000</c:v>
                </c:pt>
                <c:pt idx="6">
                  <c:v>4000000</c:v>
                </c:pt>
              </c:strCache>
            </c:strRef>
          </c:cat>
          <c:val>
            <c:numRef>
              <c:f>1</c:f>
              <c:numCache>
                <c:formatCode>0.000</c:formatCode>
                <c:ptCount val="7"/>
                <c:pt idx="0">
                  <c:v>2.2700000000000001E-2</c:v>
                </c:pt>
                <c:pt idx="1">
                  <c:v>6.9000000000000006E-2</c:v>
                </c:pt>
                <c:pt idx="2">
                  <c:v>0.44400000000000001</c:v>
                </c:pt>
                <c:pt idx="3">
                  <c:v>4.1559999999999997</c:v>
                </c:pt>
                <c:pt idx="4">
                  <c:v>20.882999999999999</c:v>
                </c:pt>
                <c:pt idx="5">
                  <c:v>41.329000000000001</c:v>
                </c:pt>
                <c:pt idx="6">
                  <c:v>83.472999999999999</c:v>
                </c:pt>
              </c:numCache>
            </c:numRef>
          </c:val>
          <c:smooth val="0"/>
          <c:extLst>
            <c:ext xmlns:c16="http://schemas.microsoft.com/office/drawing/2014/chart" uri="{C3380CC4-5D6E-409C-BE32-E72D297353CC}">
              <c16:uniqueId val="{00000001-4906-4DCA-800B-ED3EF1877439}"/>
            </c:ext>
          </c:extLst>
        </c:ser>
        <c:ser>
          <c:idx val="2"/>
          <c:order val="2"/>
          <c:tx>
            <c:strRef>
              <c:f>label 2</c:f>
              <c:strCache>
                <c:ptCount val="1"/>
                <c:pt idx="0">
                  <c:v>MPI(8)</c:v>
                </c:pt>
              </c:strCache>
            </c:strRef>
          </c:tx>
          <c:spPr>
            <a:ln w="28440" cap="rnd">
              <a:solidFill>
                <a:srgbClr val="A02B93"/>
              </a:solidFill>
              <a:round/>
            </a:ln>
          </c:spPr>
          <c:marker>
            <c:symbol val="circle"/>
            <c:size val="5"/>
            <c:spPr>
              <a:solidFill>
                <a:srgbClr val="A02B93"/>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categories</c:f>
              <c:strCache>
                <c:ptCount val="7"/>
                <c:pt idx="0">
                  <c:v>200</c:v>
                </c:pt>
                <c:pt idx="1">
                  <c:v>2000</c:v>
                </c:pt>
                <c:pt idx="2">
                  <c:v>20000</c:v>
                </c:pt>
                <c:pt idx="3">
                  <c:v>200000</c:v>
                </c:pt>
                <c:pt idx="4">
                  <c:v>1000000</c:v>
                </c:pt>
                <c:pt idx="5">
                  <c:v>2000000</c:v>
                </c:pt>
                <c:pt idx="6">
                  <c:v>4000000</c:v>
                </c:pt>
              </c:strCache>
            </c:strRef>
          </c:cat>
          <c:val>
            <c:numRef>
              <c:f>2</c:f>
              <c:numCache>
                <c:formatCode>0.000</c:formatCode>
                <c:ptCount val="7"/>
                <c:pt idx="0">
                  <c:v>1.6400000000000001E-2</c:v>
                </c:pt>
                <c:pt idx="1">
                  <c:v>4.0800000000000003E-2</c:v>
                </c:pt>
                <c:pt idx="2">
                  <c:v>0.22</c:v>
                </c:pt>
                <c:pt idx="3">
                  <c:v>2.08</c:v>
                </c:pt>
                <c:pt idx="4">
                  <c:v>10.426</c:v>
                </c:pt>
                <c:pt idx="5">
                  <c:v>20.684000000000001</c:v>
                </c:pt>
                <c:pt idx="6">
                  <c:v>41.642800000000001</c:v>
                </c:pt>
              </c:numCache>
            </c:numRef>
          </c:val>
          <c:smooth val="0"/>
          <c:extLst>
            <c:ext xmlns:c16="http://schemas.microsoft.com/office/drawing/2014/chart" uri="{C3380CC4-5D6E-409C-BE32-E72D297353CC}">
              <c16:uniqueId val="{00000002-4906-4DCA-800B-ED3EF1877439}"/>
            </c:ext>
          </c:extLst>
        </c:ser>
        <c:ser>
          <c:idx val="3"/>
          <c:order val="3"/>
          <c:tx>
            <c:strRef>
              <c:f>label 3</c:f>
              <c:strCache>
                <c:ptCount val="1"/>
                <c:pt idx="0">
                  <c:v>MPI(16)</c:v>
                </c:pt>
              </c:strCache>
            </c:strRef>
          </c:tx>
          <c:spPr>
            <a:ln w="28440" cap="rnd">
              <a:solidFill>
                <a:srgbClr val="4EA72E"/>
              </a:solidFill>
              <a:round/>
            </a:ln>
          </c:spPr>
          <c:marker>
            <c:symbol val="circle"/>
            <c:size val="5"/>
            <c:spPr>
              <a:solidFill>
                <a:srgbClr val="4EA72E"/>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categories</c:f>
              <c:strCache>
                <c:ptCount val="7"/>
                <c:pt idx="0">
                  <c:v>200</c:v>
                </c:pt>
                <c:pt idx="1">
                  <c:v>2000</c:v>
                </c:pt>
                <c:pt idx="2">
                  <c:v>20000</c:v>
                </c:pt>
                <c:pt idx="3">
                  <c:v>200000</c:v>
                </c:pt>
                <c:pt idx="4">
                  <c:v>1000000</c:v>
                </c:pt>
                <c:pt idx="5">
                  <c:v>2000000</c:v>
                </c:pt>
                <c:pt idx="6">
                  <c:v>4000000</c:v>
                </c:pt>
              </c:strCache>
            </c:strRef>
          </c:cat>
          <c:val>
            <c:numRef>
              <c:f>3</c:f>
              <c:numCache>
                <c:formatCode>0.000</c:formatCode>
                <c:ptCount val="7"/>
                <c:pt idx="0">
                  <c:v>1.1900000000000001E-2</c:v>
                </c:pt>
                <c:pt idx="1">
                  <c:v>2.47E-2</c:v>
                </c:pt>
                <c:pt idx="2">
                  <c:v>0.11</c:v>
                </c:pt>
                <c:pt idx="3">
                  <c:v>1.0449999999999999</c:v>
                </c:pt>
                <c:pt idx="4">
                  <c:v>5.2210000000000001</c:v>
                </c:pt>
                <c:pt idx="5">
                  <c:v>10.379</c:v>
                </c:pt>
                <c:pt idx="6">
                  <c:v>20.888000000000002</c:v>
                </c:pt>
              </c:numCache>
            </c:numRef>
          </c:val>
          <c:smooth val="0"/>
          <c:extLst>
            <c:ext xmlns:c16="http://schemas.microsoft.com/office/drawing/2014/chart" uri="{C3380CC4-5D6E-409C-BE32-E72D297353CC}">
              <c16:uniqueId val="{00000003-4906-4DCA-800B-ED3EF1877439}"/>
            </c:ext>
          </c:extLst>
        </c:ser>
        <c:ser>
          <c:idx val="4"/>
          <c:order val="4"/>
          <c:tx>
            <c:strRef>
              <c:f>label 4</c:f>
              <c:strCache>
                <c:ptCount val="1"/>
                <c:pt idx="0">
                  <c:v>MPI(32)</c:v>
                </c:pt>
              </c:strCache>
            </c:strRef>
          </c:tx>
          <c:spPr>
            <a:ln w="28440" cap="rnd">
              <a:solidFill>
                <a:srgbClr val="0D3A4E"/>
              </a:solidFill>
              <a:round/>
            </a:ln>
          </c:spPr>
          <c:marker>
            <c:symbol val="circle"/>
            <c:size val="5"/>
            <c:spPr>
              <a:solidFill>
                <a:srgbClr val="0D3A4E"/>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categories</c:f>
              <c:strCache>
                <c:ptCount val="7"/>
                <c:pt idx="0">
                  <c:v>200</c:v>
                </c:pt>
                <c:pt idx="1">
                  <c:v>2000</c:v>
                </c:pt>
                <c:pt idx="2">
                  <c:v>20000</c:v>
                </c:pt>
                <c:pt idx="3">
                  <c:v>200000</c:v>
                </c:pt>
                <c:pt idx="4">
                  <c:v>1000000</c:v>
                </c:pt>
                <c:pt idx="5">
                  <c:v>2000000</c:v>
                </c:pt>
                <c:pt idx="6">
                  <c:v>4000000</c:v>
                </c:pt>
              </c:strCache>
            </c:strRef>
          </c:cat>
          <c:val>
            <c:numRef>
              <c:f>4</c:f>
              <c:numCache>
                <c:formatCode>0.000</c:formatCode>
                <c:ptCount val="7"/>
                <c:pt idx="0">
                  <c:v>1.0500000000000001E-2</c:v>
                </c:pt>
                <c:pt idx="1">
                  <c:v>1.9060000000000001E-2</c:v>
                </c:pt>
                <c:pt idx="2">
                  <c:v>6.3E-2</c:v>
                </c:pt>
                <c:pt idx="3">
                  <c:v>0.53400000000000003</c:v>
                </c:pt>
                <c:pt idx="4">
                  <c:v>2.64</c:v>
                </c:pt>
                <c:pt idx="5">
                  <c:v>5.26</c:v>
                </c:pt>
                <c:pt idx="6">
                  <c:v>10.468</c:v>
                </c:pt>
              </c:numCache>
            </c:numRef>
          </c:val>
          <c:smooth val="0"/>
          <c:extLst>
            <c:ext xmlns:c16="http://schemas.microsoft.com/office/drawing/2014/chart" uri="{C3380CC4-5D6E-409C-BE32-E72D297353CC}">
              <c16:uniqueId val="{00000004-4906-4DCA-800B-ED3EF1877439}"/>
            </c:ext>
          </c:extLst>
        </c:ser>
        <c:ser>
          <c:idx val="5"/>
          <c:order val="5"/>
          <c:tx>
            <c:strRef>
              <c:f>label 5</c:f>
              <c:strCache>
                <c:ptCount val="1"/>
                <c:pt idx="0">
                  <c:v>CUDA</c:v>
                </c:pt>
              </c:strCache>
            </c:strRef>
          </c:tx>
          <c:spPr>
            <a:ln w="28440" cap="rnd">
              <a:solidFill>
                <a:srgbClr val="196B24"/>
              </a:solidFill>
              <a:round/>
            </a:ln>
          </c:spPr>
          <c:marker>
            <c:symbol val="circle"/>
            <c:size val="5"/>
            <c:spPr>
              <a:solidFill>
                <a:srgbClr val="196B24"/>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categories</c:f>
              <c:strCache>
                <c:ptCount val="7"/>
                <c:pt idx="0">
                  <c:v>200</c:v>
                </c:pt>
                <c:pt idx="1">
                  <c:v>2000</c:v>
                </c:pt>
                <c:pt idx="2">
                  <c:v>20000</c:v>
                </c:pt>
                <c:pt idx="3">
                  <c:v>200000</c:v>
                </c:pt>
                <c:pt idx="4">
                  <c:v>1000000</c:v>
                </c:pt>
                <c:pt idx="5">
                  <c:v>2000000</c:v>
                </c:pt>
                <c:pt idx="6">
                  <c:v>4000000</c:v>
                </c:pt>
              </c:strCache>
            </c:strRef>
          </c:cat>
          <c:val>
            <c:numRef>
              <c:f>5</c:f>
              <c:numCache>
                <c:formatCode>0.000</c:formatCode>
                <c:ptCount val="7"/>
                <c:pt idx="0">
                  <c:v>4.2999999999999997E-2</c:v>
                </c:pt>
                <c:pt idx="1">
                  <c:v>5.0999999999999997E-2</c:v>
                </c:pt>
                <c:pt idx="2">
                  <c:v>6.3E-2</c:v>
                </c:pt>
                <c:pt idx="3">
                  <c:v>0.185</c:v>
                </c:pt>
                <c:pt idx="4">
                  <c:v>0.66</c:v>
                </c:pt>
                <c:pt idx="5">
                  <c:v>1.333</c:v>
                </c:pt>
                <c:pt idx="6">
                  <c:v>2.548</c:v>
                </c:pt>
              </c:numCache>
            </c:numRef>
          </c:val>
          <c:smooth val="0"/>
          <c:extLst>
            <c:ext xmlns:c16="http://schemas.microsoft.com/office/drawing/2014/chart" uri="{C3380CC4-5D6E-409C-BE32-E72D297353CC}">
              <c16:uniqueId val="{00000005-4906-4DCA-800B-ED3EF1877439}"/>
            </c:ext>
          </c:extLst>
        </c:ser>
        <c:ser>
          <c:idx val="6"/>
          <c:order val="6"/>
          <c:tx>
            <c:strRef>
              <c:f>label 6</c:f>
              <c:strCache>
                <c:ptCount val="1"/>
                <c:pt idx="0">
                  <c:v>MPI+CUDA</c:v>
                </c:pt>
              </c:strCache>
            </c:strRef>
          </c:tx>
          <c:spPr>
            <a:ln w="28440" cap="rnd">
              <a:solidFill>
                <a:srgbClr val="0F9ED5"/>
              </a:solidFill>
              <a:round/>
            </a:ln>
          </c:spPr>
          <c:marker>
            <c:symbol val="circle"/>
            <c:size val="5"/>
            <c:spPr>
              <a:solidFill>
                <a:srgbClr val="0F9ED5"/>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categories</c:f>
              <c:strCache>
                <c:ptCount val="7"/>
                <c:pt idx="0">
                  <c:v>200</c:v>
                </c:pt>
                <c:pt idx="1">
                  <c:v>2000</c:v>
                </c:pt>
                <c:pt idx="2">
                  <c:v>20000</c:v>
                </c:pt>
                <c:pt idx="3">
                  <c:v>200000</c:v>
                </c:pt>
                <c:pt idx="4">
                  <c:v>1000000</c:v>
                </c:pt>
                <c:pt idx="5">
                  <c:v>2000000</c:v>
                </c:pt>
                <c:pt idx="6">
                  <c:v>4000000</c:v>
                </c:pt>
              </c:strCache>
            </c:strRef>
          </c:cat>
          <c:val>
            <c:numRef>
              <c:f>6</c:f>
              <c:numCache>
                <c:formatCode>0.000</c:formatCode>
                <c:ptCount val="7"/>
                <c:pt idx="0">
                  <c:v>3.4000000000000002E-2</c:v>
                </c:pt>
                <c:pt idx="1">
                  <c:v>0.05</c:v>
                </c:pt>
                <c:pt idx="2">
                  <c:v>6.9000000000000006E-2</c:v>
                </c:pt>
                <c:pt idx="3">
                  <c:v>0.14499999999999999</c:v>
                </c:pt>
                <c:pt idx="4">
                  <c:v>0.43</c:v>
                </c:pt>
                <c:pt idx="5">
                  <c:v>0.72399999999999998</c:v>
                </c:pt>
                <c:pt idx="6">
                  <c:v>1.365</c:v>
                </c:pt>
              </c:numCache>
            </c:numRef>
          </c:val>
          <c:smooth val="0"/>
          <c:extLst>
            <c:ext xmlns:c16="http://schemas.microsoft.com/office/drawing/2014/chart" uri="{C3380CC4-5D6E-409C-BE32-E72D297353CC}">
              <c16:uniqueId val="{00000006-4906-4DCA-800B-ED3EF1877439}"/>
            </c:ext>
          </c:extLst>
        </c:ser>
        <c:dLbls>
          <c:showLegendKey val="0"/>
          <c:showVal val="0"/>
          <c:showCatName val="0"/>
          <c:showSerName val="0"/>
          <c:showPercent val="0"/>
          <c:showBubbleSize val="0"/>
        </c:dLbls>
        <c:hiLowLines>
          <c:spPr>
            <a:ln w="0">
              <a:noFill/>
            </a:ln>
          </c:spPr>
        </c:hiLowLines>
        <c:marker val="1"/>
        <c:smooth val="0"/>
        <c:axId val="3567388"/>
        <c:axId val="21870032"/>
      </c:lineChart>
      <c:catAx>
        <c:axId val="3567388"/>
        <c:scaling>
          <c:orientation val="minMax"/>
        </c:scaling>
        <c:delete val="0"/>
        <c:axPos val="b"/>
        <c:title>
          <c:tx>
            <c:rich>
              <a:bodyPr rot="0"/>
              <a:lstStyle/>
              <a:p>
                <a:pPr>
                  <a:defRPr sz="1300" b="0" u="none" strike="noStrike">
                    <a:solidFill>
                      <a:srgbClr val="000000"/>
                    </a:solidFill>
                    <a:uFillTx/>
                    <a:latin typeface="Arial"/>
                  </a:defRPr>
                </a:pPr>
                <a:r>
                  <a:rPr lang="it-IT" sz="1200" b="0" u="none" strike="noStrike">
                    <a:solidFill>
                      <a:srgbClr val="595959"/>
                    </a:solidFill>
                    <a:uFillTx/>
                    <a:latin typeface="CMU Serif"/>
                  </a:rPr>
                  <a:t>Pattern</a:t>
                </a:r>
              </a:p>
            </c:rich>
          </c:tx>
          <c:layout>
            <c:manualLayout>
              <c:xMode val="edge"/>
              <c:yMode val="edge"/>
              <c:x val="2.0617349030633201E-2"/>
              <c:y val="0.66898410896708305"/>
            </c:manualLayout>
          </c:layout>
          <c:overlay val="0"/>
          <c:spPr>
            <a:noFill/>
            <a:ln w="0">
              <a:noFill/>
            </a:ln>
          </c:spPr>
        </c:title>
        <c:numFmt formatCode="0" sourceLinked="0"/>
        <c:majorTickMark val="none"/>
        <c:minorTickMark val="none"/>
        <c:tickLblPos val="nextTo"/>
        <c:spPr>
          <a:ln w="9360">
            <a:solidFill>
              <a:srgbClr val="D9D9D9"/>
            </a:solidFill>
            <a:round/>
          </a:ln>
        </c:spPr>
        <c:txPr>
          <a:bodyPr/>
          <a:lstStyle/>
          <a:p>
            <a:pPr>
              <a:defRPr sz="900" b="0" u="none" strike="noStrike">
                <a:solidFill>
                  <a:srgbClr val="595959"/>
                </a:solidFill>
                <a:uFillTx/>
                <a:latin typeface="Aptos Narrow"/>
              </a:defRPr>
            </a:pPr>
            <a:endParaRPr lang="it-IT"/>
          </a:p>
        </c:txPr>
        <c:crossAx val="21870032"/>
        <c:crosses val="autoZero"/>
        <c:auto val="1"/>
        <c:lblAlgn val="ctr"/>
        <c:lblOffset val="100"/>
        <c:noMultiLvlLbl val="0"/>
      </c:catAx>
      <c:valAx>
        <c:axId val="21870032"/>
        <c:scaling>
          <c:logBase val="10"/>
          <c:orientation val="minMax"/>
        </c:scaling>
        <c:delete val="0"/>
        <c:axPos val="l"/>
        <c:majorGridlines>
          <c:spPr>
            <a:ln w="9360">
              <a:solidFill>
                <a:srgbClr val="D9D9D9"/>
              </a:solidFill>
              <a:round/>
            </a:ln>
          </c:spPr>
        </c:majorGridlines>
        <c:title>
          <c:tx>
            <c:rich>
              <a:bodyPr rot="-5400000"/>
              <a:lstStyle/>
              <a:p>
                <a:pPr>
                  <a:defRPr sz="1300" b="0" u="none" strike="noStrike">
                    <a:solidFill>
                      <a:srgbClr val="000000"/>
                    </a:solidFill>
                    <a:uFillTx/>
                    <a:latin typeface="Arial"/>
                  </a:defRPr>
                </a:pPr>
                <a:r>
                  <a:rPr lang="it-IT" sz="1200" b="0" u="none" strike="noStrike">
                    <a:solidFill>
                      <a:srgbClr val="595959"/>
                    </a:solidFill>
                    <a:uFillTx/>
                    <a:latin typeface="CMU Serif"/>
                  </a:rPr>
                  <a:t>Tempo in secondi</a:t>
                </a:r>
              </a:p>
            </c:rich>
          </c:tx>
          <c:layout>
            <c:manualLayout>
              <c:xMode val="edge"/>
              <c:yMode val="edge"/>
              <c:x val="1.8801616587594501E-2"/>
              <c:y val="0.32541146424517597"/>
            </c:manualLayout>
          </c:layout>
          <c:overlay val="0"/>
          <c:spPr>
            <a:noFill/>
            <a:ln w="0">
              <a:noFill/>
            </a:ln>
          </c:spPr>
        </c:title>
        <c:numFmt formatCode="0.000" sourceLinked="0"/>
        <c:majorTickMark val="none"/>
        <c:minorTickMark val="none"/>
        <c:tickLblPos val="nextTo"/>
        <c:spPr>
          <a:ln w="12600">
            <a:noFill/>
          </a:ln>
        </c:spPr>
        <c:txPr>
          <a:bodyPr/>
          <a:lstStyle/>
          <a:p>
            <a:pPr>
              <a:defRPr sz="1050" b="0" u="none" strike="noStrike">
                <a:solidFill>
                  <a:srgbClr val="595959"/>
                </a:solidFill>
                <a:uFillTx/>
                <a:latin typeface="Aptos Narrow"/>
              </a:defRPr>
            </a:pPr>
            <a:endParaRPr lang="it-IT"/>
          </a:p>
        </c:txPr>
        <c:crossAx val="3567388"/>
        <c:crosses val="autoZero"/>
        <c:crossBetween val="between"/>
      </c:valAx>
      <c:dTable>
        <c:showHorzBorder val="1"/>
        <c:showVertBorder val="1"/>
        <c:showOutline val="1"/>
        <c:showKeys val="1"/>
        <c:spPr>
          <a:noFill/>
          <a:ln w="9360">
            <a:solidFill>
              <a:srgbClr val="D9D9D9"/>
            </a:solidFill>
            <a:round/>
          </a:ln>
        </c:spPr>
        <c:txPr>
          <a:bodyPr/>
          <a:lstStyle/>
          <a:p>
            <a:pPr rtl="0">
              <a:defRPr sz="1050" b="0" u="none" strike="noStrike">
                <a:solidFill>
                  <a:srgbClr val="595959"/>
                </a:solidFill>
                <a:uFillTx/>
                <a:latin typeface="Aptos Narrow"/>
              </a:defRPr>
            </a:pPr>
            <a:endParaRPr lang="it-IT"/>
          </a:p>
        </c:txPr>
      </c:dTable>
      <c:spPr>
        <a:noFill/>
        <a:ln w="0">
          <a:noFill/>
        </a:ln>
      </c:spPr>
    </c:plotArea>
    <c:plotVisOnly val="1"/>
    <c:dispBlanksAs val="gap"/>
    <c:showDLblsOverMax val="1"/>
  </c:chart>
  <c:spPr>
    <a:solidFill>
      <a:srgbClr val="FFFFFF"/>
    </a:solidFill>
    <a:ln w="9360">
      <a:noFill/>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2659279104934836E-2"/>
          <c:y val="3.0071424894860976E-2"/>
          <c:w val="0.90670782754290502"/>
          <c:h val="0.70844955834495604"/>
        </c:manualLayout>
      </c:layout>
      <c:lineChart>
        <c:grouping val="standard"/>
        <c:varyColors val="0"/>
        <c:ser>
          <c:idx val="0"/>
          <c:order val="0"/>
          <c:tx>
            <c:strRef>
              <c:f>Foglio1!$J$30</c:f>
              <c:strCache>
                <c:ptCount val="1"/>
                <c:pt idx="0">
                  <c:v>Sequenziale</c:v>
                </c:pt>
              </c:strCache>
            </c:strRef>
          </c:tx>
          <c:spPr>
            <a:ln w="28440" cap="rnd">
              <a:solidFill>
                <a:srgbClr val="156082"/>
              </a:solidFill>
              <a:round/>
            </a:ln>
          </c:spPr>
          <c:marker>
            <c:symbol val="circle"/>
            <c:size val="5"/>
            <c:spPr>
              <a:solidFill>
                <a:srgbClr val="156082"/>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numRef>
              <c:f>Foglio1!$K$29:$Q$29</c:f>
              <c:numCache>
                <c:formatCode>0</c:formatCode>
                <c:ptCount val="7"/>
                <c:pt idx="0">
                  <c:v>100</c:v>
                </c:pt>
                <c:pt idx="1">
                  <c:v>1000</c:v>
                </c:pt>
                <c:pt idx="2">
                  <c:v>10000</c:v>
                </c:pt>
                <c:pt idx="3">
                  <c:v>100000</c:v>
                </c:pt>
                <c:pt idx="4">
                  <c:v>500000</c:v>
                </c:pt>
                <c:pt idx="5">
                  <c:v>1000000</c:v>
                </c:pt>
                <c:pt idx="6">
                  <c:v>2000000</c:v>
                </c:pt>
              </c:numCache>
            </c:numRef>
          </c:cat>
          <c:val>
            <c:numRef>
              <c:f>Foglio1!$K$30:$Q$30</c:f>
              <c:numCache>
                <c:formatCode>0.000</c:formatCode>
                <c:ptCount val="7"/>
                <c:pt idx="0">
                  <c:v>6.9000000000000006E-2</c:v>
                </c:pt>
                <c:pt idx="1">
                  <c:v>0.21199999999999999</c:v>
                </c:pt>
                <c:pt idx="2">
                  <c:v>1.5760000000000001</c:v>
                </c:pt>
                <c:pt idx="3">
                  <c:v>15.335000000000001</c:v>
                </c:pt>
                <c:pt idx="4">
                  <c:v>76</c:v>
                </c:pt>
                <c:pt idx="5">
                  <c:v>153.101</c:v>
                </c:pt>
                <c:pt idx="6">
                  <c:v>306.976</c:v>
                </c:pt>
              </c:numCache>
            </c:numRef>
          </c:val>
          <c:smooth val="0"/>
          <c:extLst>
            <c:ext xmlns:c16="http://schemas.microsoft.com/office/drawing/2014/chart" uri="{C3380CC4-5D6E-409C-BE32-E72D297353CC}">
              <c16:uniqueId val="{00000000-8580-448E-AC34-B913812995B2}"/>
            </c:ext>
          </c:extLst>
        </c:ser>
        <c:ser>
          <c:idx val="1"/>
          <c:order val="1"/>
          <c:tx>
            <c:strRef>
              <c:f>Foglio1!$J$31</c:f>
              <c:strCache>
                <c:ptCount val="1"/>
                <c:pt idx="0">
                  <c:v>MPI (4)</c:v>
                </c:pt>
              </c:strCache>
            </c:strRef>
          </c:tx>
          <c:spPr>
            <a:ln w="28440" cap="rnd">
              <a:solidFill>
                <a:srgbClr val="E97132"/>
              </a:solidFill>
              <a:round/>
            </a:ln>
          </c:spPr>
          <c:marker>
            <c:symbol val="circle"/>
            <c:size val="5"/>
            <c:spPr>
              <a:solidFill>
                <a:srgbClr val="E97132"/>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numRef>
              <c:f>Foglio1!$K$29:$Q$29</c:f>
              <c:numCache>
                <c:formatCode>0</c:formatCode>
                <c:ptCount val="7"/>
                <c:pt idx="0">
                  <c:v>100</c:v>
                </c:pt>
                <c:pt idx="1">
                  <c:v>1000</c:v>
                </c:pt>
                <c:pt idx="2">
                  <c:v>10000</c:v>
                </c:pt>
                <c:pt idx="3">
                  <c:v>100000</c:v>
                </c:pt>
                <c:pt idx="4">
                  <c:v>500000</c:v>
                </c:pt>
                <c:pt idx="5">
                  <c:v>1000000</c:v>
                </c:pt>
                <c:pt idx="6">
                  <c:v>2000000</c:v>
                </c:pt>
              </c:numCache>
            </c:numRef>
          </c:cat>
          <c:val>
            <c:numRef>
              <c:f>Foglio1!$K$31:$Q$31</c:f>
              <c:numCache>
                <c:formatCode>0.000</c:formatCode>
                <c:ptCount val="7"/>
                <c:pt idx="0">
                  <c:v>2.2700000000000001E-2</c:v>
                </c:pt>
                <c:pt idx="1">
                  <c:v>6.9000000000000006E-2</c:v>
                </c:pt>
                <c:pt idx="2">
                  <c:v>0.44400000000000001</c:v>
                </c:pt>
                <c:pt idx="3">
                  <c:v>4.1559999999999997</c:v>
                </c:pt>
                <c:pt idx="4">
                  <c:v>20.882999999999999</c:v>
                </c:pt>
                <c:pt idx="5">
                  <c:v>41.329000000000001</c:v>
                </c:pt>
                <c:pt idx="6">
                  <c:v>83.472999999999999</c:v>
                </c:pt>
              </c:numCache>
            </c:numRef>
          </c:val>
          <c:smooth val="0"/>
          <c:extLst>
            <c:ext xmlns:c16="http://schemas.microsoft.com/office/drawing/2014/chart" uri="{C3380CC4-5D6E-409C-BE32-E72D297353CC}">
              <c16:uniqueId val="{00000001-8580-448E-AC34-B913812995B2}"/>
            </c:ext>
          </c:extLst>
        </c:ser>
        <c:ser>
          <c:idx val="2"/>
          <c:order val="2"/>
          <c:tx>
            <c:strRef>
              <c:f>Foglio1!$J$34</c:f>
              <c:strCache>
                <c:ptCount val="1"/>
                <c:pt idx="0">
                  <c:v>MPI(8)</c:v>
                </c:pt>
              </c:strCache>
            </c:strRef>
          </c:tx>
          <c:spPr>
            <a:ln w="28440" cap="rnd">
              <a:solidFill>
                <a:srgbClr val="A02B93"/>
              </a:solidFill>
              <a:round/>
            </a:ln>
          </c:spPr>
          <c:marker>
            <c:symbol val="circle"/>
            <c:size val="5"/>
            <c:spPr>
              <a:solidFill>
                <a:srgbClr val="A02B93"/>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numRef>
              <c:f>Foglio1!$K$29:$Q$29</c:f>
              <c:numCache>
                <c:formatCode>0</c:formatCode>
                <c:ptCount val="7"/>
                <c:pt idx="0">
                  <c:v>100</c:v>
                </c:pt>
                <c:pt idx="1">
                  <c:v>1000</c:v>
                </c:pt>
                <c:pt idx="2">
                  <c:v>10000</c:v>
                </c:pt>
                <c:pt idx="3">
                  <c:v>100000</c:v>
                </c:pt>
                <c:pt idx="4">
                  <c:v>500000</c:v>
                </c:pt>
                <c:pt idx="5">
                  <c:v>1000000</c:v>
                </c:pt>
                <c:pt idx="6">
                  <c:v>2000000</c:v>
                </c:pt>
              </c:numCache>
            </c:numRef>
          </c:cat>
          <c:val>
            <c:numRef>
              <c:f>Foglio1!$K$34:$Q$34</c:f>
              <c:numCache>
                <c:formatCode>0.000</c:formatCode>
                <c:ptCount val="7"/>
                <c:pt idx="0">
                  <c:v>1.6400000000000001E-2</c:v>
                </c:pt>
                <c:pt idx="1">
                  <c:v>4.0800000000000003E-2</c:v>
                </c:pt>
                <c:pt idx="2">
                  <c:v>0.22</c:v>
                </c:pt>
                <c:pt idx="3">
                  <c:v>2.08</c:v>
                </c:pt>
                <c:pt idx="4">
                  <c:v>10.426</c:v>
                </c:pt>
                <c:pt idx="5">
                  <c:v>20.684000000000001</c:v>
                </c:pt>
                <c:pt idx="6">
                  <c:v>41.642800000000001</c:v>
                </c:pt>
              </c:numCache>
            </c:numRef>
          </c:val>
          <c:smooth val="0"/>
          <c:extLst>
            <c:ext xmlns:c16="http://schemas.microsoft.com/office/drawing/2014/chart" uri="{C3380CC4-5D6E-409C-BE32-E72D297353CC}">
              <c16:uniqueId val="{00000002-8580-448E-AC34-B913812995B2}"/>
            </c:ext>
          </c:extLst>
        </c:ser>
        <c:ser>
          <c:idx val="3"/>
          <c:order val="3"/>
          <c:tx>
            <c:strRef>
              <c:f>Foglio1!$J$35</c:f>
              <c:strCache>
                <c:ptCount val="1"/>
                <c:pt idx="0">
                  <c:v>MPI(16)</c:v>
                </c:pt>
              </c:strCache>
            </c:strRef>
          </c:tx>
          <c:spPr>
            <a:ln w="28440" cap="rnd">
              <a:solidFill>
                <a:srgbClr val="4EA72E"/>
              </a:solidFill>
              <a:round/>
            </a:ln>
          </c:spPr>
          <c:marker>
            <c:symbol val="circle"/>
            <c:size val="5"/>
            <c:spPr>
              <a:solidFill>
                <a:srgbClr val="4EA72E"/>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numRef>
              <c:f>Foglio1!$K$29:$Q$29</c:f>
              <c:numCache>
                <c:formatCode>0</c:formatCode>
                <c:ptCount val="7"/>
                <c:pt idx="0">
                  <c:v>100</c:v>
                </c:pt>
                <c:pt idx="1">
                  <c:v>1000</c:v>
                </c:pt>
                <c:pt idx="2">
                  <c:v>10000</c:v>
                </c:pt>
                <c:pt idx="3">
                  <c:v>100000</c:v>
                </c:pt>
                <c:pt idx="4">
                  <c:v>500000</c:v>
                </c:pt>
                <c:pt idx="5">
                  <c:v>1000000</c:v>
                </c:pt>
                <c:pt idx="6">
                  <c:v>2000000</c:v>
                </c:pt>
              </c:numCache>
            </c:numRef>
          </c:cat>
          <c:val>
            <c:numRef>
              <c:f>Foglio1!$K$35:$Q$35</c:f>
              <c:numCache>
                <c:formatCode>0.000</c:formatCode>
                <c:ptCount val="7"/>
                <c:pt idx="0">
                  <c:v>1.1900000000000001E-2</c:v>
                </c:pt>
                <c:pt idx="1">
                  <c:v>2.47E-2</c:v>
                </c:pt>
                <c:pt idx="2">
                  <c:v>0.11</c:v>
                </c:pt>
                <c:pt idx="3">
                  <c:v>1.0449999999999999</c:v>
                </c:pt>
                <c:pt idx="4">
                  <c:v>5.2210000000000001</c:v>
                </c:pt>
                <c:pt idx="5">
                  <c:v>10.379</c:v>
                </c:pt>
                <c:pt idx="6">
                  <c:v>20.888000000000002</c:v>
                </c:pt>
              </c:numCache>
            </c:numRef>
          </c:val>
          <c:smooth val="0"/>
          <c:extLst>
            <c:ext xmlns:c16="http://schemas.microsoft.com/office/drawing/2014/chart" uri="{C3380CC4-5D6E-409C-BE32-E72D297353CC}">
              <c16:uniqueId val="{00000003-8580-448E-AC34-B913812995B2}"/>
            </c:ext>
          </c:extLst>
        </c:ser>
        <c:ser>
          <c:idx val="4"/>
          <c:order val="4"/>
          <c:tx>
            <c:strRef>
              <c:f>Foglio1!$J$36</c:f>
              <c:strCache>
                <c:ptCount val="1"/>
                <c:pt idx="0">
                  <c:v>MPI(32)</c:v>
                </c:pt>
              </c:strCache>
            </c:strRef>
          </c:tx>
          <c:spPr>
            <a:ln w="28440" cap="rnd">
              <a:solidFill>
                <a:srgbClr val="0D3A4E"/>
              </a:solidFill>
              <a:round/>
            </a:ln>
          </c:spPr>
          <c:marker>
            <c:symbol val="circle"/>
            <c:size val="5"/>
            <c:spPr>
              <a:solidFill>
                <a:srgbClr val="0D3A4E"/>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numRef>
              <c:f>Foglio1!$K$29:$Q$29</c:f>
              <c:numCache>
                <c:formatCode>0</c:formatCode>
                <c:ptCount val="7"/>
                <c:pt idx="0">
                  <c:v>100</c:v>
                </c:pt>
                <c:pt idx="1">
                  <c:v>1000</c:v>
                </c:pt>
                <c:pt idx="2">
                  <c:v>10000</c:v>
                </c:pt>
                <c:pt idx="3">
                  <c:v>100000</c:v>
                </c:pt>
                <c:pt idx="4">
                  <c:v>500000</c:v>
                </c:pt>
                <c:pt idx="5">
                  <c:v>1000000</c:v>
                </c:pt>
                <c:pt idx="6">
                  <c:v>2000000</c:v>
                </c:pt>
              </c:numCache>
            </c:numRef>
          </c:cat>
          <c:val>
            <c:numRef>
              <c:f>Foglio1!$K$36:$Q$36</c:f>
              <c:numCache>
                <c:formatCode>0.000</c:formatCode>
                <c:ptCount val="7"/>
                <c:pt idx="0">
                  <c:v>1.0500000000000001E-2</c:v>
                </c:pt>
                <c:pt idx="1">
                  <c:v>1.9060000000000001E-2</c:v>
                </c:pt>
                <c:pt idx="2">
                  <c:v>6.3E-2</c:v>
                </c:pt>
                <c:pt idx="3">
                  <c:v>0.53400000000000003</c:v>
                </c:pt>
                <c:pt idx="4">
                  <c:v>2.64</c:v>
                </c:pt>
                <c:pt idx="5">
                  <c:v>5.26</c:v>
                </c:pt>
                <c:pt idx="6">
                  <c:v>10.468</c:v>
                </c:pt>
              </c:numCache>
            </c:numRef>
          </c:val>
          <c:smooth val="0"/>
          <c:extLst>
            <c:ext xmlns:c16="http://schemas.microsoft.com/office/drawing/2014/chart" uri="{C3380CC4-5D6E-409C-BE32-E72D297353CC}">
              <c16:uniqueId val="{00000004-8580-448E-AC34-B913812995B2}"/>
            </c:ext>
          </c:extLst>
        </c:ser>
        <c:ser>
          <c:idx val="5"/>
          <c:order val="5"/>
          <c:tx>
            <c:strRef>
              <c:f>Foglio1!$J$32</c:f>
              <c:strCache>
                <c:ptCount val="1"/>
                <c:pt idx="0">
                  <c:v>CUDA</c:v>
                </c:pt>
              </c:strCache>
            </c:strRef>
          </c:tx>
          <c:spPr>
            <a:ln w="28440" cap="rnd">
              <a:solidFill>
                <a:srgbClr val="196B24"/>
              </a:solidFill>
              <a:round/>
            </a:ln>
          </c:spPr>
          <c:marker>
            <c:symbol val="circle"/>
            <c:size val="5"/>
            <c:spPr>
              <a:solidFill>
                <a:srgbClr val="196B24"/>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numRef>
              <c:f>Foglio1!$K$29:$Q$29</c:f>
              <c:numCache>
                <c:formatCode>0</c:formatCode>
                <c:ptCount val="7"/>
                <c:pt idx="0">
                  <c:v>100</c:v>
                </c:pt>
                <c:pt idx="1">
                  <c:v>1000</c:v>
                </c:pt>
                <c:pt idx="2">
                  <c:v>10000</c:v>
                </c:pt>
                <c:pt idx="3">
                  <c:v>100000</c:v>
                </c:pt>
                <c:pt idx="4">
                  <c:v>500000</c:v>
                </c:pt>
                <c:pt idx="5">
                  <c:v>1000000</c:v>
                </c:pt>
                <c:pt idx="6">
                  <c:v>2000000</c:v>
                </c:pt>
              </c:numCache>
            </c:numRef>
          </c:cat>
          <c:val>
            <c:numRef>
              <c:f>Foglio1!$K$32:$Q$32</c:f>
              <c:numCache>
                <c:formatCode>0.000</c:formatCode>
                <c:ptCount val="7"/>
                <c:pt idx="0">
                  <c:v>4.2999999999999997E-2</c:v>
                </c:pt>
                <c:pt idx="1">
                  <c:v>5.0999999999999997E-2</c:v>
                </c:pt>
                <c:pt idx="2">
                  <c:v>6.3E-2</c:v>
                </c:pt>
                <c:pt idx="3">
                  <c:v>0.185</c:v>
                </c:pt>
                <c:pt idx="4">
                  <c:v>0.66</c:v>
                </c:pt>
                <c:pt idx="5">
                  <c:v>1.333</c:v>
                </c:pt>
                <c:pt idx="6">
                  <c:v>2.548</c:v>
                </c:pt>
              </c:numCache>
            </c:numRef>
          </c:val>
          <c:smooth val="0"/>
          <c:extLst>
            <c:ext xmlns:c16="http://schemas.microsoft.com/office/drawing/2014/chart" uri="{C3380CC4-5D6E-409C-BE32-E72D297353CC}">
              <c16:uniqueId val="{00000005-8580-448E-AC34-B913812995B2}"/>
            </c:ext>
          </c:extLst>
        </c:ser>
        <c:ser>
          <c:idx val="6"/>
          <c:order val="6"/>
          <c:tx>
            <c:strRef>
              <c:f>Foglio1!$J$33</c:f>
              <c:strCache>
                <c:ptCount val="1"/>
                <c:pt idx="0">
                  <c:v>MPI+CUDA</c:v>
                </c:pt>
              </c:strCache>
            </c:strRef>
          </c:tx>
          <c:spPr>
            <a:ln w="28440" cap="rnd">
              <a:solidFill>
                <a:srgbClr val="0F9ED5"/>
              </a:solidFill>
              <a:round/>
            </a:ln>
          </c:spPr>
          <c:marker>
            <c:symbol val="circle"/>
            <c:size val="5"/>
            <c:spPr>
              <a:solidFill>
                <a:srgbClr val="0F9ED5"/>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numRef>
              <c:f>Foglio1!$K$29:$Q$29</c:f>
              <c:numCache>
                <c:formatCode>0</c:formatCode>
                <c:ptCount val="7"/>
                <c:pt idx="0">
                  <c:v>100</c:v>
                </c:pt>
                <c:pt idx="1">
                  <c:v>1000</c:v>
                </c:pt>
                <c:pt idx="2">
                  <c:v>10000</c:v>
                </c:pt>
                <c:pt idx="3">
                  <c:v>100000</c:v>
                </c:pt>
                <c:pt idx="4">
                  <c:v>500000</c:v>
                </c:pt>
                <c:pt idx="5">
                  <c:v>1000000</c:v>
                </c:pt>
                <c:pt idx="6">
                  <c:v>2000000</c:v>
                </c:pt>
              </c:numCache>
            </c:numRef>
          </c:cat>
          <c:val>
            <c:numRef>
              <c:f>Foglio1!$K$33:$Q$33</c:f>
              <c:numCache>
                <c:formatCode>0.000</c:formatCode>
                <c:ptCount val="7"/>
                <c:pt idx="0">
                  <c:v>3.4000000000000002E-2</c:v>
                </c:pt>
                <c:pt idx="1">
                  <c:v>0.05</c:v>
                </c:pt>
                <c:pt idx="2">
                  <c:v>6.9000000000000006E-2</c:v>
                </c:pt>
                <c:pt idx="3">
                  <c:v>0.14499999999999999</c:v>
                </c:pt>
                <c:pt idx="4">
                  <c:v>0.43</c:v>
                </c:pt>
                <c:pt idx="5">
                  <c:v>0.72399999999999998</c:v>
                </c:pt>
                <c:pt idx="6">
                  <c:v>1.365</c:v>
                </c:pt>
              </c:numCache>
            </c:numRef>
          </c:val>
          <c:smooth val="0"/>
          <c:extLst>
            <c:ext xmlns:c16="http://schemas.microsoft.com/office/drawing/2014/chart" uri="{C3380CC4-5D6E-409C-BE32-E72D297353CC}">
              <c16:uniqueId val="{00000006-8580-448E-AC34-B913812995B2}"/>
            </c:ext>
          </c:extLst>
        </c:ser>
        <c:dLbls>
          <c:showLegendKey val="0"/>
          <c:showVal val="0"/>
          <c:showCatName val="0"/>
          <c:showSerName val="0"/>
          <c:showPercent val="0"/>
          <c:showBubbleSize val="0"/>
        </c:dLbls>
        <c:hiLowLines>
          <c:spPr>
            <a:ln w="0">
              <a:noFill/>
            </a:ln>
          </c:spPr>
        </c:hiLowLines>
        <c:marker val="1"/>
        <c:smooth val="0"/>
        <c:axId val="99583858"/>
        <c:axId val="96602979"/>
      </c:lineChart>
      <c:catAx>
        <c:axId val="99583858"/>
        <c:scaling>
          <c:orientation val="minMax"/>
        </c:scaling>
        <c:delete val="0"/>
        <c:axPos val="b"/>
        <c:title>
          <c:tx>
            <c:rich>
              <a:bodyPr rot="0"/>
              <a:lstStyle/>
              <a:p>
                <a:pPr>
                  <a:defRPr sz="1600" b="0" u="none" strike="noStrike">
                    <a:uFillTx/>
                    <a:latin typeface="CMU Serif" panose="02000603000000000000" pitchFamily="2" charset="0"/>
                    <a:ea typeface="CMU Serif" panose="02000603000000000000" pitchFamily="2" charset="0"/>
                    <a:cs typeface="CMU Serif" panose="02000603000000000000" pitchFamily="2" charset="0"/>
                  </a:defRPr>
                </a:pPr>
                <a:r>
                  <a:rPr lang="it-IT" sz="1600" b="0" u="none" strike="noStrike" dirty="0">
                    <a:solidFill>
                      <a:srgbClr val="595959"/>
                    </a:solidFill>
                    <a:uFillTx/>
                    <a:latin typeface="CMU Serif" panose="02000603000000000000" pitchFamily="2" charset="0"/>
                    <a:ea typeface="CMU Serif" panose="02000603000000000000" pitchFamily="2" charset="0"/>
                    <a:cs typeface="CMU Serif" panose="02000603000000000000" pitchFamily="2" charset="0"/>
                  </a:rPr>
                  <a:t>Pattern</a:t>
                </a:r>
              </a:p>
            </c:rich>
          </c:tx>
          <c:layout>
            <c:manualLayout>
              <c:xMode val="edge"/>
              <c:yMode val="edge"/>
              <c:x val="2.2197899855540544E-3"/>
              <c:y val="0.65918056048244045"/>
            </c:manualLayout>
          </c:layout>
          <c:overlay val="0"/>
          <c:spPr>
            <a:noFill/>
            <a:ln w="0">
              <a:noFill/>
            </a:ln>
          </c:spPr>
        </c:title>
        <c:numFmt formatCode="0" sourceLinked="0"/>
        <c:majorTickMark val="none"/>
        <c:minorTickMark val="none"/>
        <c:tickLblPos val="nextTo"/>
        <c:spPr>
          <a:ln w="9360">
            <a:solidFill>
              <a:srgbClr val="D9D9D9"/>
            </a:solidFill>
            <a:round/>
          </a:ln>
        </c:spPr>
        <c:txPr>
          <a:bodyPr/>
          <a:lstStyle/>
          <a:p>
            <a:pPr>
              <a:defRPr sz="900" b="0" u="none" strike="noStrike">
                <a:solidFill>
                  <a:srgbClr val="595959"/>
                </a:solidFill>
                <a:uFillTx/>
                <a:latin typeface="Aptos Narrow"/>
              </a:defRPr>
            </a:pPr>
            <a:endParaRPr lang="it-IT"/>
          </a:p>
        </c:txPr>
        <c:crossAx val="96602979"/>
        <c:crosses val="autoZero"/>
        <c:auto val="1"/>
        <c:lblAlgn val="ctr"/>
        <c:lblOffset val="100"/>
        <c:noMultiLvlLbl val="0"/>
      </c:catAx>
      <c:valAx>
        <c:axId val="96602979"/>
        <c:scaling>
          <c:logBase val="10"/>
          <c:orientation val="minMax"/>
        </c:scaling>
        <c:delete val="0"/>
        <c:axPos val="l"/>
        <c:majorGridlines>
          <c:spPr>
            <a:ln w="9360">
              <a:solidFill>
                <a:srgbClr val="D9D9D9"/>
              </a:solidFill>
              <a:round/>
            </a:ln>
          </c:spPr>
        </c:majorGridlines>
        <c:title>
          <c:tx>
            <c:rich>
              <a:bodyPr rot="-5400000"/>
              <a:lstStyle/>
              <a:p>
                <a:pPr>
                  <a:defRPr sz="1600" b="0" u="none" strike="noStrike">
                    <a:uFillTx/>
                    <a:latin typeface="CMU Serif" panose="02000603000000000000" pitchFamily="2" charset="0"/>
                    <a:ea typeface="CMU Serif" panose="02000603000000000000" pitchFamily="2" charset="0"/>
                    <a:cs typeface="CMU Serif" panose="02000603000000000000" pitchFamily="2" charset="0"/>
                  </a:defRPr>
                </a:pPr>
                <a:r>
                  <a:rPr lang="it-IT" sz="1600" b="0" u="none" strike="noStrike">
                    <a:solidFill>
                      <a:srgbClr val="595959"/>
                    </a:solidFill>
                    <a:uFillTx/>
                    <a:latin typeface="CMU Serif" panose="02000603000000000000" pitchFamily="2" charset="0"/>
                    <a:ea typeface="CMU Serif" panose="02000603000000000000" pitchFamily="2" charset="0"/>
                    <a:cs typeface="CMU Serif" panose="02000603000000000000" pitchFamily="2" charset="0"/>
                  </a:rPr>
                  <a:t>Tempo in secondi</a:t>
                </a:r>
              </a:p>
            </c:rich>
          </c:tx>
          <c:layout>
            <c:manualLayout>
              <c:xMode val="edge"/>
              <c:yMode val="edge"/>
              <c:x val="1.7277108912694031E-2"/>
              <c:y val="0.28609376847581885"/>
            </c:manualLayout>
          </c:layout>
          <c:overlay val="0"/>
          <c:spPr>
            <a:noFill/>
            <a:ln w="0">
              <a:noFill/>
            </a:ln>
          </c:spPr>
        </c:title>
        <c:numFmt formatCode="0.000" sourceLinked="0"/>
        <c:majorTickMark val="none"/>
        <c:minorTickMark val="none"/>
        <c:tickLblPos val="nextTo"/>
        <c:spPr>
          <a:ln w="12600">
            <a:noFill/>
          </a:ln>
        </c:spPr>
        <c:txPr>
          <a:bodyPr/>
          <a:lstStyle/>
          <a:p>
            <a:pPr>
              <a:defRPr sz="1050" b="0" u="none" strike="noStrike">
                <a:solidFill>
                  <a:srgbClr val="595959"/>
                </a:solidFill>
                <a:uFillTx/>
                <a:latin typeface="Aptos Narrow"/>
              </a:defRPr>
            </a:pPr>
            <a:endParaRPr lang="it-IT"/>
          </a:p>
        </c:txPr>
        <c:crossAx val="99583858"/>
        <c:crosses val="autoZero"/>
        <c:crossBetween val="between"/>
      </c:valAx>
      <c:dTable>
        <c:showHorzBorder val="1"/>
        <c:showVertBorder val="1"/>
        <c:showOutline val="1"/>
        <c:showKeys val="1"/>
        <c:spPr>
          <a:noFill/>
          <a:ln w="9360">
            <a:solidFill>
              <a:srgbClr val="D9D9D9"/>
            </a:solidFill>
            <a:round/>
          </a:ln>
        </c:spPr>
        <c:txPr>
          <a:bodyPr/>
          <a:lstStyle/>
          <a:p>
            <a:pPr rtl="0">
              <a:defRPr sz="1050" b="0" u="none" strike="noStrike">
                <a:solidFill>
                  <a:srgbClr val="595959"/>
                </a:solidFill>
                <a:uFillTx/>
                <a:latin typeface="Aptos Narrow"/>
              </a:defRPr>
            </a:pPr>
            <a:endParaRPr lang="it-IT"/>
          </a:p>
        </c:txPr>
      </c:dTable>
      <c:spPr>
        <a:noFill/>
        <a:ln w="0">
          <a:noFill/>
        </a:ln>
      </c:spPr>
    </c:plotArea>
    <c:plotVisOnly val="1"/>
    <c:dispBlanksAs val="gap"/>
    <c:showDLblsOverMax val="1"/>
  </c:chart>
  <c:spPr>
    <a:solidFill>
      <a:srgbClr val="FFFFFF"/>
    </a:solidFill>
    <a:ln w="9360">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a:lstStyle/>
          <a:p>
            <a:pPr>
              <a:defRPr sz="1300" b="0" u="none" strike="noStrike">
                <a:uFillTx/>
                <a:latin typeface="Arial"/>
              </a:defRPr>
            </a:pPr>
            <a:r>
              <a:rPr lang="it-IT" sz="1400" b="0" u="none" strike="noStrike">
                <a:solidFill>
                  <a:srgbClr val="595959"/>
                </a:solidFill>
                <a:uFillTx/>
                <a:latin typeface="Aptos Narrow"/>
              </a:rPr>
              <a:t>Test Numero di Pattern</a:t>
            </a:r>
          </a:p>
        </c:rich>
      </c:tx>
      <c:layout>
        <c:manualLayout>
          <c:xMode val="edge"/>
          <c:yMode val="edge"/>
          <c:x val="0.42766324822101298"/>
          <c:y val="1.45484350186978E-2"/>
        </c:manualLayout>
      </c:layout>
      <c:overlay val="0"/>
      <c:spPr>
        <a:noFill/>
        <a:ln w="0">
          <a:noFill/>
        </a:ln>
      </c:spPr>
    </c:title>
    <c:autoTitleDeleted val="0"/>
    <c:plotArea>
      <c:layout>
        <c:manualLayout>
          <c:layoutTarget val="inner"/>
          <c:xMode val="edge"/>
          <c:yMode val="edge"/>
          <c:x val="8.7902888237756396E-2"/>
          <c:y val="4.8204497720403701E-2"/>
          <c:w val="0.90670782754290502"/>
          <c:h val="0.70841657701962002"/>
        </c:manualLayout>
      </c:layout>
      <c:lineChart>
        <c:grouping val="standard"/>
        <c:varyColors val="0"/>
        <c:ser>
          <c:idx val="0"/>
          <c:order val="0"/>
          <c:tx>
            <c:strRef>
              <c:f>Foglio1!$J$78</c:f>
              <c:strCache>
                <c:ptCount val="1"/>
                <c:pt idx="0">
                  <c:v>Sequenziale</c:v>
                </c:pt>
              </c:strCache>
            </c:strRef>
          </c:tx>
          <c:spPr>
            <a:ln w="28440" cap="rnd">
              <a:solidFill>
                <a:srgbClr val="A02B93"/>
              </a:solidFill>
              <a:round/>
            </a:ln>
          </c:spPr>
          <c:marker>
            <c:symbol val="circle"/>
            <c:size val="5"/>
            <c:spPr>
              <a:solidFill>
                <a:srgbClr val="A02B93"/>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numRef>
              <c:f>Foglio1!$K$29:$Q$29</c:f>
              <c:numCache>
                <c:formatCode>0</c:formatCode>
                <c:ptCount val="7"/>
                <c:pt idx="0">
                  <c:v>100</c:v>
                </c:pt>
                <c:pt idx="1">
                  <c:v>1000</c:v>
                </c:pt>
                <c:pt idx="2">
                  <c:v>10000</c:v>
                </c:pt>
                <c:pt idx="3">
                  <c:v>100000</c:v>
                </c:pt>
                <c:pt idx="4">
                  <c:v>500000</c:v>
                </c:pt>
                <c:pt idx="5">
                  <c:v>1000000</c:v>
                </c:pt>
                <c:pt idx="6">
                  <c:v>2000000</c:v>
                </c:pt>
              </c:numCache>
            </c:numRef>
          </c:cat>
          <c:val>
            <c:numRef>
              <c:f>Foglio1!$K$78:$Q$78</c:f>
              <c:numCache>
                <c:formatCode>0.00000</c:formatCode>
                <c:ptCount val="7"/>
                <c:pt idx="0">
                  <c:v>6.9000000000000006E-2</c:v>
                </c:pt>
                <c:pt idx="1">
                  <c:v>0.21199999999999999</c:v>
                </c:pt>
                <c:pt idx="2">
                  <c:v>1.5760000000000001</c:v>
                </c:pt>
                <c:pt idx="3">
                  <c:v>15.335000000000001</c:v>
                </c:pt>
                <c:pt idx="4">
                  <c:v>76</c:v>
                </c:pt>
                <c:pt idx="5">
                  <c:v>153.101</c:v>
                </c:pt>
                <c:pt idx="6">
                  <c:v>306.976</c:v>
                </c:pt>
              </c:numCache>
            </c:numRef>
          </c:val>
          <c:smooth val="0"/>
          <c:extLst>
            <c:ext xmlns:c16="http://schemas.microsoft.com/office/drawing/2014/chart" uri="{C3380CC4-5D6E-409C-BE32-E72D297353CC}">
              <c16:uniqueId val="{00000000-467C-4CF5-A63D-36FC21798959}"/>
            </c:ext>
          </c:extLst>
        </c:ser>
        <c:ser>
          <c:idx val="1"/>
          <c:order val="1"/>
          <c:tx>
            <c:strRef>
              <c:f>Foglio1!$J$62</c:f>
              <c:strCache>
                <c:ptCount val="1"/>
                <c:pt idx="0">
                  <c:v>OpenMP (4)</c:v>
                </c:pt>
              </c:strCache>
            </c:strRef>
          </c:tx>
          <c:spPr>
            <a:ln w="28440" cap="rnd">
              <a:solidFill>
                <a:srgbClr val="156082"/>
              </a:solidFill>
              <a:round/>
            </a:ln>
          </c:spPr>
          <c:marker>
            <c:symbol val="circle"/>
            <c:size val="5"/>
            <c:spPr>
              <a:solidFill>
                <a:srgbClr val="156082"/>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numRef>
              <c:f>Foglio1!$K$29:$Q$29</c:f>
              <c:numCache>
                <c:formatCode>0</c:formatCode>
                <c:ptCount val="7"/>
                <c:pt idx="0">
                  <c:v>100</c:v>
                </c:pt>
                <c:pt idx="1">
                  <c:v>1000</c:v>
                </c:pt>
                <c:pt idx="2">
                  <c:v>10000</c:v>
                </c:pt>
                <c:pt idx="3">
                  <c:v>100000</c:v>
                </c:pt>
                <c:pt idx="4">
                  <c:v>500000</c:v>
                </c:pt>
                <c:pt idx="5">
                  <c:v>1000000</c:v>
                </c:pt>
                <c:pt idx="6">
                  <c:v>2000000</c:v>
                </c:pt>
              </c:numCache>
            </c:numRef>
          </c:cat>
          <c:val>
            <c:numRef>
              <c:f>Foglio1!$K$62:$Q$62</c:f>
              <c:numCache>
                <c:formatCode>0.00000</c:formatCode>
                <c:ptCount val="7"/>
                <c:pt idx="0">
                  <c:v>2.2793000000000001E-2</c:v>
                </c:pt>
                <c:pt idx="1">
                  <c:v>5.7149999999999999E-2</c:v>
                </c:pt>
                <c:pt idx="2">
                  <c:v>0.40992800000000001</c:v>
                </c:pt>
                <c:pt idx="3">
                  <c:v>3.9437579999999999</c:v>
                </c:pt>
                <c:pt idx="4">
                  <c:v>19.959036999999999</c:v>
                </c:pt>
                <c:pt idx="5">
                  <c:v>39.318178000000003</c:v>
                </c:pt>
                <c:pt idx="6">
                  <c:v>83.497208999999998</c:v>
                </c:pt>
              </c:numCache>
            </c:numRef>
          </c:val>
          <c:smooth val="0"/>
          <c:extLst>
            <c:ext xmlns:c16="http://schemas.microsoft.com/office/drawing/2014/chart" uri="{C3380CC4-5D6E-409C-BE32-E72D297353CC}">
              <c16:uniqueId val="{00000001-467C-4CF5-A63D-36FC21798959}"/>
            </c:ext>
          </c:extLst>
        </c:ser>
        <c:ser>
          <c:idx val="2"/>
          <c:order val="2"/>
          <c:tx>
            <c:strRef>
              <c:f>Foglio1!$J$66</c:f>
              <c:strCache>
                <c:ptCount val="1"/>
                <c:pt idx="0">
                  <c:v>OpenMP (8)</c:v>
                </c:pt>
              </c:strCache>
            </c:strRef>
          </c:tx>
          <c:spPr>
            <a:ln w="28440" cap="rnd">
              <a:solidFill>
                <a:srgbClr val="E97132"/>
              </a:solidFill>
              <a:round/>
            </a:ln>
          </c:spPr>
          <c:marker>
            <c:symbol val="circle"/>
            <c:size val="5"/>
            <c:spPr>
              <a:solidFill>
                <a:srgbClr val="E97132"/>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numRef>
              <c:f>Foglio1!$K$29:$Q$29</c:f>
              <c:numCache>
                <c:formatCode>0</c:formatCode>
                <c:ptCount val="7"/>
                <c:pt idx="0">
                  <c:v>100</c:v>
                </c:pt>
                <c:pt idx="1">
                  <c:v>1000</c:v>
                </c:pt>
                <c:pt idx="2">
                  <c:v>10000</c:v>
                </c:pt>
                <c:pt idx="3">
                  <c:v>100000</c:v>
                </c:pt>
                <c:pt idx="4">
                  <c:v>500000</c:v>
                </c:pt>
                <c:pt idx="5">
                  <c:v>1000000</c:v>
                </c:pt>
                <c:pt idx="6">
                  <c:v>2000000</c:v>
                </c:pt>
              </c:numCache>
            </c:numRef>
          </c:cat>
          <c:val>
            <c:numRef>
              <c:f>Foglio1!$K$66:$Q$66</c:f>
              <c:numCache>
                <c:formatCode>0.00000</c:formatCode>
                <c:ptCount val="7"/>
                <c:pt idx="0">
                  <c:v>1.67E-2</c:v>
                </c:pt>
                <c:pt idx="1">
                  <c:v>3.3841999999999997E-2</c:v>
                </c:pt>
                <c:pt idx="2">
                  <c:v>0.21901100000000001</c:v>
                </c:pt>
                <c:pt idx="3">
                  <c:v>2.0299170000000002</c:v>
                </c:pt>
                <c:pt idx="4">
                  <c:v>10.088718999999999</c:v>
                </c:pt>
                <c:pt idx="5">
                  <c:v>19.910865000000001</c:v>
                </c:pt>
                <c:pt idx="6">
                  <c:v>39.634937999999998</c:v>
                </c:pt>
              </c:numCache>
            </c:numRef>
          </c:val>
          <c:smooth val="0"/>
          <c:extLst>
            <c:ext xmlns:c16="http://schemas.microsoft.com/office/drawing/2014/chart" uri="{C3380CC4-5D6E-409C-BE32-E72D297353CC}">
              <c16:uniqueId val="{00000002-467C-4CF5-A63D-36FC21798959}"/>
            </c:ext>
          </c:extLst>
        </c:ser>
        <c:ser>
          <c:idx val="3"/>
          <c:order val="3"/>
          <c:tx>
            <c:strRef>
              <c:f>Foglio1!$J$70</c:f>
              <c:strCache>
                <c:ptCount val="1"/>
                <c:pt idx="0">
                  <c:v>OpenMP (16)</c:v>
                </c:pt>
              </c:strCache>
            </c:strRef>
          </c:tx>
          <c:spPr>
            <a:ln w="28440" cap="rnd">
              <a:solidFill>
                <a:srgbClr val="196B24"/>
              </a:solidFill>
              <a:round/>
            </a:ln>
          </c:spPr>
          <c:marker>
            <c:symbol val="circle"/>
            <c:size val="5"/>
            <c:spPr>
              <a:solidFill>
                <a:srgbClr val="196B24"/>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numRef>
              <c:f>Foglio1!$K$29:$Q$29</c:f>
              <c:numCache>
                <c:formatCode>0</c:formatCode>
                <c:ptCount val="7"/>
                <c:pt idx="0">
                  <c:v>100</c:v>
                </c:pt>
                <c:pt idx="1">
                  <c:v>1000</c:v>
                </c:pt>
                <c:pt idx="2">
                  <c:v>10000</c:v>
                </c:pt>
                <c:pt idx="3">
                  <c:v>100000</c:v>
                </c:pt>
                <c:pt idx="4">
                  <c:v>500000</c:v>
                </c:pt>
                <c:pt idx="5">
                  <c:v>1000000</c:v>
                </c:pt>
                <c:pt idx="6">
                  <c:v>2000000</c:v>
                </c:pt>
              </c:numCache>
            </c:numRef>
          </c:cat>
          <c:val>
            <c:numRef>
              <c:f>Foglio1!$K$70:$Q$70</c:f>
              <c:numCache>
                <c:formatCode>0.00000</c:formatCode>
                <c:ptCount val="7"/>
                <c:pt idx="0">
                  <c:v>1.3134E-2</c:v>
                </c:pt>
                <c:pt idx="1">
                  <c:v>1.9408000000000002E-2</c:v>
                </c:pt>
                <c:pt idx="2">
                  <c:v>0.11361400000000001</c:v>
                </c:pt>
                <c:pt idx="3">
                  <c:v>1.056997</c:v>
                </c:pt>
                <c:pt idx="4">
                  <c:v>5.1048429999999998</c:v>
                </c:pt>
                <c:pt idx="5">
                  <c:v>10.671744</c:v>
                </c:pt>
                <c:pt idx="6">
                  <c:v>20.914171</c:v>
                </c:pt>
              </c:numCache>
            </c:numRef>
          </c:val>
          <c:smooth val="0"/>
          <c:extLst>
            <c:ext xmlns:c16="http://schemas.microsoft.com/office/drawing/2014/chart" uri="{C3380CC4-5D6E-409C-BE32-E72D297353CC}">
              <c16:uniqueId val="{00000003-467C-4CF5-A63D-36FC21798959}"/>
            </c:ext>
          </c:extLst>
        </c:ser>
        <c:ser>
          <c:idx val="4"/>
          <c:order val="4"/>
          <c:tx>
            <c:strRef>
              <c:f>Foglio1!$J$74</c:f>
              <c:strCache>
                <c:ptCount val="1"/>
                <c:pt idx="0">
                  <c:v>OpenMP (32)</c:v>
                </c:pt>
              </c:strCache>
            </c:strRef>
          </c:tx>
          <c:spPr>
            <a:ln w="28440" cap="rnd">
              <a:solidFill>
                <a:srgbClr val="0F9ED5"/>
              </a:solidFill>
              <a:round/>
            </a:ln>
          </c:spPr>
          <c:marker>
            <c:symbol val="circle"/>
            <c:size val="5"/>
            <c:spPr>
              <a:solidFill>
                <a:srgbClr val="0F9ED5"/>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numRef>
              <c:f>Foglio1!$K$29:$Q$29</c:f>
              <c:numCache>
                <c:formatCode>0</c:formatCode>
                <c:ptCount val="7"/>
                <c:pt idx="0">
                  <c:v>100</c:v>
                </c:pt>
                <c:pt idx="1">
                  <c:v>1000</c:v>
                </c:pt>
                <c:pt idx="2">
                  <c:v>10000</c:v>
                </c:pt>
                <c:pt idx="3">
                  <c:v>100000</c:v>
                </c:pt>
                <c:pt idx="4">
                  <c:v>500000</c:v>
                </c:pt>
                <c:pt idx="5">
                  <c:v>1000000</c:v>
                </c:pt>
                <c:pt idx="6">
                  <c:v>2000000</c:v>
                </c:pt>
              </c:numCache>
            </c:numRef>
          </c:cat>
          <c:val>
            <c:numRef>
              <c:f>Foglio1!$K$74:$Q$74</c:f>
              <c:numCache>
                <c:formatCode>0.00000</c:formatCode>
                <c:ptCount val="7"/>
                <c:pt idx="0">
                  <c:v>1.1551000000000001E-2</c:v>
                </c:pt>
                <c:pt idx="1">
                  <c:v>1.8381000000000002E-2</c:v>
                </c:pt>
                <c:pt idx="2">
                  <c:v>6.9893999999999998E-2</c:v>
                </c:pt>
                <c:pt idx="3">
                  <c:v>0.581762</c:v>
                </c:pt>
                <c:pt idx="4">
                  <c:v>2.8485469999999999</c:v>
                </c:pt>
                <c:pt idx="5">
                  <c:v>5.6277189999999999</c:v>
                </c:pt>
                <c:pt idx="6">
                  <c:v>12.099769</c:v>
                </c:pt>
              </c:numCache>
            </c:numRef>
          </c:val>
          <c:smooth val="0"/>
          <c:extLst>
            <c:ext xmlns:c16="http://schemas.microsoft.com/office/drawing/2014/chart" uri="{C3380CC4-5D6E-409C-BE32-E72D297353CC}">
              <c16:uniqueId val="{00000004-467C-4CF5-A63D-36FC21798959}"/>
            </c:ext>
          </c:extLst>
        </c:ser>
        <c:ser>
          <c:idx val="5"/>
          <c:order val="5"/>
          <c:tx>
            <c:strRef>
              <c:f>Foglio1!$J$82</c:f>
              <c:strCache>
                <c:ptCount val="1"/>
                <c:pt idx="0">
                  <c:v>OpenMP (64)</c:v>
                </c:pt>
              </c:strCache>
            </c:strRef>
          </c:tx>
          <c:spPr>
            <a:ln w="28575">
              <a:solidFill>
                <a:srgbClr val="00B050"/>
              </a:solidFill>
            </a:ln>
          </c:spPr>
          <c:marker>
            <c:symbol val="circle"/>
            <c:size val="5"/>
            <c:spPr>
              <a:solidFill>
                <a:srgbClr val="00B050"/>
              </a:solidFill>
            </c:spPr>
          </c:marker>
          <c:cat>
            <c:numRef>
              <c:f>Foglio1!$K$29:$Q$29</c:f>
              <c:numCache>
                <c:formatCode>0</c:formatCode>
                <c:ptCount val="7"/>
                <c:pt idx="0">
                  <c:v>100</c:v>
                </c:pt>
                <c:pt idx="1">
                  <c:v>1000</c:v>
                </c:pt>
                <c:pt idx="2">
                  <c:v>10000</c:v>
                </c:pt>
                <c:pt idx="3">
                  <c:v>100000</c:v>
                </c:pt>
                <c:pt idx="4">
                  <c:v>500000</c:v>
                </c:pt>
                <c:pt idx="5">
                  <c:v>1000000</c:v>
                </c:pt>
                <c:pt idx="6">
                  <c:v>2000000</c:v>
                </c:pt>
              </c:numCache>
            </c:numRef>
          </c:cat>
          <c:val>
            <c:numRef>
              <c:f>Foglio1!$K$82:$Q$82</c:f>
              <c:numCache>
                <c:formatCode>0.00000</c:formatCode>
                <c:ptCount val="7"/>
                <c:pt idx="0">
                  <c:v>1.3806000000000001E-2</c:v>
                </c:pt>
                <c:pt idx="1">
                  <c:v>2.0768999999999999E-2</c:v>
                </c:pt>
                <c:pt idx="2">
                  <c:v>5.6399999999999999E-2</c:v>
                </c:pt>
                <c:pt idx="3">
                  <c:v>0.36882900000000002</c:v>
                </c:pt>
                <c:pt idx="4">
                  <c:v>1.7258599999999999</c:v>
                </c:pt>
                <c:pt idx="5">
                  <c:v>3.5303019999999998</c:v>
                </c:pt>
                <c:pt idx="6">
                  <c:v>7.3756940000000002</c:v>
                </c:pt>
              </c:numCache>
            </c:numRef>
          </c:val>
          <c:smooth val="0"/>
          <c:extLst>
            <c:ext xmlns:c16="http://schemas.microsoft.com/office/drawing/2014/chart" uri="{C3380CC4-5D6E-409C-BE32-E72D297353CC}">
              <c16:uniqueId val="{00000005-467C-4CF5-A63D-36FC21798959}"/>
            </c:ext>
          </c:extLst>
        </c:ser>
        <c:dLbls>
          <c:showLegendKey val="0"/>
          <c:showVal val="0"/>
          <c:showCatName val="0"/>
          <c:showSerName val="0"/>
          <c:showPercent val="0"/>
          <c:showBubbleSize val="0"/>
        </c:dLbls>
        <c:hiLowLines>
          <c:spPr>
            <a:ln w="0">
              <a:noFill/>
            </a:ln>
          </c:spPr>
        </c:hiLowLines>
        <c:marker val="1"/>
        <c:smooth val="0"/>
        <c:axId val="19325235"/>
        <c:axId val="82625942"/>
      </c:lineChart>
      <c:catAx>
        <c:axId val="19325235"/>
        <c:scaling>
          <c:orientation val="minMax"/>
        </c:scaling>
        <c:delete val="0"/>
        <c:axPos val="b"/>
        <c:numFmt formatCode="0" sourceLinked="0"/>
        <c:majorTickMark val="none"/>
        <c:minorTickMark val="none"/>
        <c:tickLblPos val="nextTo"/>
        <c:spPr>
          <a:ln w="9360">
            <a:solidFill>
              <a:srgbClr val="D9D9D9"/>
            </a:solidFill>
            <a:round/>
          </a:ln>
        </c:spPr>
        <c:txPr>
          <a:bodyPr/>
          <a:lstStyle/>
          <a:p>
            <a:pPr>
              <a:defRPr sz="900" b="0" u="none" strike="noStrike">
                <a:solidFill>
                  <a:srgbClr val="595959"/>
                </a:solidFill>
                <a:uFillTx/>
                <a:latin typeface="Aptos Narrow"/>
              </a:defRPr>
            </a:pPr>
            <a:endParaRPr lang="it-IT"/>
          </a:p>
        </c:txPr>
        <c:crossAx val="82625942"/>
        <c:crosses val="autoZero"/>
        <c:auto val="1"/>
        <c:lblAlgn val="ctr"/>
        <c:lblOffset val="100"/>
        <c:noMultiLvlLbl val="0"/>
      </c:catAx>
      <c:valAx>
        <c:axId val="82625942"/>
        <c:scaling>
          <c:logBase val="10"/>
          <c:orientation val="minMax"/>
          <c:max val="1000"/>
        </c:scaling>
        <c:delete val="0"/>
        <c:axPos val="l"/>
        <c:majorGridlines>
          <c:spPr>
            <a:ln w="9360">
              <a:solidFill>
                <a:srgbClr val="D9D9D9"/>
              </a:solidFill>
              <a:round/>
            </a:ln>
          </c:spPr>
        </c:majorGridlines>
        <c:numFmt formatCode="General" sourceLinked="0"/>
        <c:majorTickMark val="none"/>
        <c:minorTickMark val="none"/>
        <c:tickLblPos val="nextTo"/>
        <c:spPr>
          <a:ln w="12600">
            <a:noFill/>
          </a:ln>
        </c:spPr>
        <c:txPr>
          <a:bodyPr/>
          <a:lstStyle/>
          <a:p>
            <a:pPr>
              <a:defRPr sz="1050" b="0" u="none" strike="noStrike">
                <a:solidFill>
                  <a:srgbClr val="595959"/>
                </a:solidFill>
                <a:uFillTx/>
                <a:latin typeface="Aptos Narrow"/>
              </a:defRPr>
            </a:pPr>
            <a:endParaRPr lang="it-IT"/>
          </a:p>
        </c:txPr>
        <c:crossAx val="19325235"/>
        <c:crosses val="autoZero"/>
        <c:crossBetween val="between"/>
      </c:valAx>
      <c:dTable>
        <c:showHorzBorder val="1"/>
        <c:showVertBorder val="1"/>
        <c:showOutline val="1"/>
        <c:showKeys val="1"/>
        <c:spPr>
          <a:noFill/>
          <a:ln w="9360">
            <a:solidFill>
              <a:srgbClr val="D9D9D9"/>
            </a:solidFill>
            <a:round/>
          </a:ln>
        </c:spPr>
        <c:txPr>
          <a:bodyPr/>
          <a:lstStyle/>
          <a:p>
            <a:pPr rtl="0">
              <a:defRPr sz="1050" b="0" u="none" strike="noStrike">
                <a:solidFill>
                  <a:srgbClr val="595959"/>
                </a:solidFill>
                <a:uFillTx/>
                <a:latin typeface="Aptos Narrow"/>
              </a:defRPr>
            </a:pPr>
            <a:endParaRPr lang="it-IT"/>
          </a:p>
        </c:txPr>
      </c:dTable>
      <c:spPr>
        <a:noFill/>
        <a:ln w="0">
          <a:noFill/>
        </a:ln>
      </c:spPr>
    </c:plotArea>
    <c:plotVisOnly val="1"/>
    <c:dispBlanksAs val="gap"/>
    <c:showDLblsOverMax val="1"/>
  </c:chart>
  <c:spPr>
    <a:solidFill>
      <a:srgbClr val="FFFFFF"/>
    </a:solidFill>
    <a:ln w="9360">
      <a:noFill/>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0"/>
  <c:style val="2"/>
  <c:chart>
    <c:autoTitleDeleted val="1"/>
    <c:plotArea>
      <c:layout>
        <c:manualLayout>
          <c:layoutTarget val="inner"/>
          <c:xMode val="edge"/>
          <c:yMode val="edge"/>
          <c:x val="8.78915381019168E-2"/>
          <c:y val="4.8196248196248202E-2"/>
          <c:w val="0.90662586595265404"/>
          <c:h val="0.70839826839826803"/>
        </c:manualLayout>
      </c:layout>
      <c:lineChart>
        <c:grouping val="standard"/>
        <c:varyColors val="0"/>
        <c:ser>
          <c:idx val="0"/>
          <c:order val="0"/>
          <c:tx>
            <c:strRef>
              <c:f>label 0</c:f>
              <c:strCache>
                <c:ptCount val="1"/>
                <c:pt idx="0">
                  <c:v>Sequenziale</c:v>
                </c:pt>
              </c:strCache>
            </c:strRef>
          </c:tx>
          <c:spPr>
            <a:ln w="28440" cap="rnd">
              <a:solidFill>
                <a:srgbClr val="156082"/>
              </a:solidFill>
              <a:round/>
            </a:ln>
          </c:spPr>
          <c:marker>
            <c:symbol val="circle"/>
            <c:size val="5"/>
            <c:spPr>
              <a:solidFill>
                <a:srgbClr val="156082"/>
              </a:solidFill>
            </c:spPr>
          </c:marker>
          <c:dLbls>
            <c:spPr>
              <a:noFill/>
              <a:ln>
                <a:noFill/>
              </a:ln>
              <a:effectLst/>
            </c:spPr>
            <c:txPr>
              <a:bodyPr wrap="square"/>
              <a:lstStyle/>
              <a:p>
                <a:pPr>
                  <a:defRPr sz="11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categories</c:f>
              <c:strCache>
                <c:ptCount val="7"/>
                <c:pt idx="0">
                  <c:v>100 + 600 + 100</c:v>
                </c:pt>
                <c:pt idx="1">
                  <c:v>1000 + 1500 + 1000</c:v>
                </c:pt>
                <c:pt idx="2">
                  <c:v>10000 + 10500 + 10000 </c:v>
                </c:pt>
                <c:pt idx="3">
                  <c:v>30000 + 30500 + 10000</c:v>
                </c:pt>
                <c:pt idx="4">
                  <c:v>80000 + 80500 + 20000</c:v>
                </c:pt>
                <c:pt idx="5">
                  <c:v>100000 + 100500 + 100000</c:v>
                </c:pt>
                <c:pt idx="6">
                  <c:v>500000 + 300500 + 300000</c:v>
                </c:pt>
              </c:strCache>
            </c:strRef>
          </c:cat>
          <c:val>
            <c:numRef>
              <c:f>0</c:f>
              <c:numCache>
                <c:formatCode>0.00000</c:formatCode>
                <c:ptCount val="7"/>
                <c:pt idx="0">
                  <c:v>1.9100000000000001E-4</c:v>
                </c:pt>
                <c:pt idx="1">
                  <c:v>6.1850000000000004E-3</c:v>
                </c:pt>
                <c:pt idx="2">
                  <c:v>0.43378800000000001</c:v>
                </c:pt>
                <c:pt idx="3">
                  <c:v>4.4697089999999999</c:v>
                </c:pt>
                <c:pt idx="4">
                  <c:v>31.976589000000001</c:v>
                </c:pt>
                <c:pt idx="5">
                  <c:v>50.381278999999999</c:v>
                </c:pt>
                <c:pt idx="6">
                  <c:v>455.26502499999998</c:v>
                </c:pt>
              </c:numCache>
            </c:numRef>
          </c:val>
          <c:smooth val="0"/>
          <c:extLst>
            <c:ext xmlns:c16="http://schemas.microsoft.com/office/drawing/2014/chart" uri="{C3380CC4-5D6E-409C-BE32-E72D297353CC}">
              <c16:uniqueId val="{00000000-33AA-4E3B-BB35-2B58214094CF}"/>
            </c:ext>
          </c:extLst>
        </c:ser>
        <c:ser>
          <c:idx val="1"/>
          <c:order val="1"/>
          <c:tx>
            <c:strRef>
              <c:f>label 1</c:f>
              <c:strCache>
                <c:ptCount val="1"/>
                <c:pt idx="0">
                  <c:v>OpenMP (2)</c:v>
                </c:pt>
              </c:strCache>
            </c:strRef>
          </c:tx>
          <c:spPr>
            <a:ln w="28440" cap="rnd">
              <a:solidFill>
                <a:srgbClr val="E97132"/>
              </a:solidFill>
              <a:round/>
            </a:ln>
          </c:spPr>
          <c:marker>
            <c:symbol val="circle"/>
            <c:size val="5"/>
            <c:spPr>
              <a:solidFill>
                <a:srgbClr val="E97132"/>
              </a:solidFill>
            </c:spPr>
          </c:marker>
          <c:dLbls>
            <c:spPr>
              <a:noFill/>
              <a:ln>
                <a:noFill/>
              </a:ln>
              <a:effectLst/>
            </c:spPr>
            <c:txPr>
              <a:bodyPr wrap="square"/>
              <a:lstStyle/>
              <a:p>
                <a:pPr>
                  <a:defRPr sz="11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categories</c:f>
              <c:strCache>
                <c:ptCount val="7"/>
                <c:pt idx="0">
                  <c:v>100 + 600 + 100</c:v>
                </c:pt>
                <c:pt idx="1">
                  <c:v>1000 + 1500 + 1000</c:v>
                </c:pt>
                <c:pt idx="2">
                  <c:v>10000 + 10500 + 10000 </c:v>
                </c:pt>
                <c:pt idx="3">
                  <c:v>30000 + 30500 + 10000</c:v>
                </c:pt>
                <c:pt idx="4">
                  <c:v>80000 + 80500 + 20000</c:v>
                </c:pt>
                <c:pt idx="5">
                  <c:v>100000 + 100500 + 100000</c:v>
                </c:pt>
                <c:pt idx="6">
                  <c:v>500000 + 300500 + 300000</c:v>
                </c:pt>
              </c:strCache>
            </c:strRef>
          </c:cat>
          <c:val>
            <c:numRef>
              <c:f>1</c:f>
              <c:numCache>
                <c:formatCode>0.00000</c:formatCode>
                <c:ptCount val="7"/>
                <c:pt idx="0">
                  <c:v>1.3899999999999999E-4</c:v>
                </c:pt>
                <c:pt idx="1">
                  <c:v>1.6429999999999999E-3</c:v>
                </c:pt>
                <c:pt idx="2">
                  <c:v>0.123178</c:v>
                </c:pt>
                <c:pt idx="3">
                  <c:v>1.1941090000000001</c:v>
                </c:pt>
                <c:pt idx="4">
                  <c:v>8.953106</c:v>
                </c:pt>
                <c:pt idx="5">
                  <c:v>13.660847</c:v>
                </c:pt>
                <c:pt idx="6">
                  <c:v>210.58185399999999</c:v>
                </c:pt>
              </c:numCache>
            </c:numRef>
          </c:val>
          <c:smooth val="0"/>
          <c:extLst>
            <c:ext xmlns:c16="http://schemas.microsoft.com/office/drawing/2014/chart" uri="{C3380CC4-5D6E-409C-BE32-E72D297353CC}">
              <c16:uniqueId val="{00000001-33AA-4E3B-BB35-2B58214094CF}"/>
            </c:ext>
          </c:extLst>
        </c:ser>
        <c:ser>
          <c:idx val="2"/>
          <c:order val="2"/>
          <c:tx>
            <c:strRef>
              <c:f>label 2</c:f>
              <c:strCache>
                <c:ptCount val="1"/>
                <c:pt idx="0">
                  <c:v>OpenMP (4)</c:v>
                </c:pt>
              </c:strCache>
            </c:strRef>
          </c:tx>
          <c:spPr>
            <a:ln w="28440" cap="rnd">
              <a:solidFill>
                <a:srgbClr val="196B24"/>
              </a:solidFill>
              <a:round/>
            </a:ln>
          </c:spPr>
          <c:marker>
            <c:symbol val="circle"/>
            <c:size val="5"/>
            <c:spPr>
              <a:solidFill>
                <a:srgbClr val="196B24"/>
              </a:solidFill>
            </c:spPr>
          </c:marker>
          <c:dLbls>
            <c:spPr>
              <a:noFill/>
              <a:ln>
                <a:noFill/>
              </a:ln>
              <a:effectLst/>
            </c:spPr>
            <c:txPr>
              <a:bodyPr wrap="square"/>
              <a:lstStyle/>
              <a:p>
                <a:pPr>
                  <a:defRPr sz="11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categories</c:f>
              <c:strCache>
                <c:ptCount val="7"/>
                <c:pt idx="0">
                  <c:v>100 + 600 + 100</c:v>
                </c:pt>
                <c:pt idx="1">
                  <c:v>1000 + 1500 + 1000</c:v>
                </c:pt>
                <c:pt idx="2">
                  <c:v>10000 + 10500 + 10000 </c:v>
                </c:pt>
                <c:pt idx="3">
                  <c:v>30000 + 30500 + 10000</c:v>
                </c:pt>
                <c:pt idx="4">
                  <c:v>80000 + 80500 + 20000</c:v>
                </c:pt>
                <c:pt idx="5">
                  <c:v>100000 + 100500 + 100000</c:v>
                </c:pt>
                <c:pt idx="6">
                  <c:v>500000 + 300500 + 300000</c:v>
                </c:pt>
              </c:strCache>
            </c:strRef>
          </c:cat>
          <c:val>
            <c:numRef>
              <c:f>2</c:f>
              <c:numCache>
                <c:formatCode>0.00000</c:formatCode>
                <c:ptCount val="7"/>
                <c:pt idx="0">
                  <c:v>2.1900000000000001E-4</c:v>
                </c:pt>
                <c:pt idx="1">
                  <c:v>1.042E-3</c:v>
                </c:pt>
                <c:pt idx="2">
                  <c:v>6.1519999999999998E-2</c:v>
                </c:pt>
                <c:pt idx="3">
                  <c:v>0.87136899999999995</c:v>
                </c:pt>
                <c:pt idx="4">
                  <c:v>4.7864550000000001</c:v>
                </c:pt>
                <c:pt idx="5">
                  <c:v>8.5036760000000005</c:v>
                </c:pt>
                <c:pt idx="6">
                  <c:v>122.24682199999999</c:v>
                </c:pt>
              </c:numCache>
            </c:numRef>
          </c:val>
          <c:smooth val="0"/>
          <c:extLst>
            <c:ext xmlns:c16="http://schemas.microsoft.com/office/drawing/2014/chart" uri="{C3380CC4-5D6E-409C-BE32-E72D297353CC}">
              <c16:uniqueId val="{00000002-33AA-4E3B-BB35-2B58214094CF}"/>
            </c:ext>
          </c:extLst>
        </c:ser>
        <c:ser>
          <c:idx val="3"/>
          <c:order val="3"/>
          <c:tx>
            <c:strRef>
              <c:f>label 3</c:f>
              <c:strCache>
                <c:ptCount val="1"/>
                <c:pt idx="0">
                  <c:v>OpenMP (8)</c:v>
                </c:pt>
              </c:strCache>
            </c:strRef>
          </c:tx>
          <c:spPr>
            <a:ln w="28440" cap="rnd">
              <a:solidFill>
                <a:srgbClr val="0F9ED5"/>
              </a:solidFill>
              <a:round/>
            </a:ln>
          </c:spPr>
          <c:marker>
            <c:symbol val="circle"/>
            <c:size val="5"/>
            <c:spPr>
              <a:solidFill>
                <a:srgbClr val="0F9ED5"/>
              </a:solidFill>
            </c:spPr>
          </c:marker>
          <c:dLbls>
            <c:spPr>
              <a:noFill/>
              <a:ln>
                <a:noFill/>
              </a:ln>
              <a:effectLst/>
            </c:spPr>
            <c:txPr>
              <a:bodyPr wrap="square"/>
              <a:lstStyle/>
              <a:p>
                <a:pPr>
                  <a:defRPr sz="11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categories</c:f>
              <c:strCache>
                <c:ptCount val="7"/>
                <c:pt idx="0">
                  <c:v>100 + 600 + 100</c:v>
                </c:pt>
                <c:pt idx="1">
                  <c:v>1000 + 1500 + 1000</c:v>
                </c:pt>
                <c:pt idx="2">
                  <c:v>10000 + 10500 + 10000 </c:v>
                </c:pt>
                <c:pt idx="3">
                  <c:v>30000 + 30500 + 10000</c:v>
                </c:pt>
                <c:pt idx="4">
                  <c:v>80000 + 80500 + 20000</c:v>
                </c:pt>
                <c:pt idx="5">
                  <c:v>100000 + 100500 + 100000</c:v>
                </c:pt>
                <c:pt idx="6">
                  <c:v>500000 + 300500 + 300000</c:v>
                </c:pt>
              </c:strCache>
            </c:strRef>
          </c:cat>
          <c:val>
            <c:numRef>
              <c:f>3</c:f>
              <c:numCache>
                <c:formatCode>0.00000</c:formatCode>
                <c:ptCount val="7"/>
                <c:pt idx="0">
                  <c:v>3.5199999999999999E-4</c:v>
                </c:pt>
                <c:pt idx="1">
                  <c:v>1.085E-3</c:v>
                </c:pt>
                <c:pt idx="2">
                  <c:v>4.7371999999999997E-2</c:v>
                </c:pt>
                <c:pt idx="3">
                  <c:v>0.46357700000000002</c:v>
                </c:pt>
                <c:pt idx="4">
                  <c:v>3.2923260000000001</c:v>
                </c:pt>
                <c:pt idx="5">
                  <c:v>5.2658870000000002</c:v>
                </c:pt>
                <c:pt idx="6">
                  <c:v>79.119332</c:v>
                </c:pt>
              </c:numCache>
            </c:numRef>
          </c:val>
          <c:smooth val="0"/>
          <c:extLst>
            <c:ext xmlns:c16="http://schemas.microsoft.com/office/drawing/2014/chart" uri="{C3380CC4-5D6E-409C-BE32-E72D297353CC}">
              <c16:uniqueId val="{00000003-33AA-4E3B-BB35-2B58214094CF}"/>
            </c:ext>
          </c:extLst>
        </c:ser>
        <c:dLbls>
          <c:showLegendKey val="0"/>
          <c:showVal val="0"/>
          <c:showCatName val="0"/>
          <c:showSerName val="0"/>
          <c:showPercent val="0"/>
          <c:showBubbleSize val="0"/>
        </c:dLbls>
        <c:hiLowLines>
          <c:spPr>
            <a:ln w="0">
              <a:noFill/>
            </a:ln>
          </c:spPr>
        </c:hiLowLines>
        <c:marker val="1"/>
        <c:smooth val="0"/>
        <c:axId val="76543957"/>
        <c:axId val="83644456"/>
      </c:lineChart>
      <c:catAx>
        <c:axId val="76543957"/>
        <c:scaling>
          <c:orientation val="minMax"/>
        </c:scaling>
        <c:delete val="0"/>
        <c:axPos val="b"/>
        <c:title>
          <c:tx>
            <c:rich>
              <a:bodyPr rot="0"/>
              <a:lstStyle/>
              <a:p>
                <a:pPr>
                  <a:defRPr sz="1300" b="0" u="none" strike="noStrike">
                    <a:solidFill>
                      <a:srgbClr val="000000"/>
                    </a:solidFill>
                    <a:uFillTx/>
                    <a:latin typeface="Arial"/>
                  </a:defRPr>
                </a:pPr>
                <a:r>
                  <a:rPr lang="it-IT" sz="1200" b="0" u="none" strike="noStrike">
                    <a:solidFill>
                      <a:srgbClr val="595959"/>
                    </a:solidFill>
                    <a:uFillTx/>
                    <a:latin typeface="CMU Serif"/>
                  </a:rPr>
                  <a:t>Lunghezza DNA + Num Pattern Totali + Lunghezza Pattern Sample </a:t>
                </a:r>
              </a:p>
              <a:p>
                <a:pPr>
                  <a:defRPr sz="1300" b="0" u="none" strike="noStrike">
                    <a:solidFill>
                      <a:srgbClr val="000000"/>
                    </a:solidFill>
                    <a:uFillTx/>
                    <a:latin typeface="Arial"/>
                  </a:defRPr>
                </a:pPr>
                <a:endParaRPr lang="it-IT"/>
              </a:p>
            </c:rich>
          </c:tx>
          <c:layout>
            <c:manualLayout>
              <c:xMode val="edge"/>
              <c:yMode val="edge"/>
              <c:x val="0.34145097539206898"/>
              <c:y val="0.72658008658008699"/>
            </c:manualLayout>
          </c:layout>
          <c:overlay val="0"/>
          <c:spPr>
            <a:noFill/>
            <a:ln w="0">
              <a:noFill/>
            </a:ln>
          </c:spPr>
        </c:title>
        <c:numFmt formatCode="General" sourceLinked="0"/>
        <c:majorTickMark val="none"/>
        <c:minorTickMark val="none"/>
        <c:tickLblPos val="nextTo"/>
        <c:spPr>
          <a:ln w="9360">
            <a:solidFill>
              <a:srgbClr val="D9D9D9"/>
            </a:solidFill>
            <a:round/>
          </a:ln>
        </c:spPr>
        <c:txPr>
          <a:bodyPr/>
          <a:lstStyle/>
          <a:p>
            <a:pPr>
              <a:defRPr sz="1100" b="0" u="none" strike="noStrike">
                <a:solidFill>
                  <a:srgbClr val="595959"/>
                </a:solidFill>
                <a:uFillTx/>
                <a:latin typeface="Aptos Narrow"/>
              </a:defRPr>
            </a:pPr>
            <a:endParaRPr lang="it-IT"/>
          </a:p>
        </c:txPr>
        <c:crossAx val="83644456"/>
        <c:crosses val="autoZero"/>
        <c:auto val="1"/>
        <c:lblAlgn val="ctr"/>
        <c:lblOffset val="100"/>
        <c:noMultiLvlLbl val="0"/>
      </c:catAx>
      <c:valAx>
        <c:axId val="83644456"/>
        <c:scaling>
          <c:logBase val="10"/>
          <c:orientation val="minMax"/>
          <c:max val="1000"/>
          <c:min val="1E-4"/>
        </c:scaling>
        <c:delete val="0"/>
        <c:axPos val="l"/>
        <c:majorGridlines>
          <c:spPr>
            <a:ln w="9360">
              <a:solidFill>
                <a:srgbClr val="D9D9D9"/>
              </a:solidFill>
              <a:round/>
            </a:ln>
          </c:spPr>
        </c:majorGridlines>
        <c:title>
          <c:tx>
            <c:rich>
              <a:bodyPr rot="-5400000"/>
              <a:lstStyle/>
              <a:p>
                <a:pPr>
                  <a:defRPr sz="1300" b="0" u="none" strike="noStrike">
                    <a:solidFill>
                      <a:srgbClr val="000000"/>
                    </a:solidFill>
                    <a:uFillTx/>
                    <a:latin typeface="Arial"/>
                  </a:defRPr>
                </a:pPr>
                <a:r>
                  <a:rPr lang="it-IT" sz="1600" b="0" u="none" strike="noStrike">
                    <a:solidFill>
                      <a:srgbClr val="595959"/>
                    </a:solidFill>
                    <a:uFillTx/>
                    <a:latin typeface="CMU Serif"/>
                  </a:rPr>
                  <a:t>Tempo in secondi</a:t>
                </a:r>
              </a:p>
            </c:rich>
          </c:tx>
          <c:layout>
            <c:manualLayout>
              <c:xMode val="edge"/>
              <c:yMode val="edge"/>
              <c:x val="1.8955331718305098E-2"/>
              <c:y val="0.32554112554112602"/>
            </c:manualLayout>
          </c:layout>
          <c:overlay val="0"/>
          <c:spPr>
            <a:noFill/>
            <a:ln w="0">
              <a:noFill/>
            </a:ln>
          </c:spPr>
        </c:title>
        <c:numFmt formatCode="General" sourceLinked="0"/>
        <c:majorTickMark val="none"/>
        <c:minorTickMark val="none"/>
        <c:tickLblPos val="nextTo"/>
        <c:spPr>
          <a:ln w="12600">
            <a:noFill/>
          </a:ln>
        </c:spPr>
        <c:txPr>
          <a:bodyPr/>
          <a:lstStyle/>
          <a:p>
            <a:pPr>
              <a:defRPr sz="1100" b="0" u="none" strike="noStrike">
                <a:solidFill>
                  <a:srgbClr val="595959"/>
                </a:solidFill>
                <a:uFillTx/>
                <a:latin typeface="Aptos Narrow"/>
              </a:defRPr>
            </a:pPr>
            <a:endParaRPr lang="it-IT"/>
          </a:p>
        </c:txPr>
        <c:crossAx val="76543957"/>
        <c:crosses val="autoZero"/>
        <c:crossBetween val="between"/>
      </c:valAx>
      <c:dTable>
        <c:showHorzBorder val="1"/>
        <c:showVertBorder val="1"/>
        <c:showOutline val="1"/>
        <c:showKeys val="1"/>
        <c:spPr>
          <a:noFill/>
          <a:ln w="9360">
            <a:solidFill>
              <a:srgbClr val="D9D9D9"/>
            </a:solidFill>
            <a:round/>
          </a:ln>
        </c:spPr>
        <c:txPr>
          <a:bodyPr/>
          <a:lstStyle/>
          <a:p>
            <a:pPr rtl="0">
              <a:defRPr sz="1100" b="0" u="none" strike="noStrike">
                <a:solidFill>
                  <a:srgbClr val="595959"/>
                </a:solidFill>
                <a:uFillTx/>
                <a:latin typeface="Aptos Narrow"/>
              </a:defRPr>
            </a:pPr>
            <a:endParaRPr lang="it-IT"/>
          </a:p>
        </c:txPr>
      </c:dTable>
      <c:spPr>
        <a:noFill/>
        <a:ln w="0">
          <a:noFill/>
        </a:ln>
      </c:spPr>
    </c:plotArea>
    <c:plotVisOnly val="1"/>
    <c:dispBlanksAs val="gap"/>
    <c:showDLblsOverMax val="1"/>
  </c:chart>
  <c:spPr>
    <a:solidFill>
      <a:srgbClr val="FFFFFF"/>
    </a:solidFill>
    <a:ln w="9360">
      <a:noFill/>
    </a:ln>
  </c:spPr>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478965960179832"/>
          <c:y val="1.3674029605685112E-2"/>
          <c:w val="0.90671748204609703"/>
          <c:h val="0.70844644777954202"/>
        </c:manualLayout>
      </c:layout>
      <c:lineChart>
        <c:grouping val="standard"/>
        <c:varyColors val="0"/>
        <c:ser>
          <c:idx val="0"/>
          <c:order val="0"/>
          <c:tx>
            <c:strRef>
              <c:f>Foglio1!$CF$37</c:f>
              <c:strCache>
                <c:ptCount val="1"/>
                <c:pt idx="0">
                  <c:v>Sequenziale</c:v>
                </c:pt>
              </c:strCache>
            </c:strRef>
          </c:tx>
          <c:spPr>
            <a:ln w="28440" cap="rnd">
              <a:solidFill>
                <a:srgbClr val="156082"/>
              </a:solidFill>
              <a:round/>
            </a:ln>
          </c:spPr>
          <c:marker>
            <c:symbol val="circle"/>
            <c:size val="5"/>
            <c:spPr>
              <a:solidFill>
                <a:srgbClr val="156082"/>
              </a:solidFill>
            </c:spPr>
          </c:marker>
          <c:dLbls>
            <c:spPr>
              <a:noFill/>
              <a:ln>
                <a:noFill/>
              </a:ln>
              <a:effectLst/>
            </c:spPr>
            <c:txPr>
              <a:bodyPr wrap="square"/>
              <a:lstStyle/>
              <a:p>
                <a:pPr>
                  <a:defRPr sz="11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Foglio1!$AW$22:$BD$22</c:f>
              <c:strCache>
                <c:ptCount val="7"/>
                <c:pt idx="0">
                  <c:v>100 + 600 + 100</c:v>
                </c:pt>
                <c:pt idx="1">
                  <c:v>1000 + 1500 + 1000</c:v>
                </c:pt>
                <c:pt idx="2">
                  <c:v>10000 + 10500 + 10000 </c:v>
                </c:pt>
                <c:pt idx="3">
                  <c:v>30000 + 30500 + 10000</c:v>
                </c:pt>
                <c:pt idx="4">
                  <c:v>80000 + 80500 + 20000</c:v>
                </c:pt>
                <c:pt idx="5">
                  <c:v>100000 + 100500 + 100000</c:v>
                </c:pt>
                <c:pt idx="6">
                  <c:v>500000 + 300500 + 300000</c:v>
                </c:pt>
              </c:strCache>
            </c:strRef>
          </c:cat>
          <c:val>
            <c:numRef>
              <c:f>Foglio1!$CG$37:$CM$37</c:f>
              <c:numCache>
                <c:formatCode>0.00000</c:formatCode>
                <c:ptCount val="7"/>
                <c:pt idx="0">
                  <c:v>1.226E-4</c:v>
                </c:pt>
                <c:pt idx="1">
                  <c:v>4.5786000000000004E-3</c:v>
                </c:pt>
                <c:pt idx="2">
                  <c:v>0.41784840000000001</c:v>
                </c:pt>
                <c:pt idx="3">
                  <c:v>4.0442650000000002</c:v>
                </c:pt>
                <c:pt idx="4">
                  <c:v>29.169322000000001</c:v>
                </c:pt>
                <c:pt idx="5">
                  <c:v>47.565446000000001</c:v>
                </c:pt>
                <c:pt idx="6">
                  <c:v>706.92577900000003</c:v>
                </c:pt>
              </c:numCache>
            </c:numRef>
          </c:val>
          <c:smooth val="0"/>
          <c:extLst>
            <c:ext xmlns:c16="http://schemas.microsoft.com/office/drawing/2014/chart" uri="{C3380CC4-5D6E-409C-BE32-E72D297353CC}">
              <c16:uniqueId val="{00000000-92FE-40AF-B269-A866A0FC12A0}"/>
            </c:ext>
          </c:extLst>
        </c:ser>
        <c:ser>
          <c:idx val="1"/>
          <c:order val="1"/>
          <c:tx>
            <c:strRef>
              <c:f>Foglio1!$CF$38</c:f>
              <c:strCache>
                <c:ptCount val="1"/>
                <c:pt idx="0">
                  <c:v>OpenMP (4)</c:v>
                </c:pt>
              </c:strCache>
            </c:strRef>
          </c:tx>
          <c:spPr>
            <a:ln w="28440" cap="rnd">
              <a:solidFill>
                <a:srgbClr val="E97132"/>
              </a:solidFill>
              <a:round/>
            </a:ln>
          </c:spPr>
          <c:marker>
            <c:symbol val="circle"/>
            <c:size val="5"/>
            <c:spPr>
              <a:solidFill>
                <a:srgbClr val="E97132"/>
              </a:solidFill>
            </c:spPr>
          </c:marker>
          <c:dLbls>
            <c:spPr>
              <a:noFill/>
              <a:ln>
                <a:noFill/>
              </a:ln>
              <a:effectLst/>
            </c:spPr>
            <c:txPr>
              <a:bodyPr wrap="square"/>
              <a:lstStyle/>
              <a:p>
                <a:pPr>
                  <a:defRPr sz="11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Foglio1!$AW$22:$BD$22</c:f>
              <c:strCache>
                <c:ptCount val="7"/>
                <c:pt idx="0">
                  <c:v>100 + 600 + 100</c:v>
                </c:pt>
                <c:pt idx="1">
                  <c:v>1000 + 1500 + 1000</c:v>
                </c:pt>
                <c:pt idx="2">
                  <c:v>10000 + 10500 + 10000 </c:v>
                </c:pt>
                <c:pt idx="3">
                  <c:v>30000 + 30500 + 10000</c:v>
                </c:pt>
                <c:pt idx="4">
                  <c:v>80000 + 80500 + 20000</c:v>
                </c:pt>
                <c:pt idx="5">
                  <c:v>100000 + 100500 + 100000</c:v>
                </c:pt>
                <c:pt idx="6">
                  <c:v>500000 + 300500 + 300000</c:v>
                </c:pt>
              </c:strCache>
            </c:strRef>
          </c:cat>
          <c:val>
            <c:numRef>
              <c:f>Foglio1!$CG$38:$CM$38</c:f>
              <c:numCache>
                <c:formatCode>0.00000</c:formatCode>
                <c:ptCount val="7"/>
                <c:pt idx="0">
                  <c:v>3.9100000000000002E-4</c:v>
                </c:pt>
                <c:pt idx="1">
                  <c:v>2.2850000000000001E-3</c:v>
                </c:pt>
                <c:pt idx="2">
                  <c:v>0.12928700000000001</c:v>
                </c:pt>
                <c:pt idx="3">
                  <c:v>1.0401549999999999</c:v>
                </c:pt>
                <c:pt idx="4">
                  <c:v>7.6698820000000003</c:v>
                </c:pt>
                <c:pt idx="5">
                  <c:v>12.005228000000001</c:v>
                </c:pt>
                <c:pt idx="6">
                  <c:v>181.91508999999999</c:v>
                </c:pt>
              </c:numCache>
            </c:numRef>
          </c:val>
          <c:smooth val="0"/>
          <c:extLst>
            <c:ext xmlns:c16="http://schemas.microsoft.com/office/drawing/2014/chart" uri="{C3380CC4-5D6E-409C-BE32-E72D297353CC}">
              <c16:uniqueId val="{00000001-92FE-40AF-B269-A866A0FC12A0}"/>
            </c:ext>
          </c:extLst>
        </c:ser>
        <c:ser>
          <c:idx val="2"/>
          <c:order val="2"/>
          <c:tx>
            <c:strRef>
              <c:f>Foglio1!$CF$39</c:f>
              <c:strCache>
                <c:ptCount val="1"/>
                <c:pt idx="0">
                  <c:v>OpenMP (8)</c:v>
                </c:pt>
              </c:strCache>
            </c:strRef>
          </c:tx>
          <c:spPr>
            <a:ln w="28440" cap="rnd">
              <a:solidFill>
                <a:srgbClr val="196B24"/>
              </a:solidFill>
              <a:round/>
            </a:ln>
          </c:spPr>
          <c:marker>
            <c:symbol val="circle"/>
            <c:size val="5"/>
            <c:spPr>
              <a:solidFill>
                <a:srgbClr val="196B24"/>
              </a:solidFill>
            </c:spPr>
          </c:marker>
          <c:dLbls>
            <c:spPr>
              <a:noFill/>
              <a:ln>
                <a:noFill/>
              </a:ln>
              <a:effectLst/>
            </c:spPr>
            <c:txPr>
              <a:bodyPr wrap="square"/>
              <a:lstStyle/>
              <a:p>
                <a:pPr>
                  <a:defRPr sz="11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Foglio1!$AW$22:$BD$22</c:f>
              <c:strCache>
                <c:ptCount val="7"/>
                <c:pt idx="0">
                  <c:v>100 + 600 + 100</c:v>
                </c:pt>
                <c:pt idx="1">
                  <c:v>1000 + 1500 + 1000</c:v>
                </c:pt>
                <c:pt idx="2">
                  <c:v>10000 + 10500 + 10000 </c:v>
                </c:pt>
                <c:pt idx="3">
                  <c:v>30000 + 30500 + 10000</c:v>
                </c:pt>
                <c:pt idx="4">
                  <c:v>80000 + 80500 + 20000</c:v>
                </c:pt>
                <c:pt idx="5">
                  <c:v>100000 + 100500 + 100000</c:v>
                </c:pt>
                <c:pt idx="6">
                  <c:v>500000 + 300500 + 300000</c:v>
                </c:pt>
              </c:strCache>
            </c:strRef>
          </c:cat>
          <c:val>
            <c:numRef>
              <c:f>Foglio1!$CG$39:$CM$39</c:f>
              <c:numCache>
                <c:formatCode>0.00000</c:formatCode>
                <c:ptCount val="7"/>
                <c:pt idx="0">
                  <c:v>7.6900000000000004E-4</c:v>
                </c:pt>
                <c:pt idx="1">
                  <c:v>3.8430000000000001E-3</c:v>
                </c:pt>
                <c:pt idx="2">
                  <c:v>6.4817E-2</c:v>
                </c:pt>
                <c:pt idx="3">
                  <c:v>0.53387899999999999</c:v>
                </c:pt>
                <c:pt idx="4">
                  <c:v>3.8894980000000001</c:v>
                </c:pt>
                <c:pt idx="5">
                  <c:v>6.1138209999999997</c:v>
                </c:pt>
                <c:pt idx="6">
                  <c:v>99.969859</c:v>
                </c:pt>
              </c:numCache>
            </c:numRef>
          </c:val>
          <c:smooth val="0"/>
          <c:extLst>
            <c:ext xmlns:c16="http://schemas.microsoft.com/office/drawing/2014/chart" uri="{C3380CC4-5D6E-409C-BE32-E72D297353CC}">
              <c16:uniqueId val="{00000002-92FE-40AF-B269-A866A0FC12A0}"/>
            </c:ext>
          </c:extLst>
        </c:ser>
        <c:ser>
          <c:idx val="3"/>
          <c:order val="3"/>
          <c:tx>
            <c:strRef>
              <c:f>Foglio1!$CF$40</c:f>
              <c:strCache>
                <c:ptCount val="1"/>
                <c:pt idx="0">
                  <c:v>OpenMP (16)</c:v>
                </c:pt>
              </c:strCache>
            </c:strRef>
          </c:tx>
          <c:spPr>
            <a:ln w="28440" cap="rnd">
              <a:solidFill>
                <a:srgbClr val="0F9ED5"/>
              </a:solidFill>
              <a:round/>
            </a:ln>
          </c:spPr>
          <c:marker>
            <c:symbol val="circle"/>
            <c:size val="5"/>
            <c:spPr>
              <a:solidFill>
                <a:srgbClr val="0F9ED5"/>
              </a:solidFill>
            </c:spPr>
          </c:marker>
          <c:dLbls>
            <c:spPr>
              <a:noFill/>
              <a:ln>
                <a:noFill/>
              </a:ln>
              <a:effectLst/>
            </c:spPr>
            <c:txPr>
              <a:bodyPr wrap="square"/>
              <a:lstStyle/>
              <a:p>
                <a:pPr>
                  <a:defRPr sz="11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Foglio1!$AW$22:$BD$22</c:f>
              <c:strCache>
                <c:ptCount val="7"/>
                <c:pt idx="0">
                  <c:v>100 + 600 + 100</c:v>
                </c:pt>
                <c:pt idx="1">
                  <c:v>1000 + 1500 + 1000</c:v>
                </c:pt>
                <c:pt idx="2">
                  <c:v>10000 + 10500 + 10000 </c:v>
                </c:pt>
                <c:pt idx="3">
                  <c:v>30000 + 30500 + 10000</c:v>
                </c:pt>
                <c:pt idx="4">
                  <c:v>80000 + 80500 + 20000</c:v>
                </c:pt>
                <c:pt idx="5">
                  <c:v>100000 + 100500 + 100000</c:v>
                </c:pt>
                <c:pt idx="6">
                  <c:v>500000 + 300500 + 300000</c:v>
                </c:pt>
              </c:strCache>
            </c:strRef>
          </c:cat>
          <c:val>
            <c:numRef>
              <c:f>Foglio1!$CG$40:$CM$40</c:f>
              <c:numCache>
                <c:formatCode>0.00000</c:formatCode>
                <c:ptCount val="7"/>
                <c:pt idx="0">
                  <c:v>2.3890000000000001E-3</c:v>
                </c:pt>
                <c:pt idx="1">
                  <c:v>4.4730000000000004E-3</c:v>
                </c:pt>
                <c:pt idx="2">
                  <c:v>3.7659999999999999E-2</c:v>
                </c:pt>
                <c:pt idx="3">
                  <c:v>0.29723699999999997</c:v>
                </c:pt>
                <c:pt idx="4">
                  <c:v>2.4194930000000001</c:v>
                </c:pt>
                <c:pt idx="5">
                  <c:v>3.121346</c:v>
                </c:pt>
                <c:pt idx="6">
                  <c:v>48.923572999999998</c:v>
                </c:pt>
              </c:numCache>
            </c:numRef>
          </c:val>
          <c:smooth val="0"/>
          <c:extLst>
            <c:ext xmlns:c16="http://schemas.microsoft.com/office/drawing/2014/chart" uri="{C3380CC4-5D6E-409C-BE32-E72D297353CC}">
              <c16:uniqueId val="{00000003-92FE-40AF-B269-A866A0FC12A0}"/>
            </c:ext>
          </c:extLst>
        </c:ser>
        <c:ser>
          <c:idx val="4"/>
          <c:order val="4"/>
          <c:tx>
            <c:strRef>
              <c:f>Foglio1!$CF$41</c:f>
              <c:strCache>
                <c:ptCount val="1"/>
                <c:pt idx="0">
                  <c:v>OpenMP (32)</c:v>
                </c:pt>
              </c:strCache>
            </c:strRef>
          </c:tx>
          <c:spPr>
            <a:ln w="28575">
              <a:solidFill>
                <a:srgbClr val="7030A0"/>
              </a:solidFill>
            </a:ln>
          </c:spPr>
          <c:marker>
            <c:symbol val="circle"/>
            <c:size val="5"/>
          </c:marker>
          <c:val>
            <c:numRef>
              <c:f>Foglio1!$CG$41:$CM$41</c:f>
              <c:numCache>
                <c:formatCode>0.00000</c:formatCode>
                <c:ptCount val="7"/>
                <c:pt idx="0">
                  <c:v>4.5259999999999996E-3</c:v>
                </c:pt>
                <c:pt idx="1">
                  <c:v>1.2831E-2</c:v>
                </c:pt>
                <c:pt idx="2">
                  <c:v>2.5293E-2</c:v>
                </c:pt>
                <c:pt idx="3">
                  <c:v>0.16821</c:v>
                </c:pt>
                <c:pt idx="4">
                  <c:v>1.316519</c:v>
                </c:pt>
                <c:pt idx="5">
                  <c:v>1.8005310000000001</c:v>
                </c:pt>
                <c:pt idx="6">
                  <c:v>26.542566000000001</c:v>
                </c:pt>
              </c:numCache>
            </c:numRef>
          </c:val>
          <c:smooth val="0"/>
          <c:extLst>
            <c:ext xmlns:c16="http://schemas.microsoft.com/office/drawing/2014/chart" uri="{C3380CC4-5D6E-409C-BE32-E72D297353CC}">
              <c16:uniqueId val="{00000004-92FE-40AF-B269-A866A0FC12A0}"/>
            </c:ext>
          </c:extLst>
        </c:ser>
        <c:ser>
          <c:idx val="5"/>
          <c:order val="5"/>
          <c:tx>
            <c:strRef>
              <c:f>Foglio1!$CF$42</c:f>
              <c:strCache>
                <c:ptCount val="1"/>
                <c:pt idx="0">
                  <c:v>OpenMP (64)</c:v>
                </c:pt>
              </c:strCache>
            </c:strRef>
          </c:tx>
          <c:spPr>
            <a:ln w="28575">
              <a:solidFill>
                <a:srgbClr val="00B050"/>
              </a:solidFill>
            </a:ln>
          </c:spPr>
          <c:marker>
            <c:symbol val="circle"/>
            <c:size val="5"/>
            <c:spPr>
              <a:solidFill>
                <a:srgbClr val="00B050"/>
              </a:solidFill>
            </c:spPr>
          </c:marker>
          <c:val>
            <c:numRef>
              <c:f>Foglio1!$CG$42:$CM$42</c:f>
              <c:numCache>
                <c:formatCode>0.00000</c:formatCode>
                <c:ptCount val="7"/>
                <c:pt idx="0">
                  <c:v>1.3051999999999999E-2</c:v>
                </c:pt>
                <c:pt idx="1">
                  <c:v>1.585E-2</c:v>
                </c:pt>
                <c:pt idx="2">
                  <c:v>2.8827999999999999E-2</c:v>
                </c:pt>
                <c:pt idx="3">
                  <c:v>0.11347</c:v>
                </c:pt>
                <c:pt idx="4">
                  <c:v>1.0439400000000001</c:v>
                </c:pt>
                <c:pt idx="5">
                  <c:v>1.0581020000000001</c:v>
                </c:pt>
                <c:pt idx="6">
                  <c:v>16.267761</c:v>
                </c:pt>
              </c:numCache>
            </c:numRef>
          </c:val>
          <c:smooth val="0"/>
          <c:extLst>
            <c:ext xmlns:c16="http://schemas.microsoft.com/office/drawing/2014/chart" uri="{C3380CC4-5D6E-409C-BE32-E72D297353CC}">
              <c16:uniqueId val="{00000005-92FE-40AF-B269-A866A0FC12A0}"/>
            </c:ext>
          </c:extLst>
        </c:ser>
        <c:dLbls>
          <c:showLegendKey val="0"/>
          <c:showVal val="0"/>
          <c:showCatName val="0"/>
          <c:showSerName val="0"/>
          <c:showPercent val="0"/>
          <c:showBubbleSize val="0"/>
        </c:dLbls>
        <c:hiLowLines>
          <c:spPr>
            <a:ln w="0">
              <a:noFill/>
            </a:ln>
          </c:spPr>
        </c:hiLowLines>
        <c:marker val="1"/>
        <c:smooth val="0"/>
        <c:axId val="96304744"/>
        <c:axId val="97640927"/>
      </c:lineChart>
      <c:catAx>
        <c:axId val="96304744"/>
        <c:scaling>
          <c:orientation val="minMax"/>
        </c:scaling>
        <c:delete val="0"/>
        <c:axPos val="b"/>
        <c:title>
          <c:tx>
            <c:rich>
              <a:bodyPr rot="0"/>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baseline="0">
                    <a:solidFill>
                      <a:srgbClr val="000000"/>
                    </a:solidFill>
                    <a:uFillTx/>
                    <a:latin typeface="CMU Serif" panose="02000603000000000000" pitchFamily="2" charset="0"/>
                    <a:ea typeface="CMU Serif" panose="02000603000000000000" pitchFamily="2" charset="0"/>
                    <a:cs typeface="CMU Serif" panose="02000603000000000000" pitchFamily="2" charset="0"/>
                  </a:defRPr>
                </a:pPr>
                <a:r>
                  <a:rPr lang="it-IT" sz="1400" b="0" i="0" u="none" strike="noStrike" kern="1200" baseline="0" dirty="0">
                    <a:solidFill>
                      <a:srgbClr val="595959"/>
                    </a:solidFill>
                    <a:uFillTx/>
                    <a:latin typeface="CMU Serif" panose="02000603000000000000" pitchFamily="2" charset="0"/>
                    <a:ea typeface="CMU Serif" panose="02000603000000000000" pitchFamily="2" charset="0"/>
                    <a:cs typeface="CMU Serif" panose="02000603000000000000" pitchFamily="2" charset="0"/>
                  </a:rPr>
                  <a:t>Lunghezza DNA + </a:t>
                </a:r>
                <a:r>
                  <a:rPr lang="it-IT" sz="1400" b="0" i="0" u="none" strike="noStrike" kern="1200" baseline="0" dirty="0" err="1">
                    <a:solidFill>
                      <a:srgbClr val="595959"/>
                    </a:solidFill>
                    <a:uFillTx/>
                    <a:latin typeface="CMU Serif" panose="02000603000000000000" pitchFamily="2" charset="0"/>
                    <a:ea typeface="CMU Serif" panose="02000603000000000000" pitchFamily="2" charset="0"/>
                    <a:cs typeface="CMU Serif" panose="02000603000000000000" pitchFamily="2" charset="0"/>
                  </a:rPr>
                  <a:t>Num</a:t>
                </a:r>
                <a:r>
                  <a:rPr lang="it-IT" sz="1400" b="0" i="0" u="none" strike="noStrike" kern="1200" baseline="0" dirty="0">
                    <a:solidFill>
                      <a:srgbClr val="595959"/>
                    </a:solidFill>
                    <a:uFillTx/>
                    <a:latin typeface="CMU Serif" panose="02000603000000000000" pitchFamily="2" charset="0"/>
                    <a:ea typeface="CMU Serif" panose="02000603000000000000" pitchFamily="2" charset="0"/>
                    <a:cs typeface="CMU Serif" panose="02000603000000000000" pitchFamily="2" charset="0"/>
                  </a:rPr>
                  <a:t> Pattern Totali + Lunghezza Pattern Sample </a:t>
                </a:r>
              </a:p>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baseline="0">
                    <a:solidFill>
                      <a:srgbClr val="000000"/>
                    </a:solidFill>
                    <a:uFillTx/>
                    <a:latin typeface="CMU Serif" panose="02000603000000000000" pitchFamily="2" charset="0"/>
                    <a:ea typeface="CMU Serif" panose="02000603000000000000" pitchFamily="2" charset="0"/>
                    <a:cs typeface="CMU Serif" panose="02000603000000000000" pitchFamily="2" charset="0"/>
                  </a:defRPr>
                </a:pPr>
                <a:endParaRPr lang="it-IT" sz="1400" b="0" u="none" strike="noStrike" dirty="0">
                  <a:solidFill>
                    <a:srgbClr val="595959"/>
                  </a:solidFill>
                  <a:uFillTx/>
                  <a:latin typeface="CMU Serif" panose="02000603000000000000" pitchFamily="2" charset="0"/>
                  <a:ea typeface="CMU Serif" panose="02000603000000000000" pitchFamily="2" charset="0"/>
                  <a:cs typeface="CMU Serif" panose="02000603000000000000" pitchFamily="2" charset="0"/>
                </a:endParaRPr>
              </a:p>
            </c:rich>
          </c:tx>
          <c:layout>
            <c:manualLayout>
              <c:xMode val="edge"/>
              <c:yMode val="edge"/>
              <c:x val="0.33731960028712837"/>
              <c:y val="0.65943601041586497"/>
            </c:manualLayout>
          </c:layout>
          <c:overlay val="0"/>
          <c:spPr>
            <a:noFill/>
            <a:ln w="0">
              <a:noFill/>
            </a:ln>
          </c:spPr>
        </c:title>
        <c:numFmt formatCode="General" sourceLinked="0"/>
        <c:majorTickMark val="none"/>
        <c:minorTickMark val="none"/>
        <c:tickLblPos val="nextTo"/>
        <c:spPr>
          <a:ln w="9360">
            <a:solidFill>
              <a:srgbClr val="D9D9D9"/>
            </a:solidFill>
            <a:round/>
          </a:ln>
        </c:spPr>
        <c:txPr>
          <a:bodyPr/>
          <a:lstStyle/>
          <a:p>
            <a:pPr>
              <a:defRPr sz="1100" b="0" u="none" strike="noStrike">
                <a:solidFill>
                  <a:srgbClr val="595959"/>
                </a:solidFill>
                <a:uFillTx/>
                <a:latin typeface="Aptos Narrow"/>
              </a:defRPr>
            </a:pPr>
            <a:endParaRPr lang="it-IT"/>
          </a:p>
        </c:txPr>
        <c:crossAx val="97640927"/>
        <c:crosses val="autoZero"/>
        <c:auto val="1"/>
        <c:lblAlgn val="ctr"/>
        <c:lblOffset val="100"/>
        <c:noMultiLvlLbl val="0"/>
      </c:catAx>
      <c:valAx>
        <c:axId val="97640927"/>
        <c:scaling>
          <c:logBase val="10"/>
          <c:orientation val="minMax"/>
          <c:max val="1000"/>
          <c:min val="1E-4"/>
        </c:scaling>
        <c:delete val="0"/>
        <c:axPos val="l"/>
        <c:majorGridlines>
          <c:spPr>
            <a:ln w="9360">
              <a:solidFill>
                <a:srgbClr val="D9D9D9"/>
              </a:solidFill>
              <a:round/>
            </a:ln>
          </c:spPr>
        </c:majorGridlines>
        <c:title>
          <c:tx>
            <c:rich>
              <a:bodyPr rot="-5400000"/>
              <a:lstStyle/>
              <a:p>
                <a:pPr>
                  <a:defRPr sz="1600" b="0" u="none" strike="noStrike">
                    <a:uFillTx/>
                    <a:latin typeface="CMU Serif" panose="02000603000000000000" pitchFamily="2" charset="0"/>
                    <a:ea typeface="CMU Serif" panose="02000603000000000000" pitchFamily="2" charset="0"/>
                    <a:cs typeface="CMU Serif" panose="02000603000000000000" pitchFamily="2" charset="0"/>
                  </a:defRPr>
                </a:pPr>
                <a:r>
                  <a:rPr lang="it-IT" sz="1600" b="0" u="none" strike="noStrike">
                    <a:solidFill>
                      <a:srgbClr val="595959"/>
                    </a:solidFill>
                    <a:uFillTx/>
                    <a:latin typeface="CMU Serif" panose="02000603000000000000" pitchFamily="2" charset="0"/>
                    <a:ea typeface="CMU Serif" panose="02000603000000000000" pitchFamily="2" charset="0"/>
                    <a:cs typeface="CMU Serif" panose="02000603000000000000" pitchFamily="2" charset="0"/>
                  </a:rPr>
                  <a:t>Tempo in secondi</a:t>
                </a:r>
              </a:p>
            </c:rich>
          </c:tx>
          <c:layout>
            <c:manualLayout>
              <c:xMode val="edge"/>
              <c:yMode val="edge"/>
              <c:x val="1.8926136216328299E-2"/>
              <c:y val="0.32571838344516701"/>
            </c:manualLayout>
          </c:layout>
          <c:overlay val="0"/>
          <c:spPr>
            <a:noFill/>
            <a:ln w="0">
              <a:noFill/>
            </a:ln>
          </c:spPr>
        </c:title>
        <c:numFmt formatCode="General" sourceLinked="0"/>
        <c:majorTickMark val="none"/>
        <c:minorTickMark val="none"/>
        <c:tickLblPos val="nextTo"/>
        <c:spPr>
          <a:ln w="12600">
            <a:noFill/>
          </a:ln>
        </c:spPr>
        <c:txPr>
          <a:bodyPr/>
          <a:lstStyle/>
          <a:p>
            <a:pPr>
              <a:defRPr sz="1100" b="0" u="none" strike="noStrike">
                <a:solidFill>
                  <a:srgbClr val="595959"/>
                </a:solidFill>
                <a:uFillTx/>
                <a:latin typeface="Aptos Narrow"/>
              </a:defRPr>
            </a:pPr>
            <a:endParaRPr lang="it-IT"/>
          </a:p>
        </c:txPr>
        <c:crossAx val="96304744"/>
        <c:crosses val="autoZero"/>
        <c:crossBetween val="between"/>
      </c:valAx>
      <c:dTable>
        <c:showHorzBorder val="1"/>
        <c:showVertBorder val="1"/>
        <c:showOutline val="1"/>
        <c:showKeys val="1"/>
        <c:spPr>
          <a:noFill/>
          <a:ln w="9360">
            <a:solidFill>
              <a:srgbClr val="D9D9D9"/>
            </a:solidFill>
            <a:round/>
          </a:ln>
        </c:spPr>
        <c:txPr>
          <a:bodyPr/>
          <a:lstStyle/>
          <a:p>
            <a:pPr rtl="0">
              <a:defRPr sz="1100" b="0" u="none" strike="noStrike">
                <a:solidFill>
                  <a:srgbClr val="595959"/>
                </a:solidFill>
                <a:uFillTx/>
                <a:latin typeface="Aptos Narrow"/>
              </a:defRPr>
            </a:pPr>
            <a:endParaRPr lang="it-IT"/>
          </a:p>
        </c:txPr>
      </c:dTable>
      <c:spPr>
        <a:noFill/>
        <a:ln w="0">
          <a:noFill/>
        </a:ln>
      </c:spPr>
    </c:plotArea>
    <c:plotVisOnly val="1"/>
    <c:dispBlanksAs val="gap"/>
    <c:showDLblsOverMax val="1"/>
  </c:chart>
  <c:spPr>
    <a:solidFill>
      <a:srgbClr val="FFFFFF"/>
    </a:solidFill>
    <a:ln w="9360">
      <a:noFill/>
    </a:ln>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7882196008683605E-2"/>
          <c:y val="4.8211269768155998E-2"/>
          <c:w val="0.90672978840268903"/>
          <c:h val="0.70842929525564302"/>
        </c:manualLayout>
      </c:layout>
      <c:lineChart>
        <c:grouping val="standard"/>
        <c:varyColors val="0"/>
        <c:ser>
          <c:idx val="0"/>
          <c:order val="0"/>
          <c:tx>
            <c:strRef>
              <c:f>Foglio1!$AV$30</c:f>
              <c:strCache>
                <c:ptCount val="1"/>
                <c:pt idx="0">
                  <c:v>Sequenziale</c:v>
                </c:pt>
              </c:strCache>
            </c:strRef>
          </c:tx>
          <c:spPr>
            <a:ln w="28440" cap="rnd">
              <a:solidFill>
                <a:srgbClr val="156082"/>
              </a:solidFill>
              <a:round/>
            </a:ln>
          </c:spPr>
          <c:marker>
            <c:symbol val="circle"/>
            <c:size val="5"/>
            <c:spPr>
              <a:solidFill>
                <a:srgbClr val="156082"/>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Foglio1!$AW$22:$BC$22</c:f>
              <c:strCache>
                <c:ptCount val="7"/>
                <c:pt idx="0">
                  <c:v>100 + 600 + 100</c:v>
                </c:pt>
                <c:pt idx="1">
                  <c:v>1000 + 1500 + 1000</c:v>
                </c:pt>
                <c:pt idx="2">
                  <c:v>10000 + 10500 + 10000 </c:v>
                </c:pt>
                <c:pt idx="3">
                  <c:v>30000 + 30500 + 10000</c:v>
                </c:pt>
                <c:pt idx="4">
                  <c:v>80000 + 80500 + 20000</c:v>
                </c:pt>
                <c:pt idx="5">
                  <c:v>100000 + 100500 + 100000</c:v>
                </c:pt>
                <c:pt idx="6">
                  <c:v>500000 + 300500 + 300000</c:v>
                </c:pt>
              </c:strCache>
            </c:strRef>
          </c:cat>
          <c:val>
            <c:numRef>
              <c:f>Foglio1!$AW$30:$BC$30</c:f>
              <c:numCache>
                <c:formatCode>0.00000</c:formatCode>
                <c:ptCount val="7"/>
                <c:pt idx="0">
                  <c:v>1.226E-4</c:v>
                </c:pt>
                <c:pt idx="1">
                  <c:v>4.5786000000000004E-3</c:v>
                </c:pt>
                <c:pt idx="2">
                  <c:v>0.41784840000000001</c:v>
                </c:pt>
                <c:pt idx="3">
                  <c:v>4.0442650000000002</c:v>
                </c:pt>
                <c:pt idx="4">
                  <c:v>29.169322000000001</c:v>
                </c:pt>
                <c:pt idx="5">
                  <c:v>47.565445999999994</c:v>
                </c:pt>
                <c:pt idx="6">
                  <c:v>706.92577900000003</c:v>
                </c:pt>
              </c:numCache>
            </c:numRef>
          </c:val>
          <c:smooth val="0"/>
          <c:extLst>
            <c:ext xmlns:c16="http://schemas.microsoft.com/office/drawing/2014/chart" uri="{C3380CC4-5D6E-409C-BE32-E72D297353CC}">
              <c16:uniqueId val="{00000000-F439-4E92-9810-60500FC0D87F}"/>
            </c:ext>
          </c:extLst>
        </c:ser>
        <c:ser>
          <c:idx val="1"/>
          <c:order val="1"/>
          <c:tx>
            <c:strRef>
              <c:f>Foglio1!$AV$36</c:f>
              <c:strCache>
                <c:ptCount val="1"/>
                <c:pt idx="0">
                  <c:v>MPI (4)</c:v>
                </c:pt>
              </c:strCache>
            </c:strRef>
          </c:tx>
          <c:spPr>
            <a:ln w="28440" cap="rnd">
              <a:solidFill>
                <a:srgbClr val="E97132"/>
              </a:solidFill>
              <a:round/>
            </a:ln>
          </c:spPr>
          <c:marker>
            <c:symbol val="circle"/>
            <c:size val="5"/>
            <c:spPr>
              <a:solidFill>
                <a:srgbClr val="E97132"/>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Foglio1!$AW$22:$BC$22</c:f>
              <c:strCache>
                <c:ptCount val="7"/>
                <c:pt idx="0">
                  <c:v>100 + 600 + 100</c:v>
                </c:pt>
                <c:pt idx="1">
                  <c:v>1000 + 1500 + 1000</c:v>
                </c:pt>
                <c:pt idx="2">
                  <c:v>10000 + 10500 + 10000 </c:v>
                </c:pt>
                <c:pt idx="3">
                  <c:v>30000 + 30500 + 10000</c:v>
                </c:pt>
                <c:pt idx="4">
                  <c:v>80000 + 80500 + 20000</c:v>
                </c:pt>
                <c:pt idx="5">
                  <c:v>100000 + 100500 + 100000</c:v>
                </c:pt>
                <c:pt idx="6">
                  <c:v>500000 + 300500 + 300000</c:v>
                </c:pt>
              </c:strCache>
            </c:strRef>
          </c:cat>
          <c:val>
            <c:numRef>
              <c:f>Foglio1!$AW$36:$BC$36</c:f>
              <c:numCache>
                <c:formatCode>0.00000</c:formatCode>
                <c:ptCount val="7"/>
                <c:pt idx="0">
                  <c:v>1.6699999999999999E-4</c:v>
                </c:pt>
                <c:pt idx="1">
                  <c:v>1.9369999999999999E-3</c:v>
                </c:pt>
                <c:pt idx="2">
                  <c:v>0.12436700000000001</c:v>
                </c:pt>
                <c:pt idx="3">
                  <c:v>1.1612309999999999</c:v>
                </c:pt>
                <c:pt idx="4">
                  <c:v>8.305142</c:v>
                </c:pt>
                <c:pt idx="5">
                  <c:v>12.879296</c:v>
                </c:pt>
                <c:pt idx="6">
                  <c:v>195.43697900000001</c:v>
                </c:pt>
              </c:numCache>
            </c:numRef>
          </c:val>
          <c:smooth val="0"/>
          <c:extLst>
            <c:ext xmlns:c16="http://schemas.microsoft.com/office/drawing/2014/chart" uri="{C3380CC4-5D6E-409C-BE32-E72D297353CC}">
              <c16:uniqueId val="{00000001-F439-4E92-9810-60500FC0D87F}"/>
            </c:ext>
          </c:extLst>
        </c:ser>
        <c:ser>
          <c:idx val="2"/>
          <c:order val="2"/>
          <c:tx>
            <c:strRef>
              <c:f>Foglio1!$AV$42</c:f>
              <c:strCache>
                <c:ptCount val="1"/>
                <c:pt idx="0">
                  <c:v>MPI(8)</c:v>
                </c:pt>
              </c:strCache>
            </c:strRef>
          </c:tx>
          <c:spPr>
            <a:ln w="28440" cap="rnd">
              <a:solidFill>
                <a:srgbClr val="196B24"/>
              </a:solidFill>
              <a:round/>
            </a:ln>
          </c:spPr>
          <c:marker>
            <c:symbol val="circle"/>
            <c:size val="5"/>
            <c:spPr>
              <a:solidFill>
                <a:srgbClr val="196B24"/>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Foglio1!$AW$22:$BC$22</c:f>
              <c:strCache>
                <c:ptCount val="7"/>
                <c:pt idx="0">
                  <c:v>100 + 600 + 100</c:v>
                </c:pt>
                <c:pt idx="1">
                  <c:v>1000 + 1500 + 1000</c:v>
                </c:pt>
                <c:pt idx="2">
                  <c:v>10000 + 10500 + 10000 </c:v>
                </c:pt>
                <c:pt idx="3">
                  <c:v>30000 + 30500 + 10000</c:v>
                </c:pt>
                <c:pt idx="4">
                  <c:v>80000 + 80500 + 20000</c:v>
                </c:pt>
                <c:pt idx="5">
                  <c:v>100000 + 100500 + 100000</c:v>
                </c:pt>
                <c:pt idx="6">
                  <c:v>500000 + 300500 + 300000</c:v>
                </c:pt>
              </c:strCache>
            </c:strRef>
          </c:cat>
          <c:val>
            <c:numRef>
              <c:f>Foglio1!$AW$42:$BC$42</c:f>
              <c:numCache>
                <c:formatCode>0.00000</c:formatCode>
                <c:ptCount val="7"/>
                <c:pt idx="0">
                  <c:v>2.9020000000000001E-4</c:v>
                </c:pt>
                <c:pt idx="1">
                  <c:v>1.173E-3</c:v>
                </c:pt>
                <c:pt idx="2">
                  <c:v>6.3261999999999999E-2</c:v>
                </c:pt>
                <c:pt idx="3">
                  <c:v>0.58345199999999997</c:v>
                </c:pt>
                <c:pt idx="4">
                  <c:v>4.1889459999999996</c:v>
                </c:pt>
                <c:pt idx="5">
                  <c:v>6.4459390000000001</c:v>
                </c:pt>
                <c:pt idx="6">
                  <c:v>97.555536000000004</c:v>
                </c:pt>
              </c:numCache>
            </c:numRef>
          </c:val>
          <c:smooth val="0"/>
          <c:extLst>
            <c:ext xmlns:c16="http://schemas.microsoft.com/office/drawing/2014/chart" uri="{C3380CC4-5D6E-409C-BE32-E72D297353CC}">
              <c16:uniqueId val="{00000002-F439-4E92-9810-60500FC0D87F}"/>
            </c:ext>
          </c:extLst>
        </c:ser>
        <c:ser>
          <c:idx val="3"/>
          <c:order val="3"/>
          <c:tx>
            <c:strRef>
              <c:f>Foglio1!$AV$48</c:f>
              <c:strCache>
                <c:ptCount val="1"/>
                <c:pt idx="0">
                  <c:v>MPI(16)</c:v>
                </c:pt>
              </c:strCache>
            </c:strRef>
          </c:tx>
          <c:spPr>
            <a:ln w="28440" cap="rnd">
              <a:solidFill>
                <a:srgbClr val="0F9ED5"/>
              </a:solidFill>
              <a:round/>
            </a:ln>
          </c:spPr>
          <c:marker>
            <c:symbol val="circle"/>
            <c:size val="5"/>
            <c:spPr>
              <a:solidFill>
                <a:srgbClr val="0F9ED5"/>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Foglio1!$AW$22:$BC$22</c:f>
              <c:strCache>
                <c:ptCount val="7"/>
                <c:pt idx="0">
                  <c:v>100 + 600 + 100</c:v>
                </c:pt>
                <c:pt idx="1">
                  <c:v>1000 + 1500 + 1000</c:v>
                </c:pt>
                <c:pt idx="2">
                  <c:v>10000 + 10500 + 10000 </c:v>
                </c:pt>
                <c:pt idx="3">
                  <c:v>30000 + 30500 + 10000</c:v>
                </c:pt>
                <c:pt idx="4">
                  <c:v>80000 + 80500 + 20000</c:v>
                </c:pt>
                <c:pt idx="5">
                  <c:v>100000 + 100500 + 100000</c:v>
                </c:pt>
                <c:pt idx="6">
                  <c:v>500000 + 300500 + 300000</c:v>
                </c:pt>
              </c:strCache>
            </c:strRef>
          </c:cat>
          <c:val>
            <c:numRef>
              <c:f>Foglio1!$AW$48:$BC$48</c:f>
              <c:numCache>
                <c:formatCode>0.00000</c:formatCode>
                <c:ptCount val="7"/>
                <c:pt idx="0">
                  <c:v>4.0759999999999999E-4</c:v>
                </c:pt>
                <c:pt idx="1">
                  <c:v>8.5700000000000001E-4</c:v>
                </c:pt>
                <c:pt idx="2">
                  <c:v>3.2868000000000001E-2</c:v>
                </c:pt>
                <c:pt idx="3">
                  <c:v>0.29929299999999998</c:v>
                </c:pt>
                <c:pt idx="4">
                  <c:v>2.1046640000000001</c:v>
                </c:pt>
                <c:pt idx="5">
                  <c:v>3.3117519999999998</c:v>
                </c:pt>
                <c:pt idx="6">
                  <c:v>49.137987000000003</c:v>
                </c:pt>
              </c:numCache>
            </c:numRef>
          </c:val>
          <c:smooth val="0"/>
          <c:extLst>
            <c:ext xmlns:c16="http://schemas.microsoft.com/office/drawing/2014/chart" uri="{C3380CC4-5D6E-409C-BE32-E72D297353CC}">
              <c16:uniqueId val="{00000003-F439-4E92-9810-60500FC0D87F}"/>
            </c:ext>
          </c:extLst>
        </c:ser>
        <c:ser>
          <c:idx val="4"/>
          <c:order val="4"/>
          <c:tx>
            <c:strRef>
              <c:f>Foglio1!$AV$54</c:f>
              <c:strCache>
                <c:ptCount val="1"/>
                <c:pt idx="0">
                  <c:v>MPI(32)</c:v>
                </c:pt>
              </c:strCache>
            </c:strRef>
          </c:tx>
          <c:spPr>
            <a:ln w="28440" cap="rnd">
              <a:solidFill>
                <a:srgbClr val="A02B93"/>
              </a:solidFill>
              <a:round/>
            </a:ln>
          </c:spPr>
          <c:marker>
            <c:symbol val="circle"/>
            <c:size val="5"/>
            <c:spPr>
              <a:solidFill>
                <a:srgbClr val="A02B93"/>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Foglio1!$AW$22:$BC$22</c:f>
              <c:strCache>
                <c:ptCount val="7"/>
                <c:pt idx="0">
                  <c:v>100 + 600 + 100</c:v>
                </c:pt>
                <c:pt idx="1">
                  <c:v>1000 + 1500 + 1000</c:v>
                </c:pt>
                <c:pt idx="2">
                  <c:v>10000 + 10500 + 10000 </c:v>
                </c:pt>
                <c:pt idx="3">
                  <c:v>30000 + 30500 + 10000</c:v>
                </c:pt>
                <c:pt idx="4">
                  <c:v>80000 + 80500 + 20000</c:v>
                </c:pt>
                <c:pt idx="5">
                  <c:v>100000 + 100500 + 100000</c:v>
                </c:pt>
                <c:pt idx="6">
                  <c:v>500000 + 300500 + 300000</c:v>
                </c:pt>
              </c:strCache>
            </c:strRef>
          </c:cat>
          <c:val>
            <c:numRef>
              <c:f>Foglio1!$AW$54:$BC$54</c:f>
              <c:numCache>
                <c:formatCode>0.00000</c:formatCode>
                <c:ptCount val="7"/>
                <c:pt idx="0">
                  <c:v>6.7120000000000005E-4</c:v>
                </c:pt>
                <c:pt idx="1">
                  <c:v>9.0499999999999999E-4</c:v>
                </c:pt>
                <c:pt idx="2">
                  <c:v>2.1996999999999999E-2</c:v>
                </c:pt>
                <c:pt idx="3">
                  <c:v>0.19920599999999999</c:v>
                </c:pt>
                <c:pt idx="4">
                  <c:v>1.390093</c:v>
                </c:pt>
                <c:pt idx="5">
                  <c:v>1.9326650000000001</c:v>
                </c:pt>
                <c:pt idx="6">
                  <c:v>32.224975000000001</c:v>
                </c:pt>
              </c:numCache>
            </c:numRef>
          </c:val>
          <c:smooth val="0"/>
          <c:extLst>
            <c:ext xmlns:c16="http://schemas.microsoft.com/office/drawing/2014/chart" uri="{C3380CC4-5D6E-409C-BE32-E72D297353CC}">
              <c16:uniqueId val="{00000004-F439-4E92-9810-60500FC0D87F}"/>
            </c:ext>
          </c:extLst>
        </c:ser>
        <c:ser>
          <c:idx val="5"/>
          <c:order val="5"/>
          <c:tx>
            <c:strRef>
              <c:f>Foglio1!$AV$60</c:f>
              <c:strCache>
                <c:ptCount val="1"/>
                <c:pt idx="0">
                  <c:v>CUDA</c:v>
                </c:pt>
              </c:strCache>
            </c:strRef>
          </c:tx>
          <c:spPr>
            <a:ln w="28440" cap="rnd">
              <a:solidFill>
                <a:srgbClr val="4EA72E"/>
              </a:solidFill>
              <a:round/>
            </a:ln>
          </c:spPr>
          <c:marker>
            <c:symbol val="circle"/>
            <c:size val="5"/>
            <c:spPr>
              <a:solidFill>
                <a:srgbClr val="4EA72E"/>
              </a:solidFill>
            </c:spPr>
          </c:marker>
          <c:dLbls>
            <c:spPr>
              <a:noFill/>
              <a:ln>
                <a:noFill/>
              </a:ln>
              <a:effectLst/>
            </c:spPr>
            <c:txPr>
              <a:bodyPr wrap="square"/>
              <a:lstStyle/>
              <a:p>
                <a:pPr>
                  <a:defRPr sz="10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Foglio1!$AW$22:$BC$22</c:f>
              <c:strCache>
                <c:ptCount val="7"/>
                <c:pt idx="0">
                  <c:v>100 + 600 + 100</c:v>
                </c:pt>
                <c:pt idx="1">
                  <c:v>1000 + 1500 + 1000</c:v>
                </c:pt>
                <c:pt idx="2">
                  <c:v>10000 + 10500 + 10000 </c:v>
                </c:pt>
                <c:pt idx="3">
                  <c:v>30000 + 30500 + 10000</c:v>
                </c:pt>
                <c:pt idx="4">
                  <c:v>80000 + 80500 + 20000</c:v>
                </c:pt>
                <c:pt idx="5">
                  <c:v>100000 + 100500 + 100000</c:v>
                </c:pt>
                <c:pt idx="6">
                  <c:v>500000 + 300500 + 300000</c:v>
                </c:pt>
              </c:strCache>
            </c:strRef>
          </c:cat>
          <c:val>
            <c:numRef>
              <c:f>Foglio1!$AW$60:$BC$60</c:f>
              <c:numCache>
                <c:formatCode>0.00000</c:formatCode>
                <c:ptCount val="7"/>
                <c:pt idx="0">
                  <c:v>3.4499999999999998E-4</c:v>
                </c:pt>
                <c:pt idx="1">
                  <c:v>2.5270000000000002E-3</c:v>
                </c:pt>
                <c:pt idx="2">
                  <c:v>2.24438E-2</c:v>
                </c:pt>
                <c:pt idx="3">
                  <c:v>5.3151999999999998E-2</c:v>
                </c:pt>
                <c:pt idx="4">
                  <c:v>1.217452</c:v>
                </c:pt>
                <c:pt idx="5">
                  <c:v>1.5009044</c:v>
                </c:pt>
                <c:pt idx="6">
                  <c:v>26.116978</c:v>
                </c:pt>
              </c:numCache>
            </c:numRef>
          </c:val>
          <c:smooth val="0"/>
          <c:extLst>
            <c:ext xmlns:c16="http://schemas.microsoft.com/office/drawing/2014/chart" uri="{C3380CC4-5D6E-409C-BE32-E72D297353CC}">
              <c16:uniqueId val="{00000005-F439-4E92-9810-60500FC0D87F}"/>
            </c:ext>
          </c:extLst>
        </c:ser>
        <c:ser>
          <c:idx val="6"/>
          <c:order val="6"/>
          <c:tx>
            <c:strRef>
              <c:f>Foglio1!$AV$66</c:f>
              <c:strCache>
                <c:ptCount val="1"/>
                <c:pt idx="0">
                  <c:v>MPI+CUDA</c:v>
                </c:pt>
              </c:strCache>
            </c:strRef>
          </c:tx>
          <c:spPr>
            <a:ln w="28575">
              <a:solidFill>
                <a:schemeClr val="accent1">
                  <a:lumMod val="50000"/>
                </a:schemeClr>
              </a:solidFill>
            </a:ln>
          </c:spPr>
          <c:marker>
            <c:symbol val="circle"/>
            <c:size val="5"/>
            <c:spPr>
              <a:solidFill>
                <a:schemeClr val="accent1">
                  <a:lumMod val="50000"/>
                </a:schemeClr>
              </a:solidFill>
            </c:spPr>
          </c:marker>
          <c:val>
            <c:numRef>
              <c:f>Foglio1!$AW$66:$BC$66</c:f>
              <c:numCache>
                <c:formatCode>0.00000</c:formatCode>
                <c:ptCount val="7"/>
                <c:pt idx="0">
                  <c:v>5.6499999999999996E-4</c:v>
                </c:pt>
                <c:pt idx="1">
                  <c:v>2.8270000000000001E-3</c:v>
                </c:pt>
                <c:pt idx="2">
                  <c:v>2.3528E-2</c:v>
                </c:pt>
                <c:pt idx="3">
                  <c:v>6.7893999999999996E-2</c:v>
                </c:pt>
                <c:pt idx="4">
                  <c:v>0.243366</c:v>
                </c:pt>
                <c:pt idx="5">
                  <c:v>0.40096999999999999</c:v>
                </c:pt>
                <c:pt idx="6">
                  <c:v>13.079688000000001</c:v>
                </c:pt>
              </c:numCache>
            </c:numRef>
          </c:val>
          <c:smooth val="0"/>
          <c:extLst>
            <c:ext xmlns:c16="http://schemas.microsoft.com/office/drawing/2014/chart" uri="{C3380CC4-5D6E-409C-BE32-E72D297353CC}">
              <c16:uniqueId val="{00000006-F439-4E92-9810-60500FC0D87F}"/>
            </c:ext>
          </c:extLst>
        </c:ser>
        <c:dLbls>
          <c:showLegendKey val="0"/>
          <c:showVal val="0"/>
          <c:showCatName val="0"/>
          <c:showSerName val="0"/>
          <c:showPercent val="0"/>
          <c:showBubbleSize val="0"/>
        </c:dLbls>
        <c:hiLowLines>
          <c:spPr>
            <a:ln w="0">
              <a:noFill/>
            </a:ln>
          </c:spPr>
        </c:hiLowLines>
        <c:marker val="1"/>
        <c:smooth val="0"/>
        <c:axId val="6206062"/>
        <c:axId val="60752921"/>
      </c:lineChart>
      <c:catAx>
        <c:axId val="6206062"/>
        <c:scaling>
          <c:orientation val="minMax"/>
        </c:scaling>
        <c:delete val="0"/>
        <c:axPos val="b"/>
        <c:title>
          <c:tx>
            <c:rich>
              <a:bodyPr rot="0"/>
              <a:lstStyle/>
              <a:p>
                <a:pPr>
                  <a:defRPr sz="1400" b="0" u="none" strike="noStrike">
                    <a:uFillTx/>
                    <a:latin typeface="CMU Serif" panose="02000603000000000000" pitchFamily="2" charset="0"/>
                    <a:ea typeface="CMU Serif" panose="02000603000000000000" pitchFamily="2" charset="0"/>
                    <a:cs typeface="CMU Serif" panose="02000603000000000000" pitchFamily="2" charset="0"/>
                  </a:defRPr>
                </a:pPr>
                <a:r>
                  <a:rPr lang="it-IT" sz="1400" b="0" u="none" strike="noStrike">
                    <a:solidFill>
                      <a:srgbClr val="595959"/>
                    </a:solidFill>
                    <a:uFillTx/>
                    <a:latin typeface="CMU Serif" panose="02000603000000000000" pitchFamily="2" charset="0"/>
                    <a:ea typeface="CMU Serif" panose="02000603000000000000" pitchFamily="2" charset="0"/>
                    <a:cs typeface="CMU Serif" panose="02000603000000000000" pitchFamily="2" charset="0"/>
                  </a:rPr>
                  <a:t>Lunghezza DNA + Num Pattern Totali + Lunghezza Pattern Sample</a:t>
                </a:r>
                <a:r>
                  <a:rPr lang="it-IT" sz="1400" b="0" u="none" strike="noStrike" baseline="0">
                    <a:solidFill>
                      <a:srgbClr val="595959"/>
                    </a:solidFill>
                    <a:uFillTx/>
                    <a:latin typeface="CMU Serif" panose="02000603000000000000" pitchFamily="2" charset="0"/>
                    <a:ea typeface="CMU Serif" panose="02000603000000000000" pitchFamily="2" charset="0"/>
                    <a:cs typeface="CMU Serif" panose="02000603000000000000" pitchFamily="2" charset="0"/>
                  </a:rPr>
                  <a:t> </a:t>
                </a:r>
                <a:endParaRPr lang="it-IT" sz="1400" b="0" u="none" strike="noStrike">
                  <a:solidFill>
                    <a:srgbClr val="595959"/>
                  </a:solidFill>
                  <a:uFillTx/>
                  <a:latin typeface="CMU Serif" panose="02000603000000000000" pitchFamily="2" charset="0"/>
                  <a:ea typeface="CMU Serif" panose="02000603000000000000" pitchFamily="2" charset="0"/>
                  <a:cs typeface="CMU Serif" panose="02000603000000000000" pitchFamily="2" charset="0"/>
                </a:endParaRPr>
              </a:p>
            </c:rich>
          </c:tx>
          <c:layout>
            <c:manualLayout>
              <c:xMode val="edge"/>
              <c:yMode val="edge"/>
              <c:x val="0.33731952204932208"/>
              <c:y val="0.6605495908053054"/>
            </c:manualLayout>
          </c:layout>
          <c:overlay val="0"/>
          <c:spPr>
            <a:noFill/>
            <a:ln w="0">
              <a:noFill/>
            </a:ln>
          </c:spPr>
        </c:title>
        <c:numFmt formatCode="0" sourceLinked="0"/>
        <c:majorTickMark val="none"/>
        <c:minorTickMark val="none"/>
        <c:tickLblPos val="nextTo"/>
        <c:spPr>
          <a:ln w="9360">
            <a:solidFill>
              <a:srgbClr val="D9D9D9"/>
            </a:solidFill>
            <a:round/>
          </a:ln>
        </c:spPr>
        <c:txPr>
          <a:bodyPr/>
          <a:lstStyle/>
          <a:p>
            <a:pPr>
              <a:defRPr sz="900" b="0" u="none" strike="noStrike">
                <a:solidFill>
                  <a:srgbClr val="595959"/>
                </a:solidFill>
                <a:uFillTx/>
                <a:latin typeface="Aptos Narrow"/>
              </a:defRPr>
            </a:pPr>
            <a:endParaRPr lang="it-IT"/>
          </a:p>
        </c:txPr>
        <c:crossAx val="60752921"/>
        <c:crosses val="autoZero"/>
        <c:auto val="1"/>
        <c:lblAlgn val="ctr"/>
        <c:lblOffset val="100"/>
        <c:noMultiLvlLbl val="0"/>
      </c:catAx>
      <c:valAx>
        <c:axId val="60752921"/>
        <c:scaling>
          <c:logBase val="10"/>
          <c:orientation val="minMax"/>
          <c:max val="1000"/>
        </c:scaling>
        <c:delete val="0"/>
        <c:axPos val="l"/>
        <c:majorGridlines>
          <c:spPr>
            <a:ln w="9360">
              <a:solidFill>
                <a:srgbClr val="D9D9D9"/>
              </a:solidFill>
              <a:round/>
            </a:ln>
          </c:spPr>
        </c:majorGridlines>
        <c:title>
          <c:tx>
            <c:rich>
              <a:bodyPr rot="-5400000"/>
              <a:lstStyle/>
              <a:p>
                <a:pPr>
                  <a:defRPr sz="1300" b="0" u="none" strike="noStrike">
                    <a:uFillTx/>
                    <a:latin typeface="CMU Serif" panose="02000603000000000000" pitchFamily="2" charset="0"/>
                    <a:ea typeface="CMU Serif" panose="02000603000000000000" pitchFamily="2" charset="0"/>
                    <a:cs typeface="CMU Serif" panose="02000603000000000000" pitchFamily="2" charset="0"/>
                  </a:defRPr>
                </a:pPr>
                <a:r>
                  <a:rPr lang="it-IT" sz="1600" b="0" u="none" strike="noStrike">
                    <a:solidFill>
                      <a:srgbClr val="595959"/>
                    </a:solidFill>
                    <a:uFillTx/>
                    <a:latin typeface="CMU Serif" panose="02000603000000000000" pitchFamily="2" charset="0"/>
                    <a:ea typeface="CMU Serif" panose="02000603000000000000" pitchFamily="2" charset="0"/>
                    <a:cs typeface="CMU Serif" panose="02000603000000000000" pitchFamily="2" charset="0"/>
                  </a:rPr>
                  <a:t>Tempo in secondi</a:t>
                </a:r>
              </a:p>
            </c:rich>
          </c:tx>
          <c:layout>
            <c:manualLayout>
              <c:xMode val="edge"/>
              <c:yMode val="edge"/>
              <c:x val="1.8936520806632998E-2"/>
              <c:y val="0.32570755924049299"/>
            </c:manualLayout>
          </c:layout>
          <c:overlay val="0"/>
          <c:spPr>
            <a:noFill/>
            <a:ln w="0">
              <a:noFill/>
            </a:ln>
          </c:spPr>
        </c:title>
        <c:numFmt formatCode="General" sourceLinked="0"/>
        <c:majorTickMark val="none"/>
        <c:minorTickMark val="none"/>
        <c:tickLblPos val="nextTo"/>
        <c:spPr>
          <a:ln w="12600">
            <a:noFill/>
          </a:ln>
        </c:spPr>
        <c:txPr>
          <a:bodyPr/>
          <a:lstStyle/>
          <a:p>
            <a:pPr>
              <a:defRPr sz="1050" b="0" u="none" strike="noStrike">
                <a:solidFill>
                  <a:srgbClr val="595959"/>
                </a:solidFill>
                <a:uFillTx/>
                <a:latin typeface="Aptos Narrow"/>
              </a:defRPr>
            </a:pPr>
            <a:endParaRPr lang="it-IT"/>
          </a:p>
        </c:txPr>
        <c:crossAx val="6206062"/>
        <c:crosses val="autoZero"/>
        <c:crossBetween val="between"/>
      </c:valAx>
      <c:dTable>
        <c:showHorzBorder val="1"/>
        <c:showVertBorder val="1"/>
        <c:showOutline val="1"/>
        <c:showKeys val="1"/>
        <c:spPr>
          <a:noFill/>
          <a:ln w="9360">
            <a:solidFill>
              <a:srgbClr val="D9D9D9"/>
            </a:solidFill>
            <a:round/>
          </a:ln>
        </c:spPr>
        <c:txPr>
          <a:bodyPr/>
          <a:lstStyle/>
          <a:p>
            <a:pPr rtl="0">
              <a:defRPr sz="1050" b="0" u="none" strike="noStrike">
                <a:solidFill>
                  <a:srgbClr val="595959"/>
                </a:solidFill>
                <a:uFillTx/>
                <a:latin typeface="Aptos Narrow"/>
              </a:defRPr>
            </a:pPr>
            <a:endParaRPr lang="it-IT"/>
          </a:p>
        </c:txPr>
      </c:dTable>
      <c:spPr>
        <a:noFill/>
        <a:ln w="0">
          <a:noFill/>
        </a:ln>
      </c:spPr>
    </c:plotArea>
    <c:plotVisOnly val="1"/>
    <c:dispBlanksAs val="gap"/>
    <c:showDLblsOverMax val="1"/>
  </c:chart>
  <c:spPr>
    <a:solidFill>
      <a:srgbClr val="FFFFFF"/>
    </a:solidFill>
    <a:ln w="9360">
      <a:noFill/>
    </a:ln>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0"/>
  <c:style val="2"/>
  <c:chart>
    <c:autoTitleDeleted val="1"/>
    <c:plotArea>
      <c:layout>
        <c:manualLayout>
          <c:layoutTarget val="inner"/>
          <c:xMode val="edge"/>
          <c:yMode val="edge"/>
          <c:x val="8.78915381019168E-2"/>
          <c:y val="4.8196248196248202E-2"/>
          <c:w val="0.90662586595265404"/>
          <c:h val="0.70839826839826803"/>
        </c:manualLayout>
      </c:layout>
      <c:lineChart>
        <c:grouping val="standard"/>
        <c:varyColors val="0"/>
        <c:ser>
          <c:idx val="0"/>
          <c:order val="0"/>
          <c:tx>
            <c:strRef>
              <c:f>label 0</c:f>
              <c:strCache>
                <c:ptCount val="1"/>
                <c:pt idx="0">
                  <c:v>Sequenziale</c:v>
                </c:pt>
              </c:strCache>
            </c:strRef>
          </c:tx>
          <c:spPr>
            <a:ln w="28440" cap="rnd">
              <a:solidFill>
                <a:srgbClr val="156082"/>
              </a:solidFill>
              <a:round/>
            </a:ln>
          </c:spPr>
          <c:marker>
            <c:symbol val="circle"/>
            <c:size val="5"/>
            <c:spPr>
              <a:solidFill>
                <a:srgbClr val="156082"/>
              </a:solidFill>
            </c:spPr>
          </c:marker>
          <c:dLbls>
            <c:spPr>
              <a:noFill/>
              <a:ln>
                <a:noFill/>
              </a:ln>
              <a:effectLst/>
            </c:spPr>
            <c:txPr>
              <a:bodyPr wrap="square"/>
              <a:lstStyle/>
              <a:p>
                <a:pPr>
                  <a:defRPr sz="11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categories</c:f>
              <c:strCache>
                <c:ptCount val="7"/>
                <c:pt idx="0">
                  <c:v>100 + 600 + 100</c:v>
                </c:pt>
                <c:pt idx="1">
                  <c:v>1000 + 1500 + 1000</c:v>
                </c:pt>
                <c:pt idx="2">
                  <c:v>10000 + 10500 + 10000 </c:v>
                </c:pt>
                <c:pt idx="3">
                  <c:v>30000 + 30500 + 10000</c:v>
                </c:pt>
                <c:pt idx="4">
                  <c:v>80000 + 80500 + 20000</c:v>
                </c:pt>
                <c:pt idx="5">
                  <c:v>100000 + 100500 + 100000</c:v>
                </c:pt>
                <c:pt idx="6">
                  <c:v>500000 + 300500 + 300000</c:v>
                </c:pt>
              </c:strCache>
            </c:strRef>
          </c:cat>
          <c:val>
            <c:numRef>
              <c:f>0</c:f>
              <c:numCache>
                <c:formatCode>0.00000</c:formatCode>
                <c:ptCount val="7"/>
                <c:pt idx="0">
                  <c:v>1.9100000000000001E-4</c:v>
                </c:pt>
                <c:pt idx="1">
                  <c:v>6.1850000000000004E-3</c:v>
                </c:pt>
                <c:pt idx="2">
                  <c:v>0.43378800000000001</c:v>
                </c:pt>
                <c:pt idx="3">
                  <c:v>4.4697089999999999</c:v>
                </c:pt>
                <c:pt idx="4">
                  <c:v>31.976589000000001</c:v>
                </c:pt>
                <c:pt idx="5">
                  <c:v>50.381278999999999</c:v>
                </c:pt>
                <c:pt idx="6">
                  <c:v>455.26502499999998</c:v>
                </c:pt>
              </c:numCache>
            </c:numRef>
          </c:val>
          <c:smooth val="0"/>
          <c:extLst>
            <c:ext xmlns:c16="http://schemas.microsoft.com/office/drawing/2014/chart" uri="{C3380CC4-5D6E-409C-BE32-E72D297353CC}">
              <c16:uniqueId val="{00000000-33AA-4E3B-BB35-2B58214094CF}"/>
            </c:ext>
          </c:extLst>
        </c:ser>
        <c:ser>
          <c:idx val="1"/>
          <c:order val="1"/>
          <c:tx>
            <c:strRef>
              <c:f>label 1</c:f>
              <c:strCache>
                <c:ptCount val="1"/>
                <c:pt idx="0">
                  <c:v>OpenMP (2)</c:v>
                </c:pt>
              </c:strCache>
            </c:strRef>
          </c:tx>
          <c:spPr>
            <a:ln w="28440" cap="rnd">
              <a:solidFill>
                <a:srgbClr val="E97132"/>
              </a:solidFill>
              <a:round/>
            </a:ln>
          </c:spPr>
          <c:marker>
            <c:symbol val="circle"/>
            <c:size val="5"/>
            <c:spPr>
              <a:solidFill>
                <a:srgbClr val="E97132"/>
              </a:solidFill>
            </c:spPr>
          </c:marker>
          <c:dLbls>
            <c:spPr>
              <a:noFill/>
              <a:ln>
                <a:noFill/>
              </a:ln>
              <a:effectLst/>
            </c:spPr>
            <c:txPr>
              <a:bodyPr wrap="square"/>
              <a:lstStyle/>
              <a:p>
                <a:pPr>
                  <a:defRPr sz="11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categories</c:f>
              <c:strCache>
                <c:ptCount val="7"/>
                <c:pt idx="0">
                  <c:v>100 + 600 + 100</c:v>
                </c:pt>
                <c:pt idx="1">
                  <c:v>1000 + 1500 + 1000</c:v>
                </c:pt>
                <c:pt idx="2">
                  <c:v>10000 + 10500 + 10000 </c:v>
                </c:pt>
                <c:pt idx="3">
                  <c:v>30000 + 30500 + 10000</c:v>
                </c:pt>
                <c:pt idx="4">
                  <c:v>80000 + 80500 + 20000</c:v>
                </c:pt>
                <c:pt idx="5">
                  <c:v>100000 + 100500 + 100000</c:v>
                </c:pt>
                <c:pt idx="6">
                  <c:v>500000 + 300500 + 300000</c:v>
                </c:pt>
              </c:strCache>
            </c:strRef>
          </c:cat>
          <c:val>
            <c:numRef>
              <c:f>1</c:f>
              <c:numCache>
                <c:formatCode>0.00000</c:formatCode>
                <c:ptCount val="7"/>
                <c:pt idx="0">
                  <c:v>1.3899999999999999E-4</c:v>
                </c:pt>
                <c:pt idx="1">
                  <c:v>1.6429999999999999E-3</c:v>
                </c:pt>
                <c:pt idx="2">
                  <c:v>0.123178</c:v>
                </c:pt>
                <c:pt idx="3">
                  <c:v>1.1941090000000001</c:v>
                </c:pt>
                <c:pt idx="4">
                  <c:v>8.953106</c:v>
                </c:pt>
                <c:pt idx="5">
                  <c:v>13.660847</c:v>
                </c:pt>
                <c:pt idx="6">
                  <c:v>210.58185399999999</c:v>
                </c:pt>
              </c:numCache>
            </c:numRef>
          </c:val>
          <c:smooth val="0"/>
          <c:extLst>
            <c:ext xmlns:c16="http://schemas.microsoft.com/office/drawing/2014/chart" uri="{C3380CC4-5D6E-409C-BE32-E72D297353CC}">
              <c16:uniqueId val="{00000001-33AA-4E3B-BB35-2B58214094CF}"/>
            </c:ext>
          </c:extLst>
        </c:ser>
        <c:ser>
          <c:idx val="2"/>
          <c:order val="2"/>
          <c:tx>
            <c:strRef>
              <c:f>label 2</c:f>
              <c:strCache>
                <c:ptCount val="1"/>
                <c:pt idx="0">
                  <c:v>OpenMP (4)</c:v>
                </c:pt>
              </c:strCache>
            </c:strRef>
          </c:tx>
          <c:spPr>
            <a:ln w="28440" cap="rnd">
              <a:solidFill>
                <a:srgbClr val="196B24"/>
              </a:solidFill>
              <a:round/>
            </a:ln>
          </c:spPr>
          <c:marker>
            <c:symbol val="circle"/>
            <c:size val="5"/>
            <c:spPr>
              <a:solidFill>
                <a:srgbClr val="196B24"/>
              </a:solidFill>
            </c:spPr>
          </c:marker>
          <c:dLbls>
            <c:spPr>
              <a:noFill/>
              <a:ln>
                <a:noFill/>
              </a:ln>
              <a:effectLst/>
            </c:spPr>
            <c:txPr>
              <a:bodyPr wrap="square"/>
              <a:lstStyle/>
              <a:p>
                <a:pPr>
                  <a:defRPr sz="11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categories</c:f>
              <c:strCache>
                <c:ptCount val="7"/>
                <c:pt idx="0">
                  <c:v>100 + 600 + 100</c:v>
                </c:pt>
                <c:pt idx="1">
                  <c:v>1000 + 1500 + 1000</c:v>
                </c:pt>
                <c:pt idx="2">
                  <c:v>10000 + 10500 + 10000 </c:v>
                </c:pt>
                <c:pt idx="3">
                  <c:v>30000 + 30500 + 10000</c:v>
                </c:pt>
                <c:pt idx="4">
                  <c:v>80000 + 80500 + 20000</c:v>
                </c:pt>
                <c:pt idx="5">
                  <c:v>100000 + 100500 + 100000</c:v>
                </c:pt>
                <c:pt idx="6">
                  <c:v>500000 + 300500 + 300000</c:v>
                </c:pt>
              </c:strCache>
            </c:strRef>
          </c:cat>
          <c:val>
            <c:numRef>
              <c:f>2</c:f>
              <c:numCache>
                <c:formatCode>0.00000</c:formatCode>
                <c:ptCount val="7"/>
                <c:pt idx="0">
                  <c:v>2.1900000000000001E-4</c:v>
                </c:pt>
                <c:pt idx="1">
                  <c:v>1.042E-3</c:v>
                </c:pt>
                <c:pt idx="2">
                  <c:v>6.1519999999999998E-2</c:v>
                </c:pt>
                <c:pt idx="3">
                  <c:v>0.87136899999999995</c:v>
                </c:pt>
                <c:pt idx="4">
                  <c:v>4.7864550000000001</c:v>
                </c:pt>
                <c:pt idx="5">
                  <c:v>8.5036760000000005</c:v>
                </c:pt>
                <c:pt idx="6">
                  <c:v>122.24682199999999</c:v>
                </c:pt>
              </c:numCache>
            </c:numRef>
          </c:val>
          <c:smooth val="0"/>
          <c:extLst>
            <c:ext xmlns:c16="http://schemas.microsoft.com/office/drawing/2014/chart" uri="{C3380CC4-5D6E-409C-BE32-E72D297353CC}">
              <c16:uniqueId val="{00000002-33AA-4E3B-BB35-2B58214094CF}"/>
            </c:ext>
          </c:extLst>
        </c:ser>
        <c:ser>
          <c:idx val="3"/>
          <c:order val="3"/>
          <c:tx>
            <c:strRef>
              <c:f>label 3</c:f>
              <c:strCache>
                <c:ptCount val="1"/>
                <c:pt idx="0">
                  <c:v>OpenMP (8)</c:v>
                </c:pt>
              </c:strCache>
            </c:strRef>
          </c:tx>
          <c:spPr>
            <a:ln w="28440" cap="rnd">
              <a:solidFill>
                <a:srgbClr val="0F9ED5"/>
              </a:solidFill>
              <a:round/>
            </a:ln>
          </c:spPr>
          <c:marker>
            <c:symbol val="circle"/>
            <c:size val="5"/>
            <c:spPr>
              <a:solidFill>
                <a:srgbClr val="0F9ED5"/>
              </a:solidFill>
            </c:spPr>
          </c:marker>
          <c:dLbls>
            <c:spPr>
              <a:noFill/>
              <a:ln>
                <a:noFill/>
              </a:ln>
              <a:effectLst/>
            </c:spPr>
            <c:txPr>
              <a:bodyPr wrap="square"/>
              <a:lstStyle/>
              <a:p>
                <a:pPr>
                  <a:defRPr sz="11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categories</c:f>
              <c:strCache>
                <c:ptCount val="7"/>
                <c:pt idx="0">
                  <c:v>100 + 600 + 100</c:v>
                </c:pt>
                <c:pt idx="1">
                  <c:v>1000 + 1500 + 1000</c:v>
                </c:pt>
                <c:pt idx="2">
                  <c:v>10000 + 10500 + 10000 </c:v>
                </c:pt>
                <c:pt idx="3">
                  <c:v>30000 + 30500 + 10000</c:v>
                </c:pt>
                <c:pt idx="4">
                  <c:v>80000 + 80500 + 20000</c:v>
                </c:pt>
                <c:pt idx="5">
                  <c:v>100000 + 100500 + 100000</c:v>
                </c:pt>
                <c:pt idx="6">
                  <c:v>500000 + 300500 + 300000</c:v>
                </c:pt>
              </c:strCache>
            </c:strRef>
          </c:cat>
          <c:val>
            <c:numRef>
              <c:f>3</c:f>
              <c:numCache>
                <c:formatCode>0.00000</c:formatCode>
                <c:ptCount val="7"/>
                <c:pt idx="0">
                  <c:v>3.5199999999999999E-4</c:v>
                </c:pt>
                <c:pt idx="1">
                  <c:v>1.085E-3</c:v>
                </c:pt>
                <c:pt idx="2">
                  <c:v>4.7371999999999997E-2</c:v>
                </c:pt>
                <c:pt idx="3">
                  <c:v>0.46357700000000002</c:v>
                </c:pt>
                <c:pt idx="4">
                  <c:v>3.2923260000000001</c:v>
                </c:pt>
                <c:pt idx="5">
                  <c:v>5.2658870000000002</c:v>
                </c:pt>
                <c:pt idx="6">
                  <c:v>79.119332</c:v>
                </c:pt>
              </c:numCache>
            </c:numRef>
          </c:val>
          <c:smooth val="0"/>
          <c:extLst>
            <c:ext xmlns:c16="http://schemas.microsoft.com/office/drawing/2014/chart" uri="{C3380CC4-5D6E-409C-BE32-E72D297353CC}">
              <c16:uniqueId val="{00000003-33AA-4E3B-BB35-2B58214094CF}"/>
            </c:ext>
          </c:extLst>
        </c:ser>
        <c:dLbls>
          <c:showLegendKey val="0"/>
          <c:showVal val="0"/>
          <c:showCatName val="0"/>
          <c:showSerName val="0"/>
          <c:showPercent val="0"/>
          <c:showBubbleSize val="0"/>
        </c:dLbls>
        <c:hiLowLines>
          <c:spPr>
            <a:ln w="0">
              <a:noFill/>
            </a:ln>
          </c:spPr>
        </c:hiLowLines>
        <c:marker val="1"/>
        <c:smooth val="0"/>
        <c:axId val="76543957"/>
        <c:axId val="83644456"/>
      </c:lineChart>
      <c:catAx>
        <c:axId val="76543957"/>
        <c:scaling>
          <c:orientation val="minMax"/>
        </c:scaling>
        <c:delete val="0"/>
        <c:axPos val="b"/>
        <c:title>
          <c:tx>
            <c:rich>
              <a:bodyPr rot="0"/>
              <a:lstStyle/>
              <a:p>
                <a:pPr>
                  <a:defRPr sz="1300" b="0" u="none" strike="noStrike">
                    <a:solidFill>
                      <a:srgbClr val="000000"/>
                    </a:solidFill>
                    <a:uFillTx/>
                    <a:latin typeface="Arial"/>
                  </a:defRPr>
                </a:pPr>
                <a:r>
                  <a:rPr lang="it-IT" sz="1200" b="0" u="none" strike="noStrike">
                    <a:solidFill>
                      <a:srgbClr val="595959"/>
                    </a:solidFill>
                    <a:uFillTx/>
                    <a:latin typeface="CMU Serif"/>
                  </a:rPr>
                  <a:t>Lunghezza DNA + Num Pattern Totali + Lunghezza Pattern Sample </a:t>
                </a:r>
              </a:p>
              <a:p>
                <a:pPr>
                  <a:defRPr sz="1300" b="0" u="none" strike="noStrike">
                    <a:solidFill>
                      <a:srgbClr val="000000"/>
                    </a:solidFill>
                    <a:uFillTx/>
                    <a:latin typeface="Arial"/>
                  </a:defRPr>
                </a:pPr>
                <a:endParaRPr lang="it-IT"/>
              </a:p>
            </c:rich>
          </c:tx>
          <c:layout>
            <c:manualLayout>
              <c:xMode val="edge"/>
              <c:yMode val="edge"/>
              <c:x val="0.34145097539206898"/>
              <c:y val="0.72658008658008699"/>
            </c:manualLayout>
          </c:layout>
          <c:overlay val="0"/>
          <c:spPr>
            <a:noFill/>
            <a:ln w="0">
              <a:noFill/>
            </a:ln>
          </c:spPr>
        </c:title>
        <c:numFmt formatCode="General" sourceLinked="0"/>
        <c:majorTickMark val="none"/>
        <c:minorTickMark val="none"/>
        <c:tickLblPos val="nextTo"/>
        <c:spPr>
          <a:ln w="9360">
            <a:solidFill>
              <a:srgbClr val="D9D9D9"/>
            </a:solidFill>
            <a:round/>
          </a:ln>
        </c:spPr>
        <c:txPr>
          <a:bodyPr/>
          <a:lstStyle/>
          <a:p>
            <a:pPr>
              <a:defRPr sz="1100" b="0" u="none" strike="noStrike">
                <a:solidFill>
                  <a:srgbClr val="595959"/>
                </a:solidFill>
                <a:uFillTx/>
                <a:latin typeface="Aptos Narrow"/>
              </a:defRPr>
            </a:pPr>
            <a:endParaRPr lang="it-IT"/>
          </a:p>
        </c:txPr>
        <c:crossAx val="83644456"/>
        <c:crosses val="autoZero"/>
        <c:auto val="1"/>
        <c:lblAlgn val="ctr"/>
        <c:lblOffset val="100"/>
        <c:noMultiLvlLbl val="0"/>
      </c:catAx>
      <c:valAx>
        <c:axId val="83644456"/>
        <c:scaling>
          <c:logBase val="10"/>
          <c:orientation val="minMax"/>
          <c:max val="1000"/>
          <c:min val="1E-4"/>
        </c:scaling>
        <c:delete val="0"/>
        <c:axPos val="l"/>
        <c:majorGridlines>
          <c:spPr>
            <a:ln w="9360">
              <a:solidFill>
                <a:srgbClr val="D9D9D9"/>
              </a:solidFill>
              <a:round/>
            </a:ln>
          </c:spPr>
        </c:majorGridlines>
        <c:title>
          <c:tx>
            <c:rich>
              <a:bodyPr rot="-5400000"/>
              <a:lstStyle/>
              <a:p>
                <a:pPr>
                  <a:defRPr sz="1300" b="0" u="none" strike="noStrike">
                    <a:solidFill>
                      <a:srgbClr val="000000"/>
                    </a:solidFill>
                    <a:uFillTx/>
                    <a:latin typeface="Arial"/>
                  </a:defRPr>
                </a:pPr>
                <a:r>
                  <a:rPr lang="it-IT" sz="1600" b="0" u="none" strike="noStrike">
                    <a:solidFill>
                      <a:srgbClr val="595959"/>
                    </a:solidFill>
                    <a:uFillTx/>
                    <a:latin typeface="CMU Serif"/>
                  </a:rPr>
                  <a:t>Tempo in secondi</a:t>
                </a:r>
              </a:p>
            </c:rich>
          </c:tx>
          <c:layout>
            <c:manualLayout>
              <c:xMode val="edge"/>
              <c:yMode val="edge"/>
              <c:x val="1.8955331718305098E-2"/>
              <c:y val="0.32554112554112602"/>
            </c:manualLayout>
          </c:layout>
          <c:overlay val="0"/>
          <c:spPr>
            <a:noFill/>
            <a:ln w="0">
              <a:noFill/>
            </a:ln>
          </c:spPr>
        </c:title>
        <c:numFmt formatCode="General" sourceLinked="0"/>
        <c:majorTickMark val="none"/>
        <c:minorTickMark val="none"/>
        <c:tickLblPos val="nextTo"/>
        <c:spPr>
          <a:ln w="12600">
            <a:noFill/>
          </a:ln>
        </c:spPr>
        <c:txPr>
          <a:bodyPr/>
          <a:lstStyle/>
          <a:p>
            <a:pPr>
              <a:defRPr sz="1100" b="0" u="none" strike="noStrike">
                <a:solidFill>
                  <a:srgbClr val="595959"/>
                </a:solidFill>
                <a:uFillTx/>
                <a:latin typeface="Aptos Narrow"/>
              </a:defRPr>
            </a:pPr>
            <a:endParaRPr lang="it-IT"/>
          </a:p>
        </c:txPr>
        <c:crossAx val="76543957"/>
        <c:crosses val="autoZero"/>
        <c:crossBetween val="between"/>
      </c:valAx>
      <c:dTable>
        <c:showHorzBorder val="1"/>
        <c:showVertBorder val="1"/>
        <c:showOutline val="1"/>
        <c:showKeys val="1"/>
        <c:spPr>
          <a:noFill/>
          <a:ln w="9360">
            <a:solidFill>
              <a:srgbClr val="D9D9D9"/>
            </a:solidFill>
            <a:round/>
          </a:ln>
        </c:spPr>
        <c:txPr>
          <a:bodyPr/>
          <a:lstStyle/>
          <a:p>
            <a:pPr rtl="0">
              <a:defRPr sz="1100" b="0" u="none" strike="noStrike">
                <a:solidFill>
                  <a:srgbClr val="595959"/>
                </a:solidFill>
                <a:uFillTx/>
                <a:latin typeface="Aptos Narrow"/>
              </a:defRPr>
            </a:pPr>
            <a:endParaRPr lang="it-IT"/>
          </a:p>
        </c:txPr>
      </c:dTable>
      <c:spPr>
        <a:noFill/>
        <a:ln w="0">
          <a:noFill/>
        </a:ln>
      </c:spPr>
    </c:plotArea>
    <c:plotVisOnly val="1"/>
    <c:dispBlanksAs val="gap"/>
    <c:showDLblsOverMax val="1"/>
  </c:chart>
  <c:spPr>
    <a:solidFill>
      <a:srgbClr val="FFFFFF"/>
    </a:solidFill>
    <a:ln w="9360">
      <a:noFill/>
    </a:ln>
  </c:spPr>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478965960179832"/>
          <c:y val="1.3674029605685112E-2"/>
          <c:w val="0.90671748204609703"/>
          <c:h val="0.70844644777954202"/>
        </c:manualLayout>
      </c:layout>
      <c:lineChart>
        <c:grouping val="standard"/>
        <c:varyColors val="0"/>
        <c:ser>
          <c:idx val="0"/>
          <c:order val="0"/>
          <c:tx>
            <c:strRef>
              <c:f>Foglio1!$CF$37</c:f>
              <c:strCache>
                <c:ptCount val="1"/>
                <c:pt idx="0">
                  <c:v>Sequenziale</c:v>
                </c:pt>
              </c:strCache>
            </c:strRef>
          </c:tx>
          <c:spPr>
            <a:ln w="28440" cap="rnd">
              <a:solidFill>
                <a:srgbClr val="156082"/>
              </a:solidFill>
              <a:round/>
            </a:ln>
          </c:spPr>
          <c:marker>
            <c:symbol val="circle"/>
            <c:size val="5"/>
            <c:spPr>
              <a:solidFill>
                <a:srgbClr val="156082"/>
              </a:solidFill>
            </c:spPr>
          </c:marker>
          <c:dLbls>
            <c:spPr>
              <a:noFill/>
              <a:ln>
                <a:noFill/>
              </a:ln>
              <a:effectLst/>
            </c:spPr>
            <c:txPr>
              <a:bodyPr wrap="square"/>
              <a:lstStyle/>
              <a:p>
                <a:pPr>
                  <a:defRPr sz="11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Foglio1!$AW$22:$BD$22</c:f>
              <c:strCache>
                <c:ptCount val="7"/>
                <c:pt idx="0">
                  <c:v>100 + 600 + 100</c:v>
                </c:pt>
                <c:pt idx="1">
                  <c:v>1000 + 1500 + 1000</c:v>
                </c:pt>
                <c:pt idx="2">
                  <c:v>10000 + 10500 + 10000 </c:v>
                </c:pt>
                <c:pt idx="3">
                  <c:v>30000 + 30500 + 10000</c:v>
                </c:pt>
                <c:pt idx="4">
                  <c:v>80000 + 80500 + 20000</c:v>
                </c:pt>
                <c:pt idx="5">
                  <c:v>100000 + 100500 + 100000</c:v>
                </c:pt>
                <c:pt idx="6">
                  <c:v>500000 + 300500 + 300000</c:v>
                </c:pt>
              </c:strCache>
            </c:strRef>
          </c:cat>
          <c:val>
            <c:numRef>
              <c:f>Foglio1!$CG$37:$CM$37</c:f>
              <c:numCache>
                <c:formatCode>0.00000</c:formatCode>
                <c:ptCount val="7"/>
                <c:pt idx="0">
                  <c:v>1.226E-4</c:v>
                </c:pt>
                <c:pt idx="1">
                  <c:v>4.5786000000000004E-3</c:v>
                </c:pt>
                <c:pt idx="2">
                  <c:v>0.41784840000000001</c:v>
                </c:pt>
                <c:pt idx="3">
                  <c:v>4.0442650000000002</c:v>
                </c:pt>
                <c:pt idx="4">
                  <c:v>29.169322000000001</c:v>
                </c:pt>
                <c:pt idx="5">
                  <c:v>47.565446000000001</c:v>
                </c:pt>
                <c:pt idx="6">
                  <c:v>706.92577900000003</c:v>
                </c:pt>
              </c:numCache>
            </c:numRef>
          </c:val>
          <c:smooth val="0"/>
          <c:extLst>
            <c:ext xmlns:c16="http://schemas.microsoft.com/office/drawing/2014/chart" uri="{C3380CC4-5D6E-409C-BE32-E72D297353CC}">
              <c16:uniqueId val="{00000000-92FE-40AF-B269-A866A0FC12A0}"/>
            </c:ext>
          </c:extLst>
        </c:ser>
        <c:ser>
          <c:idx val="1"/>
          <c:order val="1"/>
          <c:tx>
            <c:strRef>
              <c:f>Foglio1!$CF$38</c:f>
              <c:strCache>
                <c:ptCount val="1"/>
                <c:pt idx="0">
                  <c:v>OpenMP (4)</c:v>
                </c:pt>
              </c:strCache>
            </c:strRef>
          </c:tx>
          <c:spPr>
            <a:ln w="28440" cap="rnd">
              <a:solidFill>
                <a:srgbClr val="E97132"/>
              </a:solidFill>
              <a:round/>
            </a:ln>
          </c:spPr>
          <c:marker>
            <c:symbol val="circle"/>
            <c:size val="5"/>
            <c:spPr>
              <a:solidFill>
                <a:srgbClr val="E97132"/>
              </a:solidFill>
            </c:spPr>
          </c:marker>
          <c:dLbls>
            <c:spPr>
              <a:noFill/>
              <a:ln>
                <a:noFill/>
              </a:ln>
              <a:effectLst/>
            </c:spPr>
            <c:txPr>
              <a:bodyPr wrap="square"/>
              <a:lstStyle/>
              <a:p>
                <a:pPr>
                  <a:defRPr sz="11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Foglio1!$AW$22:$BD$22</c:f>
              <c:strCache>
                <c:ptCount val="7"/>
                <c:pt idx="0">
                  <c:v>100 + 600 + 100</c:v>
                </c:pt>
                <c:pt idx="1">
                  <c:v>1000 + 1500 + 1000</c:v>
                </c:pt>
                <c:pt idx="2">
                  <c:v>10000 + 10500 + 10000 </c:v>
                </c:pt>
                <c:pt idx="3">
                  <c:v>30000 + 30500 + 10000</c:v>
                </c:pt>
                <c:pt idx="4">
                  <c:v>80000 + 80500 + 20000</c:v>
                </c:pt>
                <c:pt idx="5">
                  <c:v>100000 + 100500 + 100000</c:v>
                </c:pt>
                <c:pt idx="6">
                  <c:v>500000 + 300500 + 300000</c:v>
                </c:pt>
              </c:strCache>
            </c:strRef>
          </c:cat>
          <c:val>
            <c:numRef>
              <c:f>Foglio1!$CG$38:$CM$38</c:f>
              <c:numCache>
                <c:formatCode>0.00000</c:formatCode>
                <c:ptCount val="7"/>
                <c:pt idx="0">
                  <c:v>3.9100000000000002E-4</c:v>
                </c:pt>
                <c:pt idx="1">
                  <c:v>2.2850000000000001E-3</c:v>
                </c:pt>
                <c:pt idx="2">
                  <c:v>0.12928700000000001</c:v>
                </c:pt>
                <c:pt idx="3">
                  <c:v>1.0401549999999999</c:v>
                </c:pt>
                <c:pt idx="4">
                  <c:v>7.6698820000000003</c:v>
                </c:pt>
                <c:pt idx="5">
                  <c:v>12.005228000000001</c:v>
                </c:pt>
                <c:pt idx="6">
                  <c:v>181.91508999999999</c:v>
                </c:pt>
              </c:numCache>
            </c:numRef>
          </c:val>
          <c:smooth val="0"/>
          <c:extLst>
            <c:ext xmlns:c16="http://schemas.microsoft.com/office/drawing/2014/chart" uri="{C3380CC4-5D6E-409C-BE32-E72D297353CC}">
              <c16:uniqueId val="{00000001-92FE-40AF-B269-A866A0FC12A0}"/>
            </c:ext>
          </c:extLst>
        </c:ser>
        <c:ser>
          <c:idx val="2"/>
          <c:order val="2"/>
          <c:tx>
            <c:strRef>
              <c:f>Foglio1!$CF$39</c:f>
              <c:strCache>
                <c:ptCount val="1"/>
                <c:pt idx="0">
                  <c:v>OpenMP (8)</c:v>
                </c:pt>
              </c:strCache>
            </c:strRef>
          </c:tx>
          <c:spPr>
            <a:ln w="28440" cap="rnd">
              <a:solidFill>
                <a:srgbClr val="196B24"/>
              </a:solidFill>
              <a:round/>
            </a:ln>
          </c:spPr>
          <c:marker>
            <c:symbol val="circle"/>
            <c:size val="5"/>
            <c:spPr>
              <a:solidFill>
                <a:srgbClr val="196B24"/>
              </a:solidFill>
            </c:spPr>
          </c:marker>
          <c:dLbls>
            <c:spPr>
              <a:noFill/>
              <a:ln>
                <a:noFill/>
              </a:ln>
              <a:effectLst/>
            </c:spPr>
            <c:txPr>
              <a:bodyPr wrap="square"/>
              <a:lstStyle/>
              <a:p>
                <a:pPr>
                  <a:defRPr sz="11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Foglio1!$AW$22:$BD$22</c:f>
              <c:strCache>
                <c:ptCount val="7"/>
                <c:pt idx="0">
                  <c:v>100 + 600 + 100</c:v>
                </c:pt>
                <c:pt idx="1">
                  <c:v>1000 + 1500 + 1000</c:v>
                </c:pt>
                <c:pt idx="2">
                  <c:v>10000 + 10500 + 10000 </c:v>
                </c:pt>
                <c:pt idx="3">
                  <c:v>30000 + 30500 + 10000</c:v>
                </c:pt>
                <c:pt idx="4">
                  <c:v>80000 + 80500 + 20000</c:v>
                </c:pt>
                <c:pt idx="5">
                  <c:v>100000 + 100500 + 100000</c:v>
                </c:pt>
                <c:pt idx="6">
                  <c:v>500000 + 300500 + 300000</c:v>
                </c:pt>
              </c:strCache>
            </c:strRef>
          </c:cat>
          <c:val>
            <c:numRef>
              <c:f>Foglio1!$CG$39:$CM$39</c:f>
              <c:numCache>
                <c:formatCode>0.00000</c:formatCode>
                <c:ptCount val="7"/>
                <c:pt idx="0">
                  <c:v>7.6900000000000004E-4</c:v>
                </c:pt>
                <c:pt idx="1">
                  <c:v>3.8430000000000001E-3</c:v>
                </c:pt>
                <c:pt idx="2">
                  <c:v>6.4817E-2</c:v>
                </c:pt>
                <c:pt idx="3">
                  <c:v>0.53387899999999999</c:v>
                </c:pt>
                <c:pt idx="4">
                  <c:v>3.8894980000000001</c:v>
                </c:pt>
                <c:pt idx="5">
                  <c:v>6.1138209999999997</c:v>
                </c:pt>
                <c:pt idx="6">
                  <c:v>99.969859</c:v>
                </c:pt>
              </c:numCache>
            </c:numRef>
          </c:val>
          <c:smooth val="0"/>
          <c:extLst>
            <c:ext xmlns:c16="http://schemas.microsoft.com/office/drawing/2014/chart" uri="{C3380CC4-5D6E-409C-BE32-E72D297353CC}">
              <c16:uniqueId val="{00000002-92FE-40AF-B269-A866A0FC12A0}"/>
            </c:ext>
          </c:extLst>
        </c:ser>
        <c:ser>
          <c:idx val="3"/>
          <c:order val="3"/>
          <c:tx>
            <c:strRef>
              <c:f>Foglio1!$CF$40</c:f>
              <c:strCache>
                <c:ptCount val="1"/>
                <c:pt idx="0">
                  <c:v>OpenMP (16)</c:v>
                </c:pt>
              </c:strCache>
            </c:strRef>
          </c:tx>
          <c:spPr>
            <a:ln w="28440" cap="rnd">
              <a:solidFill>
                <a:srgbClr val="0F9ED5"/>
              </a:solidFill>
              <a:round/>
            </a:ln>
          </c:spPr>
          <c:marker>
            <c:symbol val="circle"/>
            <c:size val="5"/>
            <c:spPr>
              <a:solidFill>
                <a:srgbClr val="0F9ED5"/>
              </a:solidFill>
            </c:spPr>
          </c:marker>
          <c:dLbls>
            <c:spPr>
              <a:noFill/>
              <a:ln>
                <a:noFill/>
              </a:ln>
              <a:effectLst/>
            </c:spPr>
            <c:txPr>
              <a:bodyPr wrap="square"/>
              <a:lstStyle/>
              <a:p>
                <a:pPr>
                  <a:defRPr sz="1100" b="0" u="none" strike="noStrike">
                    <a:solidFill>
                      <a:srgbClr val="000000"/>
                    </a:solidFill>
                    <a:uFillTx/>
                    <a:latin typeface="Aptos Narrow"/>
                  </a:defRPr>
                </a:pPr>
                <a:endParaRPr lang="it-IT"/>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28440">
                      <a:solidFill>
                        <a:srgbClr val="000000"/>
                      </a:solidFill>
                    </a:ln>
                  </c:spPr>
                </c15:leaderLines>
              </c:ext>
            </c:extLst>
          </c:dLbls>
          <c:cat>
            <c:strRef>
              <c:f>Foglio1!$AW$22:$BD$22</c:f>
              <c:strCache>
                <c:ptCount val="7"/>
                <c:pt idx="0">
                  <c:v>100 + 600 + 100</c:v>
                </c:pt>
                <c:pt idx="1">
                  <c:v>1000 + 1500 + 1000</c:v>
                </c:pt>
                <c:pt idx="2">
                  <c:v>10000 + 10500 + 10000 </c:v>
                </c:pt>
                <c:pt idx="3">
                  <c:v>30000 + 30500 + 10000</c:v>
                </c:pt>
                <c:pt idx="4">
                  <c:v>80000 + 80500 + 20000</c:v>
                </c:pt>
                <c:pt idx="5">
                  <c:v>100000 + 100500 + 100000</c:v>
                </c:pt>
                <c:pt idx="6">
                  <c:v>500000 + 300500 + 300000</c:v>
                </c:pt>
              </c:strCache>
            </c:strRef>
          </c:cat>
          <c:val>
            <c:numRef>
              <c:f>Foglio1!$CG$40:$CM$40</c:f>
              <c:numCache>
                <c:formatCode>0.00000</c:formatCode>
                <c:ptCount val="7"/>
                <c:pt idx="0">
                  <c:v>2.3890000000000001E-3</c:v>
                </c:pt>
                <c:pt idx="1">
                  <c:v>4.4730000000000004E-3</c:v>
                </c:pt>
                <c:pt idx="2">
                  <c:v>3.7659999999999999E-2</c:v>
                </c:pt>
                <c:pt idx="3">
                  <c:v>0.29723699999999997</c:v>
                </c:pt>
                <c:pt idx="4">
                  <c:v>2.4194930000000001</c:v>
                </c:pt>
                <c:pt idx="5">
                  <c:v>3.121346</c:v>
                </c:pt>
                <c:pt idx="6">
                  <c:v>48.923572999999998</c:v>
                </c:pt>
              </c:numCache>
            </c:numRef>
          </c:val>
          <c:smooth val="0"/>
          <c:extLst>
            <c:ext xmlns:c16="http://schemas.microsoft.com/office/drawing/2014/chart" uri="{C3380CC4-5D6E-409C-BE32-E72D297353CC}">
              <c16:uniqueId val="{00000003-92FE-40AF-B269-A866A0FC12A0}"/>
            </c:ext>
          </c:extLst>
        </c:ser>
        <c:ser>
          <c:idx val="4"/>
          <c:order val="4"/>
          <c:tx>
            <c:strRef>
              <c:f>Foglio1!$CF$41</c:f>
              <c:strCache>
                <c:ptCount val="1"/>
                <c:pt idx="0">
                  <c:v>OpenMP (32)</c:v>
                </c:pt>
              </c:strCache>
            </c:strRef>
          </c:tx>
          <c:spPr>
            <a:ln w="28575">
              <a:solidFill>
                <a:srgbClr val="7030A0"/>
              </a:solidFill>
            </a:ln>
          </c:spPr>
          <c:marker>
            <c:symbol val="circle"/>
            <c:size val="5"/>
          </c:marker>
          <c:val>
            <c:numRef>
              <c:f>Foglio1!$CG$41:$CM$41</c:f>
              <c:numCache>
                <c:formatCode>0.00000</c:formatCode>
                <c:ptCount val="7"/>
                <c:pt idx="0">
                  <c:v>4.5259999999999996E-3</c:v>
                </c:pt>
                <c:pt idx="1">
                  <c:v>1.2831E-2</c:v>
                </c:pt>
                <c:pt idx="2">
                  <c:v>2.5293E-2</c:v>
                </c:pt>
                <c:pt idx="3">
                  <c:v>0.16821</c:v>
                </c:pt>
                <c:pt idx="4">
                  <c:v>1.316519</c:v>
                </c:pt>
                <c:pt idx="5">
                  <c:v>1.8005310000000001</c:v>
                </c:pt>
                <c:pt idx="6">
                  <c:v>26.542566000000001</c:v>
                </c:pt>
              </c:numCache>
            </c:numRef>
          </c:val>
          <c:smooth val="0"/>
          <c:extLst>
            <c:ext xmlns:c16="http://schemas.microsoft.com/office/drawing/2014/chart" uri="{C3380CC4-5D6E-409C-BE32-E72D297353CC}">
              <c16:uniqueId val="{00000004-92FE-40AF-B269-A866A0FC12A0}"/>
            </c:ext>
          </c:extLst>
        </c:ser>
        <c:ser>
          <c:idx val="5"/>
          <c:order val="5"/>
          <c:tx>
            <c:strRef>
              <c:f>Foglio1!$CF$42</c:f>
              <c:strCache>
                <c:ptCount val="1"/>
                <c:pt idx="0">
                  <c:v>OpenMP (64)</c:v>
                </c:pt>
              </c:strCache>
            </c:strRef>
          </c:tx>
          <c:spPr>
            <a:ln w="28575">
              <a:solidFill>
                <a:srgbClr val="00B050"/>
              </a:solidFill>
            </a:ln>
          </c:spPr>
          <c:marker>
            <c:symbol val="circle"/>
            <c:size val="5"/>
            <c:spPr>
              <a:solidFill>
                <a:srgbClr val="00B050"/>
              </a:solidFill>
            </c:spPr>
          </c:marker>
          <c:val>
            <c:numRef>
              <c:f>Foglio1!$CG$42:$CM$42</c:f>
              <c:numCache>
                <c:formatCode>0.00000</c:formatCode>
                <c:ptCount val="7"/>
                <c:pt idx="0">
                  <c:v>1.3051999999999999E-2</c:v>
                </c:pt>
                <c:pt idx="1">
                  <c:v>1.585E-2</c:v>
                </c:pt>
                <c:pt idx="2">
                  <c:v>2.8827999999999999E-2</c:v>
                </c:pt>
                <c:pt idx="3">
                  <c:v>0.11347</c:v>
                </c:pt>
                <c:pt idx="4">
                  <c:v>1.0439400000000001</c:v>
                </c:pt>
                <c:pt idx="5">
                  <c:v>1.0581020000000001</c:v>
                </c:pt>
                <c:pt idx="6">
                  <c:v>16.267761</c:v>
                </c:pt>
              </c:numCache>
            </c:numRef>
          </c:val>
          <c:smooth val="0"/>
          <c:extLst>
            <c:ext xmlns:c16="http://schemas.microsoft.com/office/drawing/2014/chart" uri="{C3380CC4-5D6E-409C-BE32-E72D297353CC}">
              <c16:uniqueId val="{00000005-92FE-40AF-B269-A866A0FC12A0}"/>
            </c:ext>
          </c:extLst>
        </c:ser>
        <c:dLbls>
          <c:showLegendKey val="0"/>
          <c:showVal val="0"/>
          <c:showCatName val="0"/>
          <c:showSerName val="0"/>
          <c:showPercent val="0"/>
          <c:showBubbleSize val="0"/>
        </c:dLbls>
        <c:hiLowLines>
          <c:spPr>
            <a:ln w="0">
              <a:noFill/>
            </a:ln>
          </c:spPr>
        </c:hiLowLines>
        <c:marker val="1"/>
        <c:smooth val="0"/>
        <c:axId val="96304744"/>
        <c:axId val="97640927"/>
      </c:lineChart>
      <c:catAx>
        <c:axId val="96304744"/>
        <c:scaling>
          <c:orientation val="minMax"/>
        </c:scaling>
        <c:delete val="0"/>
        <c:axPos val="b"/>
        <c:title>
          <c:tx>
            <c:rich>
              <a:bodyPr rot="0"/>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baseline="0">
                    <a:solidFill>
                      <a:srgbClr val="000000"/>
                    </a:solidFill>
                    <a:uFillTx/>
                    <a:latin typeface="CMU Serif" panose="02000603000000000000" pitchFamily="2" charset="0"/>
                    <a:ea typeface="CMU Serif" panose="02000603000000000000" pitchFamily="2" charset="0"/>
                    <a:cs typeface="CMU Serif" panose="02000603000000000000" pitchFamily="2" charset="0"/>
                  </a:defRPr>
                </a:pPr>
                <a:r>
                  <a:rPr lang="it-IT" sz="1400" b="0" i="0" u="none" strike="noStrike" kern="1200" baseline="0" dirty="0">
                    <a:solidFill>
                      <a:srgbClr val="595959"/>
                    </a:solidFill>
                    <a:uFillTx/>
                    <a:latin typeface="CMU Serif" panose="02000603000000000000" pitchFamily="2" charset="0"/>
                    <a:ea typeface="CMU Serif" panose="02000603000000000000" pitchFamily="2" charset="0"/>
                    <a:cs typeface="CMU Serif" panose="02000603000000000000" pitchFamily="2" charset="0"/>
                  </a:rPr>
                  <a:t>Lunghezza DNA + </a:t>
                </a:r>
                <a:r>
                  <a:rPr lang="it-IT" sz="1400" b="0" i="0" u="none" strike="noStrike" kern="1200" baseline="0" dirty="0" err="1">
                    <a:solidFill>
                      <a:srgbClr val="595959"/>
                    </a:solidFill>
                    <a:uFillTx/>
                    <a:latin typeface="CMU Serif" panose="02000603000000000000" pitchFamily="2" charset="0"/>
                    <a:ea typeface="CMU Serif" panose="02000603000000000000" pitchFamily="2" charset="0"/>
                    <a:cs typeface="CMU Serif" panose="02000603000000000000" pitchFamily="2" charset="0"/>
                  </a:rPr>
                  <a:t>Num</a:t>
                </a:r>
                <a:r>
                  <a:rPr lang="it-IT" sz="1400" b="0" i="0" u="none" strike="noStrike" kern="1200" baseline="0" dirty="0">
                    <a:solidFill>
                      <a:srgbClr val="595959"/>
                    </a:solidFill>
                    <a:uFillTx/>
                    <a:latin typeface="CMU Serif" panose="02000603000000000000" pitchFamily="2" charset="0"/>
                    <a:ea typeface="CMU Serif" panose="02000603000000000000" pitchFamily="2" charset="0"/>
                    <a:cs typeface="CMU Serif" panose="02000603000000000000" pitchFamily="2" charset="0"/>
                  </a:rPr>
                  <a:t> Pattern Totali + Lunghezza Pattern Sample </a:t>
                </a:r>
              </a:p>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baseline="0">
                    <a:solidFill>
                      <a:srgbClr val="000000"/>
                    </a:solidFill>
                    <a:uFillTx/>
                    <a:latin typeface="CMU Serif" panose="02000603000000000000" pitchFamily="2" charset="0"/>
                    <a:ea typeface="CMU Serif" panose="02000603000000000000" pitchFamily="2" charset="0"/>
                    <a:cs typeface="CMU Serif" panose="02000603000000000000" pitchFamily="2" charset="0"/>
                  </a:defRPr>
                </a:pPr>
                <a:endParaRPr lang="it-IT" sz="1400" b="0" u="none" strike="noStrike" dirty="0">
                  <a:solidFill>
                    <a:srgbClr val="595959"/>
                  </a:solidFill>
                  <a:uFillTx/>
                  <a:latin typeface="CMU Serif" panose="02000603000000000000" pitchFamily="2" charset="0"/>
                  <a:ea typeface="CMU Serif" panose="02000603000000000000" pitchFamily="2" charset="0"/>
                  <a:cs typeface="CMU Serif" panose="02000603000000000000" pitchFamily="2" charset="0"/>
                </a:endParaRPr>
              </a:p>
            </c:rich>
          </c:tx>
          <c:layout>
            <c:manualLayout>
              <c:xMode val="edge"/>
              <c:yMode val="edge"/>
              <c:x val="0.33731960028712837"/>
              <c:y val="0.65943601041586497"/>
            </c:manualLayout>
          </c:layout>
          <c:overlay val="0"/>
          <c:spPr>
            <a:noFill/>
            <a:ln w="0">
              <a:noFill/>
            </a:ln>
          </c:spPr>
        </c:title>
        <c:numFmt formatCode="General" sourceLinked="0"/>
        <c:majorTickMark val="none"/>
        <c:minorTickMark val="none"/>
        <c:tickLblPos val="nextTo"/>
        <c:spPr>
          <a:ln w="9360">
            <a:solidFill>
              <a:srgbClr val="D9D9D9"/>
            </a:solidFill>
            <a:round/>
          </a:ln>
        </c:spPr>
        <c:txPr>
          <a:bodyPr/>
          <a:lstStyle/>
          <a:p>
            <a:pPr>
              <a:defRPr sz="1100" b="0" u="none" strike="noStrike">
                <a:solidFill>
                  <a:srgbClr val="595959"/>
                </a:solidFill>
                <a:uFillTx/>
                <a:latin typeface="Aptos Narrow"/>
              </a:defRPr>
            </a:pPr>
            <a:endParaRPr lang="it-IT"/>
          </a:p>
        </c:txPr>
        <c:crossAx val="97640927"/>
        <c:crosses val="autoZero"/>
        <c:auto val="1"/>
        <c:lblAlgn val="ctr"/>
        <c:lblOffset val="100"/>
        <c:noMultiLvlLbl val="0"/>
      </c:catAx>
      <c:valAx>
        <c:axId val="97640927"/>
        <c:scaling>
          <c:logBase val="10"/>
          <c:orientation val="minMax"/>
          <c:max val="1000"/>
          <c:min val="1E-4"/>
        </c:scaling>
        <c:delete val="0"/>
        <c:axPos val="l"/>
        <c:majorGridlines>
          <c:spPr>
            <a:ln w="9360">
              <a:solidFill>
                <a:srgbClr val="D9D9D9"/>
              </a:solidFill>
              <a:round/>
            </a:ln>
          </c:spPr>
        </c:majorGridlines>
        <c:title>
          <c:tx>
            <c:rich>
              <a:bodyPr rot="-5400000"/>
              <a:lstStyle/>
              <a:p>
                <a:pPr>
                  <a:defRPr sz="1600" b="0" u="none" strike="noStrike">
                    <a:uFillTx/>
                    <a:latin typeface="CMU Serif" panose="02000603000000000000" pitchFamily="2" charset="0"/>
                    <a:ea typeface="CMU Serif" panose="02000603000000000000" pitchFamily="2" charset="0"/>
                    <a:cs typeface="CMU Serif" panose="02000603000000000000" pitchFamily="2" charset="0"/>
                  </a:defRPr>
                </a:pPr>
                <a:r>
                  <a:rPr lang="it-IT" sz="1600" b="0" u="none" strike="noStrike">
                    <a:solidFill>
                      <a:srgbClr val="595959"/>
                    </a:solidFill>
                    <a:uFillTx/>
                    <a:latin typeface="CMU Serif" panose="02000603000000000000" pitchFamily="2" charset="0"/>
                    <a:ea typeface="CMU Serif" panose="02000603000000000000" pitchFamily="2" charset="0"/>
                    <a:cs typeface="CMU Serif" panose="02000603000000000000" pitchFamily="2" charset="0"/>
                  </a:rPr>
                  <a:t>Tempo in secondi</a:t>
                </a:r>
              </a:p>
            </c:rich>
          </c:tx>
          <c:layout>
            <c:manualLayout>
              <c:xMode val="edge"/>
              <c:yMode val="edge"/>
              <c:x val="1.8926136216328299E-2"/>
              <c:y val="0.32571838344516701"/>
            </c:manualLayout>
          </c:layout>
          <c:overlay val="0"/>
          <c:spPr>
            <a:noFill/>
            <a:ln w="0">
              <a:noFill/>
            </a:ln>
          </c:spPr>
        </c:title>
        <c:numFmt formatCode="General" sourceLinked="0"/>
        <c:majorTickMark val="none"/>
        <c:minorTickMark val="none"/>
        <c:tickLblPos val="nextTo"/>
        <c:spPr>
          <a:ln w="12600">
            <a:noFill/>
          </a:ln>
        </c:spPr>
        <c:txPr>
          <a:bodyPr/>
          <a:lstStyle/>
          <a:p>
            <a:pPr>
              <a:defRPr sz="1100" b="0" u="none" strike="noStrike">
                <a:solidFill>
                  <a:srgbClr val="595959"/>
                </a:solidFill>
                <a:uFillTx/>
                <a:latin typeface="Aptos Narrow"/>
              </a:defRPr>
            </a:pPr>
            <a:endParaRPr lang="it-IT"/>
          </a:p>
        </c:txPr>
        <c:crossAx val="96304744"/>
        <c:crosses val="autoZero"/>
        <c:crossBetween val="between"/>
      </c:valAx>
      <c:dTable>
        <c:showHorzBorder val="1"/>
        <c:showVertBorder val="1"/>
        <c:showOutline val="1"/>
        <c:showKeys val="1"/>
        <c:spPr>
          <a:noFill/>
          <a:ln w="9360">
            <a:solidFill>
              <a:srgbClr val="D9D9D9"/>
            </a:solidFill>
            <a:round/>
          </a:ln>
        </c:spPr>
        <c:txPr>
          <a:bodyPr/>
          <a:lstStyle/>
          <a:p>
            <a:pPr rtl="0">
              <a:defRPr sz="1100" b="0" u="none" strike="noStrike">
                <a:solidFill>
                  <a:srgbClr val="595959"/>
                </a:solidFill>
                <a:uFillTx/>
                <a:latin typeface="Aptos Narrow"/>
              </a:defRPr>
            </a:pPr>
            <a:endParaRPr lang="it-IT"/>
          </a:p>
        </c:txPr>
      </c:dTable>
      <c:spPr>
        <a:noFill/>
        <a:ln w="0">
          <a:noFill/>
        </a:ln>
      </c:spPr>
    </c:plotArea>
    <c:plotVisOnly val="1"/>
    <c:dispBlanksAs val="gap"/>
    <c:showDLblsOverMax val="1"/>
  </c:chart>
  <c:spPr>
    <a:solidFill>
      <a:srgbClr val="FFFFFF"/>
    </a:solidFill>
    <a:ln w="9360">
      <a:noFill/>
    </a:ln>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rtl="0">
              <a:defRPr sz="1200"/>
            </a:lvl1pPr>
          </a:lstStyle>
          <a:p>
            <a:pPr rtl="0"/>
            <a:endParaRPr lang="it-IT" dirty="0">
              <a:latin typeface="CMU Serif" panose="02000603000000000000" pitchFamily="2" charset="0"/>
            </a:endParaRPr>
          </a:p>
        </p:txBody>
      </p:sp>
      <p:sp>
        <p:nvSpPr>
          <p:cNvPr id="3" name="Segnaposto dat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l" rtl="0">
              <a:defRPr sz="1200"/>
            </a:lvl1pPr>
          </a:lstStyle>
          <a:p>
            <a:pPr algn="r" rtl="0"/>
            <a:fld id="{221A1788-7372-4FAC-9AF0-00B54B8D9CBA}" type="datetime1">
              <a:rPr lang="it-IT" smtClean="0">
                <a:latin typeface="CMU Serif" panose="02000603000000000000" pitchFamily="2" charset="0"/>
              </a:rPr>
              <a:t>10/02/2025</a:t>
            </a:fld>
            <a:endParaRPr lang="it-IT" dirty="0">
              <a:latin typeface="CMU Serif" panose="02000603000000000000" pitchFamily="2" charset="0"/>
            </a:endParaRPr>
          </a:p>
        </p:txBody>
      </p:sp>
      <p:sp>
        <p:nvSpPr>
          <p:cNvPr id="4" name="Segnaposto piè di pagina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rtl="0">
              <a:defRPr sz="1200"/>
            </a:lvl1pPr>
          </a:lstStyle>
          <a:p>
            <a:pPr rtl="0"/>
            <a:endParaRPr lang="it-IT" dirty="0">
              <a:latin typeface="CMU Serif" panose="02000603000000000000" pitchFamily="2" charset="0"/>
            </a:endParaRPr>
          </a:p>
        </p:txBody>
      </p:sp>
      <p:sp>
        <p:nvSpPr>
          <p:cNvPr id="5" name="Segnaposto numero diapositiva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l" rtl="0">
              <a:defRPr sz="1200"/>
            </a:lvl1pPr>
          </a:lstStyle>
          <a:p>
            <a:pPr algn="r" rtl="0"/>
            <a:fld id="{79429053-DC2A-4342-ADD4-2FD729D91E2C}" type="slidenum">
              <a:rPr lang="it-IT" smtClean="0">
                <a:latin typeface="CMU Serif" panose="02000603000000000000" pitchFamily="2" charset="0"/>
              </a:rPr>
              <a:pPr algn="r" rtl="0"/>
              <a:t>‹N›</a:t>
            </a:fld>
            <a:endParaRPr lang="it-IT" dirty="0">
              <a:latin typeface="CMU Serif" panose="02000603000000000000" pitchFamily="2" charset="0"/>
            </a:endParaRPr>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rtl="0">
              <a:defRPr sz="1200">
                <a:latin typeface="CMU Serif" panose="02000603000000000000" pitchFamily="2" charset="0"/>
              </a:defRPr>
            </a:lvl1pPr>
          </a:lstStyle>
          <a:p>
            <a:endParaRPr lang="it-IT" dirty="0"/>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rtl="0">
              <a:defRPr sz="1200">
                <a:latin typeface="CMU Serif" panose="02000603000000000000" pitchFamily="2" charset="0"/>
              </a:defRPr>
            </a:lvl1pPr>
          </a:lstStyle>
          <a:p>
            <a:fld id="{D943A304-85CD-4257-B418-D8F889FE0DBC}" type="datetime1">
              <a:rPr lang="it-IT" smtClean="0"/>
              <a:pPr/>
              <a:t>10/02/2025</a:t>
            </a:fld>
            <a:endParaRPr lang="it-IT" dirty="0"/>
          </a:p>
        </p:txBody>
      </p:sp>
      <p:sp>
        <p:nvSpPr>
          <p:cNvPr id="4" name="Segnaposto immagine diapositiva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rtl="0"/>
            <a:endParaRPr lang="it-IT" dirty="0"/>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rtl="0"/>
            <a:r>
              <a:rPr lang="it-IT" dirty="0"/>
              <a:t>Fare clic per modificare gli stili del testo dello schema</a:t>
            </a:r>
          </a:p>
          <a:p>
            <a:pPr lvl="1" rtl="0"/>
            <a:r>
              <a:rPr lang="it-IT" dirty="0"/>
              <a:t>Secondo livello</a:t>
            </a:r>
          </a:p>
          <a:p>
            <a:pPr lvl="2" rtl="0"/>
            <a:r>
              <a:rPr lang="it-IT" dirty="0"/>
              <a:t>Terzo livello</a:t>
            </a:r>
          </a:p>
          <a:p>
            <a:pPr lvl="3" rtl="0"/>
            <a:r>
              <a:rPr lang="it-IT" dirty="0"/>
              <a:t>Quarto livello</a:t>
            </a:r>
          </a:p>
          <a:p>
            <a:pPr lvl="4" rtl="0"/>
            <a:r>
              <a:rPr lang="it-IT" dirty="0"/>
              <a:t>Quinto livello</a:t>
            </a:r>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rtl="0">
              <a:defRPr sz="1200">
                <a:latin typeface="CMU Serif" panose="02000603000000000000" pitchFamily="2" charset="0"/>
              </a:defRPr>
            </a:lvl1pPr>
          </a:lstStyle>
          <a:p>
            <a:endParaRPr lang="it-IT" dirty="0"/>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rtl="0">
              <a:defRPr sz="1200">
                <a:latin typeface="CMU Serif" panose="02000603000000000000" pitchFamily="2" charset="0"/>
              </a:defRPr>
            </a:lvl1pPr>
          </a:lstStyle>
          <a:p>
            <a:fld id="{3EBA5BD7-F043-4D1B-AA17-CD412FC534DE}" type="slidenum">
              <a:rPr lang="it-IT" smtClean="0"/>
              <a:pPr/>
              <a:t>‹N›</a:t>
            </a:fld>
            <a:endParaRPr lang="it-IT" dirty="0"/>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CMU Serif" panose="02000603000000000000" pitchFamily="2" charset="0"/>
        <a:ea typeface="+mn-ea"/>
        <a:cs typeface="+mn-cs"/>
      </a:defRPr>
    </a:lvl1pPr>
    <a:lvl2pPr marL="609493" algn="l" defTabSz="1218987" rtl="0" eaLnBrk="1" latinLnBrk="0" hangingPunct="1">
      <a:defRPr sz="1600" kern="1200">
        <a:solidFill>
          <a:schemeClr val="tx1"/>
        </a:solidFill>
        <a:latin typeface="CMU Serif" panose="02000603000000000000" pitchFamily="2" charset="0"/>
        <a:ea typeface="+mn-ea"/>
        <a:cs typeface="+mn-cs"/>
      </a:defRPr>
    </a:lvl2pPr>
    <a:lvl3pPr marL="1218987" algn="l" defTabSz="1218987" rtl="0" eaLnBrk="1" latinLnBrk="0" hangingPunct="1">
      <a:defRPr sz="1600" kern="1200">
        <a:solidFill>
          <a:schemeClr val="tx1"/>
        </a:solidFill>
        <a:latin typeface="CMU Serif" panose="02000603000000000000" pitchFamily="2" charset="0"/>
        <a:ea typeface="+mn-ea"/>
        <a:cs typeface="+mn-cs"/>
      </a:defRPr>
    </a:lvl3pPr>
    <a:lvl4pPr marL="1828480" algn="l" defTabSz="1218987" rtl="0" eaLnBrk="1" latinLnBrk="0" hangingPunct="1">
      <a:defRPr sz="1600" kern="1200">
        <a:solidFill>
          <a:schemeClr val="tx1"/>
        </a:solidFill>
        <a:latin typeface="CMU Serif" panose="02000603000000000000" pitchFamily="2" charset="0"/>
        <a:ea typeface="+mn-ea"/>
        <a:cs typeface="+mn-cs"/>
      </a:defRPr>
    </a:lvl4pPr>
    <a:lvl5pPr marL="2437973" algn="l" defTabSz="1218987" rtl="0" eaLnBrk="1" latinLnBrk="0" hangingPunct="1">
      <a:defRPr sz="1600" kern="1200">
        <a:solidFill>
          <a:schemeClr val="tx1"/>
        </a:solidFill>
        <a:latin typeface="CMU Serif" panose="02000603000000000000" pitchFamily="2" charset="0"/>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3EBA5BD7-F043-4D1B-AA17-CD412FC534DE}" type="slidenum">
              <a:rPr lang="it-IT" smtClean="0"/>
              <a:pPr/>
              <a:t>1</a:t>
            </a:fld>
            <a:endParaRPr lang="it-IT" dirty="0"/>
          </a:p>
        </p:txBody>
      </p:sp>
    </p:spTree>
    <p:extLst>
      <p:ext uri="{BB962C8B-B14F-4D97-AF65-F5344CB8AC3E}">
        <p14:creationId xmlns:p14="http://schemas.microsoft.com/office/powerpoint/2010/main" val="35146246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3EBA5BD7-F043-4D1B-AA17-CD412FC534DE}" type="slidenum">
              <a:rPr lang="it-IT" smtClean="0"/>
              <a:pPr/>
              <a:t>2</a:t>
            </a:fld>
            <a:endParaRPr lang="it-IT" dirty="0"/>
          </a:p>
        </p:txBody>
      </p:sp>
    </p:spTree>
    <p:extLst>
      <p:ext uri="{BB962C8B-B14F-4D97-AF65-F5344CB8AC3E}">
        <p14:creationId xmlns:p14="http://schemas.microsoft.com/office/powerpoint/2010/main" val="599652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3EBA5BD7-F043-4D1B-AA17-CD412FC534DE}" type="slidenum">
              <a:rPr lang="it-IT" smtClean="0"/>
              <a:pPr/>
              <a:t>3</a:t>
            </a:fld>
            <a:endParaRPr lang="it-IT" dirty="0"/>
          </a:p>
        </p:txBody>
      </p:sp>
    </p:spTree>
    <p:extLst>
      <p:ext uri="{BB962C8B-B14F-4D97-AF65-F5344CB8AC3E}">
        <p14:creationId xmlns:p14="http://schemas.microsoft.com/office/powerpoint/2010/main" val="22871740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3EBA5BD7-F043-4D1B-AA17-CD412FC534DE}" type="slidenum">
              <a:rPr lang="it-IT" smtClean="0"/>
              <a:pPr/>
              <a:t>4</a:t>
            </a:fld>
            <a:endParaRPr lang="it-IT" dirty="0"/>
          </a:p>
        </p:txBody>
      </p:sp>
    </p:spTree>
    <p:extLst>
      <p:ext uri="{BB962C8B-B14F-4D97-AF65-F5344CB8AC3E}">
        <p14:creationId xmlns:p14="http://schemas.microsoft.com/office/powerpoint/2010/main" val="22160760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3EBA5BD7-F043-4D1B-AA17-CD412FC534DE}" type="slidenum">
              <a:rPr lang="it-IT" smtClean="0"/>
              <a:pPr/>
              <a:t>5</a:t>
            </a:fld>
            <a:endParaRPr lang="it-IT" dirty="0"/>
          </a:p>
        </p:txBody>
      </p:sp>
    </p:spTree>
    <p:extLst>
      <p:ext uri="{BB962C8B-B14F-4D97-AF65-F5344CB8AC3E}">
        <p14:creationId xmlns:p14="http://schemas.microsoft.com/office/powerpoint/2010/main" val="21771974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3EBA5BD7-F043-4D1B-AA17-CD412FC534DE}" type="slidenum">
              <a:rPr lang="it-IT" smtClean="0"/>
              <a:pPr/>
              <a:t>6</a:t>
            </a:fld>
            <a:endParaRPr lang="it-IT" dirty="0"/>
          </a:p>
        </p:txBody>
      </p:sp>
    </p:spTree>
    <p:extLst>
      <p:ext uri="{BB962C8B-B14F-4D97-AF65-F5344CB8AC3E}">
        <p14:creationId xmlns:p14="http://schemas.microsoft.com/office/powerpoint/2010/main" val="1040135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3EBA5BD7-F043-4D1B-AA17-CD412FC534DE}" type="slidenum">
              <a:rPr lang="it-IT" smtClean="0"/>
              <a:pPr/>
              <a:t>7</a:t>
            </a:fld>
            <a:endParaRPr lang="it-IT" dirty="0"/>
          </a:p>
        </p:txBody>
      </p:sp>
    </p:spTree>
    <p:extLst>
      <p:ext uri="{BB962C8B-B14F-4D97-AF65-F5344CB8AC3E}">
        <p14:creationId xmlns:p14="http://schemas.microsoft.com/office/powerpoint/2010/main" val="29669559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3EBA5BD7-F043-4D1B-AA17-CD412FC534DE}" type="slidenum">
              <a:rPr lang="it-IT" smtClean="0"/>
              <a:pPr/>
              <a:t>8</a:t>
            </a:fld>
            <a:endParaRPr lang="it-IT" dirty="0"/>
          </a:p>
        </p:txBody>
      </p:sp>
    </p:spTree>
    <p:extLst>
      <p:ext uri="{BB962C8B-B14F-4D97-AF65-F5344CB8AC3E}">
        <p14:creationId xmlns:p14="http://schemas.microsoft.com/office/powerpoint/2010/main" val="28656635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3EBA5BD7-F043-4D1B-AA17-CD412FC534DE}" type="slidenum">
              <a:rPr lang="it-IT" smtClean="0"/>
              <a:pPr/>
              <a:t>9</a:t>
            </a:fld>
            <a:endParaRPr lang="it-IT" dirty="0"/>
          </a:p>
        </p:txBody>
      </p:sp>
    </p:spTree>
    <p:extLst>
      <p:ext uri="{BB962C8B-B14F-4D97-AF65-F5344CB8AC3E}">
        <p14:creationId xmlns:p14="http://schemas.microsoft.com/office/powerpoint/2010/main" val="36411685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3EBA5BD7-F043-4D1B-AA17-CD412FC534DE}" type="slidenum">
              <a:rPr lang="it-IT" smtClean="0"/>
              <a:pPr/>
              <a:t>10</a:t>
            </a:fld>
            <a:endParaRPr lang="it-IT" dirty="0"/>
          </a:p>
        </p:txBody>
      </p:sp>
    </p:spTree>
    <p:extLst>
      <p:ext uri="{BB962C8B-B14F-4D97-AF65-F5344CB8AC3E}">
        <p14:creationId xmlns:p14="http://schemas.microsoft.com/office/powerpoint/2010/main" val="39160502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3EBA5BD7-F043-4D1B-AA17-CD412FC534DE}" type="slidenum">
              <a:rPr lang="it-IT" smtClean="0"/>
              <a:pPr/>
              <a:t>11</a:t>
            </a:fld>
            <a:endParaRPr lang="it-IT" dirty="0"/>
          </a:p>
        </p:txBody>
      </p:sp>
    </p:spTree>
    <p:extLst>
      <p:ext uri="{BB962C8B-B14F-4D97-AF65-F5344CB8AC3E}">
        <p14:creationId xmlns:p14="http://schemas.microsoft.com/office/powerpoint/2010/main" val="15814942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3EBA5BD7-F043-4D1B-AA17-CD412FC534DE}" type="slidenum">
              <a:rPr lang="it-IT" smtClean="0"/>
              <a:pPr/>
              <a:t>12</a:t>
            </a:fld>
            <a:endParaRPr lang="it-IT" dirty="0"/>
          </a:p>
        </p:txBody>
      </p:sp>
    </p:spTree>
    <p:extLst>
      <p:ext uri="{BB962C8B-B14F-4D97-AF65-F5344CB8AC3E}">
        <p14:creationId xmlns:p14="http://schemas.microsoft.com/office/powerpoint/2010/main" val="30547376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3EBA5BD7-F043-4D1B-AA17-CD412FC534DE}" type="slidenum">
              <a:rPr lang="it-IT" smtClean="0"/>
              <a:pPr/>
              <a:t>13</a:t>
            </a:fld>
            <a:endParaRPr lang="it-IT" dirty="0"/>
          </a:p>
        </p:txBody>
      </p:sp>
    </p:spTree>
    <p:extLst>
      <p:ext uri="{BB962C8B-B14F-4D97-AF65-F5344CB8AC3E}">
        <p14:creationId xmlns:p14="http://schemas.microsoft.com/office/powerpoint/2010/main" val="3365093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3EBA5BD7-F043-4D1B-AA17-CD412FC534DE}" type="slidenum">
              <a:rPr lang="it-IT" smtClean="0"/>
              <a:pPr/>
              <a:t>14</a:t>
            </a:fld>
            <a:endParaRPr lang="it-IT" dirty="0"/>
          </a:p>
        </p:txBody>
      </p:sp>
    </p:spTree>
    <p:extLst>
      <p:ext uri="{BB962C8B-B14F-4D97-AF65-F5344CB8AC3E}">
        <p14:creationId xmlns:p14="http://schemas.microsoft.com/office/powerpoint/2010/main" val="7367244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3EBA5BD7-F043-4D1B-AA17-CD412FC534DE}" type="slidenum">
              <a:rPr lang="it-IT" smtClean="0"/>
              <a:pPr/>
              <a:t>15</a:t>
            </a:fld>
            <a:endParaRPr lang="it-IT" dirty="0"/>
          </a:p>
        </p:txBody>
      </p:sp>
    </p:spTree>
    <p:extLst>
      <p:ext uri="{BB962C8B-B14F-4D97-AF65-F5344CB8AC3E}">
        <p14:creationId xmlns:p14="http://schemas.microsoft.com/office/powerpoint/2010/main" val="39028395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3EBA5BD7-F043-4D1B-AA17-CD412FC534DE}" type="slidenum">
              <a:rPr lang="it-IT" smtClean="0"/>
              <a:pPr/>
              <a:t>16</a:t>
            </a:fld>
            <a:endParaRPr lang="it-IT" dirty="0"/>
          </a:p>
        </p:txBody>
      </p:sp>
    </p:spTree>
    <p:extLst>
      <p:ext uri="{BB962C8B-B14F-4D97-AF65-F5344CB8AC3E}">
        <p14:creationId xmlns:p14="http://schemas.microsoft.com/office/powerpoint/2010/main" val="3780729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3EBA5BD7-F043-4D1B-AA17-CD412FC534DE}" type="slidenum">
              <a:rPr lang="it-IT" smtClean="0"/>
              <a:pPr/>
              <a:t>17</a:t>
            </a:fld>
            <a:endParaRPr lang="it-IT" dirty="0"/>
          </a:p>
        </p:txBody>
      </p:sp>
    </p:spTree>
    <p:extLst>
      <p:ext uri="{BB962C8B-B14F-4D97-AF65-F5344CB8AC3E}">
        <p14:creationId xmlns:p14="http://schemas.microsoft.com/office/powerpoint/2010/main" val="21586004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 name="PlaceHolder 1"/>
          <p:cNvSpPr>
            <a:spLocks noGrp="1" noRot="1" noChangeAspect="1"/>
          </p:cNvSpPr>
          <p:nvPr>
            <p:ph type="sldImg"/>
          </p:nvPr>
        </p:nvSpPr>
        <p:spPr>
          <a:xfrm>
            <a:off x="381000" y="685800"/>
            <a:ext cx="6094413" cy="3429000"/>
          </a:xfrm>
          <a:prstGeom prst="rect">
            <a:avLst/>
          </a:prstGeom>
          <a:ln w="0">
            <a:noFill/>
          </a:ln>
        </p:spPr>
      </p:sp>
      <p:sp>
        <p:nvSpPr>
          <p:cNvPr id="335"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lstStyle/>
          <a:p>
            <a:pPr marL="216000" indent="-216000">
              <a:buNone/>
            </a:pPr>
            <a:endParaRPr lang="en-GB" sz="1800" b="0" u="none" strike="noStrike">
              <a:solidFill>
                <a:srgbClr val="000000"/>
              </a:solidFill>
              <a:uFillTx/>
              <a:latin typeface="Arial"/>
            </a:endParaRPr>
          </a:p>
        </p:txBody>
      </p:sp>
      <p:sp>
        <p:nvSpPr>
          <p:cNvPr id="336" name="PlaceHolder 3"/>
          <p:cNvSpPr>
            <a:spLocks noGrp="1"/>
          </p:cNvSpPr>
          <p:nvPr>
            <p:ph type="sldNum" idx="75"/>
          </p:nvPr>
        </p:nvSpPr>
        <p:spPr>
          <a:xfrm>
            <a:off x="3884760" y="8685360"/>
            <a:ext cx="2971080" cy="456480"/>
          </a:xfrm>
          <a:prstGeom prst="rect">
            <a:avLst/>
          </a:prstGeom>
          <a:noFill/>
          <a:ln w="0">
            <a:noFill/>
          </a:ln>
        </p:spPr>
        <p:txBody>
          <a:bodyPr lIns="91440" tIns="45720" rIns="91440" bIns="45720" anchor="b">
            <a:noAutofit/>
          </a:bodyPr>
          <a:lstStyle>
            <a:lvl1pPr indent="0" algn="r" defTabSz="1218960">
              <a:lnSpc>
                <a:spcPct val="100000"/>
              </a:lnSpc>
              <a:buNone/>
              <a:tabLst>
                <a:tab pos="0" algn="l"/>
              </a:tabLst>
              <a:defRPr lang="it-IT" sz="1200" b="0" u="none" strike="noStrike">
                <a:solidFill>
                  <a:schemeClr val="dk1"/>
                </a:solidFill>
                <a:uFillTx/>
                <a:latin typeface="CMU Serif"/>
                <a:ea typeface="+mn-ea"/>
              </a:defRPr>
            </a:lvl1pPr>
          </a:lstStyle>
          <a:p>
            <a:pPr indent="0" algn="r" defTabSz="1218960">
              <a:lnSpc>
                <a:spcPct val="100000"/>
              </a:lnSpc>
              <a:buNone/>
              <a:tabLst>
                <a:tab pos="0" algn="l"/>
              </a:tabLst>
            </a:pPr>
            <a:fld id="{2C8DDD7A-B37D-42E4-9C2A-9E2668CA415B}" type="slidenum">
              <a:rPr lang="it-IT" sz="1200" b="0" u="none" strike="noStrike">
                <a:solidFill>
                  <a:schemeClr val="dk1"/>
                </a:solidFill>
                <a:uFillTx/>
                <a:latin typeface="CMU Serif"/>
                <a:ea typeface="+mn-ea"/>
              </a:rPr>
              <a:t>18</a:t>
            </a:fld>
            <a:endParaRPr lang="en-GB" sz="1200" b="0" u="none" strike="noStrike">
              <a:solidFill>
                <a:srgbClr val="000000"/>
              </a:solidFill>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PlaceHolder 1"/>
          <p:cNvSpPr>
            <a:spLocks noGrp="1" noRot="1" noChangeAspect="1"/>
          </p:cNvSpPr>
          <p:nvPr>
            <p:ph type="sldImg"/>
          </p:nvPr>
        </p:nvSpPr>
        <p:spPr>
          <a:xfrm>
            <a:off x="381000" y="685800"/>
            <a:ext cx="6094413" cy="3429000"/>
          </a:xfrm>
          <a:prstGeom prst="rect">
            <a:avLst/>
          </a:prstGeom>
          <a:ln w="0">
            <a:noFill/>
          </a:ln>
        </p:spPr>
      </p:sp>
      <p:sp>
        <p:nvSpPr>
          <p:cNvPr id="338"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lstStyle/>
          <a:p>
            <a:pPr marL="216000" indent="-216000">
              <a:buNone/>
            </a:pPr>
            <a:endParaRPr lang="en-GB" sz="1800" b="0" u="none" strike="noStrike">
              <a:solidFill>
                <a:srgbClr val="000000"/>
              </a:solidFill>
              <a:uFillTx/>
              <a:latin typeface="Arial"/>
            </a:endParaRPr>
          </a:p>
        </p:txBody>
      </p:sp>
      <p:sp>
        <p:nvSpPr>
          <p:cNvPr id="339" name="PlaceHolder 3"/>
          <p:cNvSpPr>
            <a:spLocks noGrp="1"/>
          </p:cNvSpPr>
          <p:nvPr>
            <p:ph type="sldNum" idx="76"/>
          </p:nvPr>
        </p:nvSpPr>
        <p:spPr>
          <a:xfrm>
            <a:off x="3884760" y="8685360"/>
            <a:ext cx="2971080" cy="456480"/>
          </a:xfrm>
          <a:prstGeom prst="rect">
            <a:avLst/>
          </a:prstGeom>
          <a:noFill/>
          <a:ln w="0">
            <a:noFill/>
          </a:ln>
        </p:spPr>
        <p:txBody>
          <a:bodyPr lIns="91440" tIns="45720" rIns="91440" bIns="45720" anchor="b">
            <a:noAutofit/>
          </a:bodyPr>
          <a:lstStyle>
            <a:lvl1pPr indent="0" algn="r" defTabSz="1218960">
              <a:lnSpc>
                <a:spcPct val="100000"/>
              </a:lnSpc>
              <a:buNone/>
              <a:tabLst>
                <a:tab pos="0" algn="l"/>
              </a:tabLst>
              <a:defRPr lang="it-IT" sz="1200" b="0" u="none" strike="noStrike">
                <a:solidFill>
                  <a:schemeClr val="dk1"/>
                </a:solidFill>
                <a:uFillTx/>
                <a:latin typeface="CMU Serif"/>
                <a:ea typeface="+mn-ea"/>
              </a:defRPr>
            </a:lvl1pPr>
          </a:lstStyle>
          <a:p>
            <a:pPr indent="0" algn="r" defTabSz="1218960">
              <a:lnSpc>
                <a:spcPct val="100000"/>
              </a:lnSpc>
              <a:buNone/>
              <a:tabLst>
                <a:tab pos="0" algn="l"/>
              </a:tabLst>
            </a:pPr>
            <a:fld id="{78782B73-493C-4E30-9E49-AAF05D4787B8}" type="slidenum">
              <a:rPr lang="it-IT" sz="1200" b="0" u="none" strike="noStrike">
                <a:solidFill>
                  <a:schemeClr val="dk1"/>
                </a:solidFill>
                <a:uFillTx/>
                <a:latin typeface="CMU Serif"/>
                <a:ea typeface="+mn-ea"/>
              </a:rPr>
              <a:t>19</a:t>
            </a:fld>
            <a:endParaRPr lang="en-GB" sz="1200" b="0" u="none" strike="noStrike">
              <a:solidFill>
                <a:srgbClr val="000000"/>
              </a:solidFill>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 name="PlaceHolder 1"/>
          <p:cNvSpPr>
            <a:spLocks noGrp="1" noRot="1" noChangeAspect="1"/>
          </p:cNvSpPr>
          <p:nvPr>
            <p:ph type="sldImg"/>
          </p:nvPr>
        </p:nvSpPr>
        <p:spPr>
          <a:xfrm>
            <a:off x="381000" y="685800"/>
            <a:ext cx="6094413" cy="3429000"/>
          </a:xfrm>
          <a:prstGeom prst="rect">
            <a:avLst/>
          </a:prstGeom>
          <a:ln w="0">
            <a:noFill/>
          </a:ln>
        </p:spPr>
      </p:sp>
      <p:sp>
        <p:nvSpPr>
          <p:cNvPr id="341"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lstStyle/>
          <a:p>
            <a:pPr marL="216000" indent="-216000">
              <a:buNone/>
            </a:pPr>
            <a:endParaRPr lang="en-GB" sz="1800" b="0" u="none" strike="noStrike">
              <a:solidFill>
                <a:srgbClr val="000000"/>
              </a:solidFill>
              <a:uFillTx/>
              <a:latin typeface="Arial"/>
            </a:endParaRPr>
          </a:p>
        </p:txBody>
      </p:sp>
      <p:sp>
        <p:nvSpPr>
          <p:cNvPr id="342" name="PlaceHolder 3"/>
          <p:cNvSpPr>
            <a:spLocks noGrp="1"/>
          </p:cNvSpPr>
          <p:nvPr>
            <p:ph type="sldNum" idx="77"/>
          </p:nvPr>
        </p:nvSpPr>
        <p:spPr>
          <a:xfrm>
            <a:off x="3884760" y="8685360"/>
            <a:ext cx="2971080" cy="456480"/>
          </a:xfrm>
          <a:prstGeom prst="rect">
            <a:avLst/>
          </a:prstGeom>
          <a:noFill/>
          <a:ln w="0">
            <a:noFill/>
          </a:ln>
        </p:spPr>
        <p:txBody>
          <a:bodyPr lIns="91440" tIns="45720" rIns="91440" bIns="45720" anchor="b">
            <a:noAutofit/>
          </a:bodyPr>
          <a:lstStyle>
            <a:lvl1pPr indent="0" algn="r" defTabSz="1218960">
              <a:lnSpc>
                <a:spcPct val="100000"/>
              </a:lnSpc>
              <a:buNone/>
              <a:tabLst>
                <a:tab pos="0" algn="l"/>
              </a:tabLst>
              <a:defRPr lang="it-IT" sz="1200" b="0" u="none" strike="noStrike">
                <a:solidFill>
                  <a:schemeClr val="dk1"/>
                </a:solidFill>
                <a:uFillTx/>
                <a:latin typeface="CMU Serif"/>
                <a:ea typeface="+mn-ea"/>
              </a:defRPr>
            </a:lvl1pPr>
          </a:lstStyle>
          <a:p>
            <a:pPr indent="0" algn="r" defTabSz="1218960">
              <a:lnSpc>
                <a:spcPct val="100000"/>
              </a:lnSpc>
              <a:buNone/>
              <a:tabLst>
                <a:tab pos="0" algn="l"/>
              </a:tabLst>
            </a:pPr>
            <a:fld id="{D6A97018-5EB4-4CCA-B411-452459BA6AD2}" type="slidenum">
              <a:rPr lang="it-IT" sz="1200" b="0" u="none" strike="noStrike">
                <a:solidFill>
                  <a:schemeClr val="dk1"/>
                </a:solidFill>
                <a:uFillTx/>
                <a:latin typeface="CMU Serif"/>
                <a:ea typeface="+mn-ea"/>
              </a:rPr>
              <a:t>20</a:t>
            </a:fld>
            <a:endParaRPr lang="en-GB" sz="1200" b="0" u="none" strike="noStrike">
              <a:solidFill>
                <a:srgbClr val="000000"/>
              </a:solidFill>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 name="PlaceHolder 1"/>
          <p:cNvSpPr>
            <a:spLocks noGrp="1" noRot="1" noChangeAspect="1"/>
          </p:cNvSpPr>
          <p:nvPr>
            <p:ph type="sldImg"/>
          </p:nvPr>
        </p:nvSpPr>
        <p:spPr>
          <a:xfrm>
            <a:off x="380880" y="685800"/>
            <a:ext cx="6095160" cy="3428280"/>
          </a:xfrm>
          <a:prstGeom prst="rect">
            <a:avLst/>
          </a:prstGeom>
          <a:ln w="0">
            <a:noFill/>
          </a:ln>
        </p:spPr>
      </p:sp>
      <p:sp>
        <p:nvSpPr>
          <p:cNvPr id="344"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lstStyle/>
          <a:p>
            <a:pPr marL="216000" indent="-216000">
              <a:buNone/>
            </a:pPr>
            <a:endParaRPr lang="en-GB" sz="1800" b="0" u="none" strike="noStrike">
              <a:solidFill>
                <a:srgbClr val="000000"/>
              </a:solidFill>
              <a:uFillTx/>
              <a:latin typeface="Arial"/>
            </a:endParaRPr>
          </a:p>
        </p:txBody>
      </p:sp>
      <p:sp>
        <p:nvSpPr>
          <p:cNvPr id="345" name="PlaceHolder 3"/>
          <p:cNvSpPr>
            <a:spLocks noGrp="1"/>
          </p:cNvSpPr>
          <p:nvPr>
            <p:ph type="sldNum" idx="78"/>
          </p:nvPr>
        </p:nvSpPr>
        <p:spPr>
          <a:xfrm>
            <a:off x="3884760" y="8685360"/>
            <a:ext cx="2971080" cy="456480"/>
          </a:xfrm>
          <a:prstGeom prst="rect">
            <a:avLst/>
          </a:prstGeom>
          <a:noFill/>
          <a:ln w="0">
            <a:noFill/>
          </a:ln>
        </p:spPr>
        <p:txBody>
          <a:bodyPr lIns="91440" tIns="45720" rIns="91440" bIns="45720" anchor="b">
            <a:noAutofit/>
          </a:bodyPr>
          <a:lstStyle>
            <a:lvl1pPr indent="0" algn="r" defTabSz="1218960">
              <a:lnSpc>
                <a:spcPct val="100000"/>
              </a:lnSpc>
              <a:buNone/>
              <a:tabLst>
                <a:tab pos="0" algn="l"/>
              </a:tabLst>
              <a:defRPr lang="it-IT" sz="1200" b="0" u="none" strike="noStrike">
                <a:solidFill>
                  <a:schemeClr val="dk1"/>
                </a:solidFill>
                <a:uFillTx/>
                <a:latin typeface="CMU Serif"/>
                <a:ea typeface="+mn-ea"/>
              </a:defRPr>
            </a:lvl1pPr>
          </a:lstStyle>
          <a:p>
            <a:pPr indent="0" algn="r" defTabSz="1218960">
              <a:lnSpc>
                <a:spcPct val="100000"/>
              </a:lnSpc>
              <a:buNone/>
              <a:tabLst>
                <a:tab pos="0" algn="l"/>
              </a:tabLst>
            </a:pPr>
            <a:fld id="{36C58B24-97EC-4C63-96E3-A44062BD7942}" type="slidenum">
              <a:rPr lang="it-IT" sz="1200" b="0" u="none" strike="noStrike">
                <a:solidFill>
                  <a:schemeClr val="dk1"/>
                </a:solidFill>
                <a:uFillTx/>
                <a:latin typeface="CMU Serif"/>
                <a:ea typeface="+mn-ea"/>
              </a:rPr>
              <a:t>21</a:t>
            </a:fld>
            <a:endParaRPr lang="en-GB" sz="1200" b="0" u="none" strike="noStrike">
              <a:solidFill>
                <a:srgbClr val="000000"/>
              </a:solidFill>
              <a:uFillTx/>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 name="PlaceHolder 1"/>
          <p:cNvSpPr>
            <a:spLocks noGrp="1" noRot="1" noChangeAspect="1"/>
          </p:cNvSpPr>
          <p:nvPr>
            <p:ph type="sldImg"/>
          </p:nvPr>
        </p:nvSpPr>
        <p:spPr>
          <a:xfrm>
            <a:off x="381000" y="685800"/>
            <a:ext cx="6094413" cy="3429000"/>
          </a:xfrm>
          <a:prstGeom prst="rect">
            <a:avLst/>
          </a:prstGeom>
          <a:ln w="0">
            <a:noFill/>
          </a:ln>
        </p:spPr>
      </p:sp>
      <p:sp>
        <p:nvSpPr>
          <p:cNvPr id="347"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lstStyle/>
          <a:p>
            <a:pPr marL="216000" indent="-216000">
              <a:buNone/>
            </a:pPr>
            <a:endParaRPr lang="en-GB" sz="1800" b="0" u="none" strike="noStrike">
              <a:solidFill>
                <a:srgbClr val="000000"/>
              </a:solidFill>
              <a:uFillTx/>
              <a:latin typeface="Arial"/>
            </a:endParaRPr>
          </a:p>
        </p:txBody>
      </p:sp>
      <p:sp>
        <p:nvSpPr>
          <p:cNvPr id="348" name="PlaceHolder 3"/>
          <p:cNvSpPr>
            <a:spLocks noGrp="1"/>
          </p:cNvSpPr>
          <p:nvPr>
            <p:ph type="sldNum" idx="79"/>
          </p:nvPr>
        </p:nvSpPr>
        <p:spPr>
          <a:xfrm>
            <a:off x="3884760" y="8685360"/>
            <a:ext cx="2971080" cy="456480"/>
          </a:xfrm>
          <a:prstGeom prst="rect">
            <a:avLst/>
          </a:prstGeom>
          <a:noFill/>
          <a:ln w="0">
            <a:noFill/>
          </a:ln>
        </p:spPr>
        <p:txBody>
          <a:bodyPr lIns="91440" tIns="45720" rIns="91440" bIns="45720" anchor="b">
            <a:noAutofit/>
          </a:bodyPr>
          <a:lstStyle>
            <a:lvl1pPr indent="0" algn="r" defTabSz="1218960">
              <a:lnSpc>
                <a:spcPct val="100000"/>
              </a:lnSpc>
              <a:buNone/>
              <a:tabLst>
                <a:tab pos="0" algn="l"/>
              </a:tabLst>
              <a:defRPr lang="it-IT" sz="1200" b="0" u="none" strike="noStrike">
                <a:solidFill>
                  <a:schemeClr val="dk1"/>
                </a:solidFill>
                <a:uFillTx/>
                <a:latin typeface="CMU Serif"/>
                <a:ea typeface="+mn-ea"/>
              </a:defRPr>
            </a:lvl1pPr>
          </a:lstStyle>
          <a:p>
            <a:pPr indent="0" algn="r" defTabSz="1218960">
              <a:lnSpc>
                <a:spcPct val="100000"/>
              </a:lnSpc>
              <a:buNone/>
              <a:tabLst>
                <a:tab pos="0" algn="l"/>
              </a:tabLst>
            </a:pPr>
            <a:fld id="{4921F5A4-36D5-4E08-984D-052850209ACA}" type="slidenum">
              <a:rPr lang="it-IT" sz="1200" b="0" u="none" strike="noStrike">
                <a:solidFill>
                  <a:schemeClr val="dk1"/>
                </a:solidFill>
                <a:uFillTx/>
                <a:latin typeface="CMU Serif"/>
                <a:ea typeface="+mn-ea"/>
              </a:rPr>
              <a:t>22</a:t>
            </a:fld>
            <a:endParaRPr lang="en-GB" sz="1200" b="0" u="none" strike="noStrike">
              <a:solidFill>
                <a:srgbClr val="000000"/>
              </a:solidFill>
              <a:uFillTx/>
              <a:latin typeface="Times New Roman"/>
            </a:endParaRPr>
          </a:p>
        </p:txBody>
      </p:sp>
    </p:spTree>
    <p:extLst>
      <p:ext uri="{BB962C8B-B14F-4D97-AF65-F5344CB8AC3E}">
        <p14:creationId xmlns:p14="http://schemas.microsoft.com/office/powerpoint/2010/main" val="19976352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 name="PlaceHolder 1"/>
          <p:cNvSpPr>
            <a:spLocks noGrp="1" noRot="1" noChangeAspect="1"/>
          </p:cNvSpPr>
          <p:nvPr>
            <p:ph type="sldImg"/>
          </p:nvPr>
        </p:nvSpPr>
        <p:spPr>
          <a:xfrm>
            <a:off x="381000" y="685800"/>
            <a:ext cx="6094413" cy="3429000"/>
          </a:xfrm>
          <a:prstGeom prst="rect">
            <a:avLst/>
          </a:prstGeom>
          <a:ln w="0">
            <a:noFill/>
          </a:ln>
        </p:spPr>
      </p:sp>
      <p:sp>
        <p:nvSpPr>
          <p:cNvPr id="347"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lstStyle/>
          <a:p>
            <a:pPr marL="216000" indent="-216000">
              <a:buNone/>
            </a:pPr>
            <a:endParaRPr lang="en-GB" sz="1800" b="0" u="none" strike="noStrike">
              <a:solidFill>
                <a:srgbClr val="000000"/>
              </a:solidFill>
              <a:uFillTx/>
              <a:latin typeface="Arial"/>
            </a:endParaRPr>
          </a:p>
        </p:txBody>
      </p:sp>
      <p:sp>
        <p:nvSpPr>
          <p:cNvPr id="348" name="PlaceHolder 3"/>
          <p:cNvSpPr>
            <a:spLocks noGrp="1"/>
          </p:cNvSpPr>
          <p:nvPr>
            <p:ph type="sldNum" idx="79"/>
          </p:nvPr>
        </p:nvSpPr>
        <p:spPr>
          <a:xfrm>
            <a:off x="3884760" y="8685360"/>
            <a:ext cx="2971080" cy="456480"/>
          </a:xfrm>
          <a:prstGeom prst="rect">
            <a:avLst/>
          </a:prstGeom>
          <a:noFill/>
          <a:ln w="0">
            <a:noFill/>
          </a:ln>
        </p:spPr>
        <p:txBody>
          <a:bodyPr lIns="91440" tIns="45720" rIns="91440" bIns="45720" anchor="b">
            <a:noAutofit/>
          </a:bodyPr>
          <a:lstStyle>
            <a:lvl1pPr indent="0" algn="r" defTabSz="1218960">
              <a:lnSpc>
                <a:spcPct val="100000"/>
              </a:lnSpc>
              <a:buNone/>
              <a:tabLst>
                <a:tab pos="0" algn="l"/>
              </a:tabLst>
              <a:defRPr lang="it-IT" sz="1200" b="0" u="none" strike="noStrike">
                <a:solidFill>
                  <a:schemeClr val="dk1"/>
                </a:solidFill>
                <a:uFillTx/>
                <a:latin typeface="CMU Serif"/>
                <a:ea typeface="+mn-ea"/>
              </a:defRPr>
            </a:lvl1pPr>
          </a:lstStyle>
          <a:p>
            <a:pPr indent="0" algn="r" defTabSz="1218960">
              <a:lnSpc>
                <a:spcPct val="100000"/>
              </a:lnSpc>
              <a:buNone/>
              <a:tabLst>
                <a:tab pos="0" algn="l"/>
              </a:tabLst>
            </a:pPr>
            <a:fld id="{4921F5A4-36D5-4E08-984D-052850209ACA}" type="slidenum">
              <a:rPr lang="it-IT" sz="1200" b="0" u="none" strike="noStrike">
                <a:solidFill>
                  <a:schemeClr val="dk1"/>
                </a:solidFill>
                <a:uFillTx/>
                <a:latin typeface="CMU Serif"/>
                <a:ea typeface="+mn-ea"/>
              </a:rPr>
              <a:t>23</a:t>
            </a:fld>
            <a:endParaRPr lang="en-GB" sz="1200" b="0" u="none" strike="noStrike">
              <a:solidFill>
                <a:srgbClr val="000000"/>
              </a:solidFill>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grpSp>
        <p:nvGrpSpPr>
          <p:cNvPr id="21" name="diagonali"/>
          <p:cNvGrpSpPr/>
          <p:nvPr/>
        </p:nvGrpSpPr>
        <p:grpSpPr>
          <a:xfrm>
            <a:off x="7516443" y="4145281"/>
            <a:ext cx="4686117" cy="2731407"/>
            <a:chOff x="5638800" y="3108960"/>
            <a:chExt cx="3515503" cy="2048555"/>
          </a:xfrm>
        </p:grpSpPr>
        <p:cxnSp>
          <p:nvCxnSpPr>
            <p:cNvPr id="14" name="Connettore diritto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Connettore diritto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Connettore diritto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linee inferiori"/>
          <p:cNvGrpSpPr/>
          <p:nvPr/>
        </p:nvGrpSpPr>
        <p:grpSpPr>
          <a:xfrm>
            <a:off x="-8916" y="6057149"/>
            <a:ext cx="5498726" cy="820207"/>
            <a:chOff x="-6689" y="4553748"/>
            <a:chExt cx="4125119" cy="615155"/>
          </a:xfrm>
        </p:grpSpPr>
        <p:sp>
          <p:nvSpPr>
            <p:cNvPr id="9" name="Figura a mano libera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it-IT" dirty="0">
                <a:latin typeface="CMU Serif" panose="02000603000000000000" pitchFamily="2" charset="0"/>
              </a:endParaRPr>
            </a:p>
          </p:txBody>
        </p:sp>
        <p:sp>
          <p:nvSpPr>
            <p:cNvPr id="10" name="Figura a mano libera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it-IT" dirty="0">
                <a:latin typeface="CMU Serif" panose="02000603000000000000" pitchFamily="2" charset="0"/>
              </a:endParaRPr>
            </a:p>
          </p:txBody>
        </p:sp>
        <p:sp>
          <p:nvSpPr>
            <p:cNvPr id="11" name="Figura a mano libera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it-IT" dirty="0">
                <a:latin typeface="CMU Serif" panose="02000603000000000000" pitchFamily="2" charset="0"/>
              </a:endParaRPr>
            </a:p>
          </p:txBody>
        </p:sp>
      </p:grpSp>
      <p:sp>
        <p:nvSpPr>
          <p:cNvPr id="2" name="Titolo 1"/>
          <p:cNvSpPr>
            <a:spLocks noGrp="1"/>
          </p:cNvSpPr>
          <p:nvPr>
            <p:ph type="ctrTitle"/>
          </p:nvPr>
        </p:nvSpPr>
        <p:spPr>
          <a:xfrm>
            <a:off x="1625176" y="584200"/>
            <a:ext cx="8735325" cy="2000251"/>
          </a:xfrm>
        </p:spPr>
        <p:txBody>
          <a:bodyPr rtlCol="0">
            <a:normAutofit/>
          </a:bodyPr>
          <a:lstStyle>
            <a:lvl1pPr algn="l" rtl="0">
              <a:defRPr sz="5400"/>
            </a:lvl1pPr>
          </a:lstStyle>
          <a:p>
            <a:pPr rtl="0"/>
            <a:r>
              <a:rPr lang="it-IT"/>
              <a:t>Fare clic per modificare lo stile del titolo dello schema</a:t>
            </a:r>
            <a:endParaRPr lang="it-IT" dirty="0"/>
          </a:p>
        </p:txBody>
      </p:sp>
      <p:sp>
        <p:nvSpPr>
          <p:cNvPr id="3" name="Sottotitolo 2"/>
          <p:cNvSpPr>
            <a:spLocks noGrp="1"/>
          </p:cNvSpPr>
          <p:nvPr>
            <p:ph type="subTitle" idx="1"/>
          </p:nvPr>
        </p:nvSpPr>
        <p:spPr>
          <a:xfrm>
            <a:off x="1625176" y="2616200"/>
            <a:ext cx="8735325" cy="1752600"/>
          </a:xfrm>
        </p:spPr>
        <p:txBody>
          <a:bodyPr rtlCol="0">
            <a:normAutofit/>
          </a:bodyPr>
          <a:lstStyle>
            <a:lvl1pPr marL="0" indent="0" algn="l" rtl="0">
              <a:spcBef>
                <a:spcPts val="0"/>
              </a:spcBef>
              <a:buNone/>
              <a:defRPr sz="2800" cap="all" spc="200" baseline="0">
                <a:solidFill>
                  <a:schemeClr val="accent1"/>
                </a:solidFill>
              </a:defRPr>
            </a:lvl1pPr>
            <a:lvl2pPr marL="609493" indent="0" algn="ctr" rtl="0">
              <a:buNone/>
              <a:defRPr>
                <a:solidFill>
                  <a:schemeClr val="tx1">
                    <a:tint val="75000"/>
                  </a:schemeClr>
                </a:solidFill>
              </a:defRPr>
            </a:lvl2pPr>
            <a:lvl3pPr marL="1218987" indent="0" algn="ctr" rtl="0">
              <a:buNone/>
              <a:defRPr>
                <a:solidFill>
                  <a:schemeClr val="tx1">
                    <a:tint val="75000"/>
                  </a:schemeClr>
                </a:solidFill>
              </a:defRPr>
            </a:lvl3pPr>
            <a:lvl4pPr marL="1828480" indent="0" algn="ctr" rtl="0">
              <a:buNone/>
              <a:defRPr>
                <a:solidFill>
                  <a:schemeClr val="tx1">
                    <a:tint val="75000"/>
                  </a:schemeClr>
                </a:solidFill>
              </a:defRPr>
            </a:lvl4pPr>
            <a:lvl5pPr marL="2437973" indent="0" algn="ctr" rtl="0">
              <a:buNone/>
              <a:defRPr>
                <a:solidFill>
                  <a:schemeClr val="tx1">
                    <a:tint val="75000"/>
                  </a:schemeClr>
                </a:solidFill>
              </a:defRPr>
            </a:lvl5pPr>
            <a:lvl6pPr marL="3047467" indent="0" algn="ctr" rtl="0">
              <a:buNone/>
              <a:defRPr>
                <a:solidFill>
                  <a:schemeClr val="tx1">
                    <a:tint val="75000"/>
                  </a:schemeClr>
                </a:solidFill>
              </a:defRPr>
            </a:lvl6pPr>
            <a:lvl7pPr marL="3656960" indent="0" algn="ctr" rtl="0">
              <a:buNone/>
              <a:defRPr>
                <a:solidFill>
                  <a:schemeClr val="tx1">
                    <a:tint val="75000"/>
                  </a:schemeClr>
                </a:solidFill>
              </a:defRPr>
            </a:lvl7pPr>
            <a:lvl8pPr marL="4266453" indent="0" algn="ctr" rtl="0">
              <a:buNone/>
              <a:defRPr>
                <a:solidFill>
                  <a:schemeClr val="tx1">
                    <a:tint val="75000"/>
                  </a:schemeClr>
                </a:solidFill>
              </a:defRPr>
            </a:lvl8pPr>
            <a:lvl9pPr marL="4875947" indent="0" algn="ctr" rtl="0">
              <a:buNone/>
              <a:defRPr>
                <a:solidFill>
                  <a:schemeClr val="tx1">
                    <a:tint val="75000"/>
                  </a:schemeClr>
                </a:solidFill>
              </a:defRPr>
            </a:lvl9pPr>
          </a:lstStyle>
          <a:p>
            <a:pPr rtl="0"/>
            <a:r>
              <a:rPr lang="it-IT"/>
              <a:t>Fare clic per modificare lo stile del sottotitolo dello schema</a:t>
            </a:r>
            <a:endParaRPr lang="it-IT" dirty="0"/>
          </a:p>
        </p:txBody>
      </p:sp>
      <p:sp>
        <p:nvSpPr>
          <p:cNvPr id="22" name="Segnaposto data 21"/>
          <p:cNvSpPr>
            <a:spLocks noGrp="1"/>
          </p:cNvSpPr>
          <p:nvPr>
            <p:ph type="dt" sz="half" idx="10"/>
          </p:nvPr>
        </p:nvSpPr>
        <p:spPr/>
        <p:txBody>
          <a:bodyPr rtlCol="0"/>
          <a:lstStyle>
            <a:lvl1pPr>
              <a:defRPr/>
            </a:lvl1pPr>
          </a:lstStyle>
          <a:p>
            <a:fld id="{3889EF9B-A500-41B6-8F1C-893813E9A898}" type="datetime1">
              <a:rPr lang="it-IT" smtClean="0"/>
              <a:pPr/>
              <a:t>10/02/2025</a:t>
            </a:fld>
            <a:endParaRPr lang="it-IT" dirty="0"/>
          </a:p>
        </p:txBody>
      </p:sp>
      <p:sp>
        <p:nvSpPr>
          <p:cNvPr id="23" name="Segnaposto piè di pagina 22"/>
          <p:cNvSpPr>
            <a:spLocks noGrp="1"/>
          </p:cNvSpPr>
          <p:nvPr>
            <p:ph type="ftr" sz="quarter" idx="11"/>
          </p:nvPr>
        </p:nvSpPr>
        <p:spPr/>
        <p:txBody>
          <a:bodyPr rtlCol="0"/>
          <a:lstStyle/>
          <a:p>
            <a:pPr rtl="0"/>
            <a:endParaRPr lang="it-IT" dirty="0"/>
          </a:p>
        </p:txBody>
      </p:sp>
      <p:sp>
        <p:nvSpPr>
          <p:cNvPr id="24" name="Segnaposto numero diapositiva 23"/>
          <p:cNvSpPr>
            <a:spLocks noGrp="1"/>
          </p:cNvSpPr>
          <p:nvPr>
            <p:ph type="sldNum" sz="quarter" idx="12"/>
          </p:nvPr>
        </p:nvSpPr>
        <p:spPr/>
        <p:txBody>
          <a:bodyPr rtlCol="0"/>
          <a:lstStyle/>
          <a:p>
            <a:pPr rtl="0"/>
            <a:fld id="{C014DD1E-5D91-48A3-AD6D-45FBA980D106}" type="slidenum">
              <a:rPr lang="it-IT" smtClean="0"/>
              <a:t>‹N›</a:t>
            </a:fld>
            <a:endParaRPr lang="it-IT" dirty="0"/>
          </a:p>
        </p:txBody>
      </p:sp>
    </p:spTree>
    <p:extLst>
      <p:ext uri="{BB962C8B-B14F-4D97-AF65-F5344CB8AC3E}">
        <p14:creationId xmlns:p14="http://schemas.microsoft.com/office/powerpoint/2010/main" val="184748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rtlCol="0"/>
          <a:lstStyle/>
          <a:p>
            <a:pPr rtl="0"/>
            <a:r>
              <a:rPr lang="it-IT"/>
              <a:t>Fare clic per modificare lo stile del titolo dello schema</a:t>
            </a:r>
            <a:endParaRPr lang="it-IT" dirty="0"/>
          </a:p>
        </p:txBody>
      </p:sp>
      <p:sp>
        <p:nvSpPr>
          <p:cNvPr id="3" name="Segnaposto contenuto 2"/>
          <p:cNvSpPr>
            <a:spLocks noGrp="1"/>
          </p:cNvSpPr>
          <p:nvPr>
            <p:ph idx="1"/>
          </p:nvPr>
        </p:nvSpPr>
        <p:spPr/>
        <p:txBody>
          <a:bodyPr rtlCol="0"/>
          <a:lstStyle>
            <a:lvl5pPr algn="l" rtl="0">
              <a:defRPr/>
            </a:lvl5pPr>
            <a:lvl6pPr algn="l" rtl="0">
              <a:defRPr/>
            </a:lvl6pPr>
            <a:lvl7pPr algn="l" rtl="0">
              <a:defRPr/>
            </a:lvl7pPr>
            <a:lvl8pPr algn="l" rtl="0">
              <a:defRPr/>
            </a:lvl8pPr>
            <a:lvl9pPr algn="l" rtl="0">
              <a:defRPr/>
            </a:lvl9pPr>
          </a:lstStyle>
          <a:p>
            <a:pPr lvl="0" rtl="0"/>
            <a:r>
              <a:rPr lang="it-IT"/>
              <a:t>Fare clic per modificare gli stili del testo dello schema</a:t>
            </a:r>
          </a:p>
          <a:p>
            <a:pPr lvl="1" rtl="0"/>
            <a:r>
              <a:rPr lang="it-IT"/>
              <a:t>Secondo livello</a:t>
            </a:r>
          </a:p>
          <a:p>
            <a:pPr lvl="2" rtl="0"/>
            <a:r>
              <a:rPr lang="it-IT"/>
              <a:t>Terzo livello</a:t>
            </a:r>
          </a:p>
          <a:p>
            <a:pPr lvl="3" rtl="0"/>
            <a:r>
              <a:rPr lang="it-IT"/>
              <a:t>Quarto livello</a:t>
            </a:r>
          </a:p>
          <a:p>
            <a:pPr lvl="4" rtl="0"/>
            <a:r>
              <a:rPr lang="it-IT"/>
              <a:t>Quinto livello</a:t>
            </a:r>
            <a:endParaRPr lang="it-IT" dirty="0"/>
          </a:p>
        </p:txBody>
      </p:sp>
      <p:sp>
        <p:nvSpPr>
          <p:cNvPr id="4" name="Segnaposto data 3"/>
          <p:cNvSpPr>
            <a:spLocks noGrp="1"/>
          </p:cNvSpPr>
          <p:nvPr>
            <p:ph type="dt" sz="half" idx="10"/>
          </p:nvPr>
        </p:nvSpPr>
        <p:spPr/>
        <p:txBody>
          <a:bodyPr rtlCol="0"/>
          <a:lstStyle>
            <a:lvl1pPr>
              <a:defRPr/>
            </a:lvl1pPr>
          </a:lstStyle>
          <a:p>
            <a:fld id="{581DC961-63CE-49AB-921E-1CE3DDEFC80A}" type="datetime1">
              <a:rPr lang="it-IT" smtClean="0"/>
              <a:pPr/>
              <a:t>10/02/2025</a:t>
            </a:fld>
            <a:endParaRPr lang="it-IT" dirty="0"/>
          </a:p>
        </p:txBody>
      </p:sp>
      <p:sp>
        <p:nvSpPr>
          <p:cNvPr id="5" name="Segnaposto piè di pagina 4"/>
          <p:cNvSpPr>
            <a:spLocks noGrp="1"/>
          </p:cNvSpPr>
          <p:nvPr>
            <p:ph type="ftr" sz="quarter" idx="11"/>
          </p:nvPr>
        </p:nvSpPr>
        <p:spPr/>
        <p:txBody>
          <a:bodyPr rtlCol="0"/>
          <a:lstStyle/>
          <a:p>
            <a:pPr rtl="0"/>
            <a:endParaRPr lang="it-IT" dirty="0"/>
          </a:p>
        </p:txBody>
      </p:sp>
      <p:sp>
        <p:nvSpPr>
          <p:cNvPr id="6" name="Segnaposto numero diapositiva 5"/>
          <p:cNvSpPr>
            <a:spLocks noGrp="1"/>
          </p:cNvSpPr>
          <p:nvPr>
            <p:ph type="sldNum" sz="quarter" idx="12"/>
          </p:nvPr>
        </p:nvSpPr>
        <p:spPr/>
        <p:txBody>
          <a:bodyPr rtlCol="0"/>
          <a:lstStyle>
            <a:lvl1pPr algn="r">
              <a:defRPr/>
            </a:lvl1pPr>
          </a:lstStyle>
          <a:p>
            <a:fld id="{C014DD1E-5D91-48A3-AD6D-45FBA980D106}" type="slidenum">
              <a:rPr lang="it-IT" smtClean="0"/>
              <a:pPr/>
              <a:t>‹N›</a:t>
            </a:fld>
            <a:endParaRPr lang="it-IT" dirty="0"/>
          </a:p>
        </p:txBody>
      </p:sp>
    </p:spTree>
    <p:extLst>
      <p:ext uri="{BB962C8B-B14F-4D97-AF65-F5344CB8AC3E}">
        <p14:creationId xmlns:p14="http://schemas.microsoft.com/office/powerpoint/2010/main" val="140676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grpSp>
        <p:nvGrpSpPr>
          <p:cNvPr id="11" name="diagonali"/>
          <p:cNvGrpSpPr/>
          <p:nvPr/>
        </p:nvGrpSpPr>
        <p:grpSpPr>
          <a:xfrm>
            <a:off x="7516443" y="4145281"/>
            <a:ext cx="4686117" cy="2731407"/>
            <a:chOff x="5638800" y="3108960"/>
            <a:chExt cx="3515503" cy="2048555"/>
          </a:xfrm>
        </p:grpSpPr>
        <p:cxnSp>
          <p:nvCxnSpPr>
            <p:cNvPr id="12" name="Connettore diritto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Connettore diritto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Connettore diritto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olo 1"/>
          <p:cNvSpPr>
            <a:spLocks noGrp="1"/>
          </p:cNvSpPr>
          <p:nvPr>
            <p:ph type="title"/>
          </p:nvPr>
        </p:nvSpPr>
        <p:spPr>
          <a:xfrm>
            <a:off x="1625177" y="2209801"/>
            <a:ext cx="8938472" cy="2764335"/>
          </a:xfrm>
        </p:spPr>
        <p:txBody>
          <a:bodyPr rtlCol="0" anchor="b">
            <a:normAutofit/>
          </a:bodyPr>
          <a:lstStyle>
            <a:lvl1pPr algn="l" rtl="0">
              <a:defRPr sz="5400" b="0" cap="none" baseline="0"/>
            </a:lvl1pPr>
          </a:lstStyle>
          <a:p>
            <a:pPr rtl="0"/>
            <a:r>
              <a:rPr lang="it-IT"/>
              <a:t>Fare clic per modificare lo stile del titolo dello schema</a:t>
            </a:r>
            <a:endParaRPr lang="it-IT" dirty="0"/>
          </a:p>
        </p:txBody>
      </p:sp>
      <p:sp>
        <p:nvSpPr>
          <p:cNvPr id="3" name="Segnaposto testo 2"/>
          <p:cNvSpPr>
            <a:spLocks noGrp="1"/>
          </p:cNvSpPr>
          <p:nvPr>
            <p:ph type="body" idx="1"/>
          </p:nvPr>
        </p:nvSpPr>
        <p:spPr>
          <a:xfrm>
            <a:off x="1625176" y="4951266"/>
            <a:ext cx="7069519" cy="1220933"/>
          </a:xfrm>
        </p:spPr>
        <p:txBody>
          <a:bodyPr rtlCol="0" anchor="t">
            <a:normAutofit/>
          </a:bodyPr>
          <a:lstStyle>
            <a:lvl1pPr marL="0" indent="0" algn="l" rtl="0">
              <a:spcBef>
                <a:spcPts val="0"/>
              </a:spcBef>
              <a:buNone/>
              <a:defRPr sz="2800" cap="all" spc="200" baseline="0">
                <a:solidFill>
                  <a:schemeClr val="accent1"/>
                </a:solidFill>
              </a:defRPr>
            </a:lvl1pPr>
            <a:lvl2pPr marL="609493" indent="0" algn="l" rtl="0">
              <a:buNone/>
              <a:defRPr sz="2400">
                <a:solidFill>
                  <a:schemeClr val="tx1">
                    <a:tint val="75000"/>
                  </a:schemeClr>
                </a:solidFill>
              </a:defRPr>
            </a:lvl2pPr>
            <a:lvl3pPr marL="1218987" indent="0" algn="l" rtl="0">
              <a:buNone/>
              <a:defRPr sz="2100">
                <a:solidFill>
                  <a:schemeClr val="tx1">
                    <a:tint val="75000"/>
                  </a:schemeClr>
                </a:solidFill>
              </a:defRPr>
            </a:lvl3pPr>
            <a:lvl4pPr marL="1828480" indent="0" algn="l" rtl="0">
              <a:buNone/>
              <a:defRPr sz="1900">
                <a:solidFill>
                  <a:schemeClr val="tx1">
                    <a:tint val="75000"/>
                  </a:schemeClr>
                </a:solidFill>
              </a:defRPr>
            </a:lvl4pPr>
            <a:lvl5pPr marL="2437973" indent="0" algn="l" rtl="0">
              <a:buNone/>
              <a:defRPr sz="1900">
                <a:solidFill>
                  <a:schemeClr val="tx1">
                    <a:tint val="75000"/>
                  </a:schemeClr>
                </a:solidFill>
              </a:defRPr>
            </a:lvl5pPr>
            <a:lvl6pPr marL="3047467" indent="0" algn="l" rtl="0">
              <a:buNone/>
              <a:defRPr sz="1900">
                <a:solidFill>
                  <a:schemeClr val="tx1">
                    <a:tint val="75000"/>
                  </a:schemeClr>
                </a:solidFill>
              </a:defRPr>
            </a:lvl6pPr>
            <a:lvl7pPr marL="3656960" indent="0" algn="l" rtl="0">
              <a:buNone/>
              <a:defRPr sz="1900">
                <a:solidFill>
                  <a:schemeClr val="tx1">
                    <a:tint val="75000"/>
                  </a:schemeClr>
                </a:solidFill>
              </a:defRPr>
            </a:lvl7pPr>
            <a:lvl8pPr marL="4266453" indent="0" algn="l" rtl="0">
              <a:buNone/>
              <a:defRPr sz="1900">
                <a:solidFill>
                  <a:schemeClr val="tx1">
                    <a:tint val="75000"/>
                  </a:schemeClr>
                </a:solidFill>
              </a:defRPr>
            </a:lvl8pPr>
            <a:lvl9pPr marL="4875947" indent="0" algn="l" rtl="0">
              <a:buNone/>
              <a:defRPr sz="1900">
                <a:solidFill>
                  <a:schemeClr val="tx1">
                    <a:tint val="75000"/>
                  </a:schemeClr>
                </a:solidFill>
              </a:defRPr>
            </a:lvl9pPr>
          </a:lstStyle>
          <a:p>
            <a:pPr lvl="0" rtl="0"/>
            <a:r>
              <a:rPr lang="it-IT"/>
              <a:t>Fare clic per modificare gli stili del testo dello schema</a:t>
            </a:r>
          </a:p>
        </p:txBody>
      </p:sp>
      <p:sp>
        <p:nvSpPr>
          <p:cNvPr id="4" name="Segnaposto data 3"/>
          <p:cNvSpPr>
            <a:spLocks noGrp="1"/>
          </p:cNvSpPr>
          <p:nvPr>
            <p:ph type="dt" sz="half" idx="10"/>
          </p:nvPr>
        </p:nvSpPr>
        <p:spPr/>
        <p:txBody>
          <a:bodyPr rtlCol="0"/>
          <a:lstStyle>
            <a:lvl1pPr>
              <a:defRPr/>
            </a:lvl1pPr>
          </a:lstStyle>
          <a:p>
            <a:fld id="{C6066F5F-3C86-4285-A86F-35EFBBDD7800}" type="datetime1">
              <a:rPr lang="it-IT" smtClean="0"/>
              <a:pPr/>
              <a:t>10/02/2025</a:t>
            </a:fld>
            <a:endParaRPr lang="it-IT" dirty="0"/>
          </a:p>
        </p:txBody>
      </p:sp>
      <p:sp>
        <p:nvSpPr>
          <p:cNvPr id="5" name="Segnaposto piè di pagina 4"/>
          <p:cNvSpPr>
            <a:spLocks noGrp="1"/>
          </p:cNvSpPr>
          <p:nvPr>
            <p:ph type="ftr" sz="quarter" idx="11"/>
          </p:nvPr>
        </p:nvSpPr>
        <p:spPr/>
        <p:txBody>
          <a:bodyPr rtlCol="0"/>
          <a:lstStyle/>
          <a:p>
            <a:pPr rtl="0"/>
            <a:endParaRPr lang="it-IT" dirty="0"/>
          </a:p>
        </p:txBody>
      </p:sp>
      <p:sp>
        <p:nvSpPr>
          <p:cNvPr id="6" name="Segnaposto numero diapositiva 5"/>
          <p:cNvSpPr>
            <a:spLocks noGrp="1"/>
          </p:cNvSpPr>
          <p:nvPr>
            <p:ph type="sldNum" sz="quarter" idx="12"/>
          </p:nvPr>
        </p:nvSpPr>
        <p:spPr/>
        <p:txBody>
          <a:bodyPr rtlCol="0"/>
          <a:lstStyle/>
          <a:p>
            <a:pPr rtl="0"/>
            <a:fld id="{C014DD1E-5D91-48A3-AD6D-45FBA980D106}" type="slidenum">
              <a:rPr lang="it-IT" smtClean="0"/>
              <a:t>‹N›</a:t>
            </a:fld>
            <a:endParaRPr lang="it-IT" dirty="0"/>
          </a:p>
        </p:txBody>
      </p:sp>
    </p:spTree>
    <p:extLst>
      <p:ext uri="{BB962C8B-B14F-4D97-AF65-F5344CB8AC3E}">
        <p14:creationId xmlns:p14="http://schemas.microsoft.com/office/powerpoint/2010/main" val="361633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rtlCol="0"/>
          <a:lstStyle/>
          <a:p>
            <a:pPr rtl="0"/>
            <a:r>
              <a:rPr lang="it-IT"/>
              <a:t>Fare clic per modificare lo stile del titolo dello schema</a:t>
            </a:r>
            <a:endParaRPr lang="it-IT" dirty="0"/>
          </a:p>
        </p:txBody>
      </p:sp>
      <p:sp>
        <p:nvSpPr>
          <p:cNvPr id="3" name="Segnaposto contenuto 2"/>
          <p:cNvSpPr>
            <a:spLocks noGrp="1"/>
          </p:cNvSpPr>
          <p:nvPr>
            <p:ph sz="half" idx="1"/>
          </p:nvPr>
        </p:nvSpPr>
        <p:spPr>
          <a:xfrm>
            <a:off x="1218883" y="1706880"/>
            <a:ext cx="5078677" cy="4465320"/>
          </a:xfrm>
        </p:spPr>
        <p:txBody>
          <a:bodyPr rtlCol="0">
            <a:normAutofit/>
          </a:bodyPr>
          <a:lstStyle>
            <a:lvl1pPr algn="l" rtl="0">
              <a:defRPr sz="2800"/>
            </a:lvl1pPr>
            <a:lvl2pPr algn="l" rtl="0">
              <a:defRPr sz="2400"/>
            </a:lvl2pPr>
            <a:lvl3pPr algn="l" rtl="0">
              <a:defRPr sz="2000"/>
            </a:lvl3pPr>
            <a:lvl4pPr algn="l" rtl="0">
              <a:defRPr sz="2000"/>
            </a:lvl4pPr>
            <a:lvl5pPr algn="l" rtl="0">
              <a:defRPr sz="2000"/>
            </a:lvl5pPr>
            <a:lvl6pPr algn="l" rtl="0">
              <a:defRPr sz="2000"/>
            </a:lvl6pPr>
            <a:lvl7pPr algn="l" rtl="0">
              <a:defRPr sz="2000"/>
            </a:lvl7pPr>
            <a:lvl8pPr algn="l" rtl="0">
              <a:defRPr sz="2000" baseline="0"/>
            </a:lvl8pPr>
            <a:lvl9pPr algn="l" rtl="0">
              <a:defRPr sz="2000" baseline="0"/>
            </a:lvl9pPr>
          </a:lstStyle>
          <a:p>
            <a:pPr lvl="0" rtl="0"/>
            <a:r>
              <a:rPr lang="it-IT"/>
              <a:t>Fare clic per modificare gli stili del testo dello schema</a:t>
            </a:r>
          </a:p>
          <a:p>
            <a:pPr lvl="1" rtl="0"/>
            <a:r>
              <a:rPr lang="it-IT"/>
              <a:t>Secondo livello</a:t>
            </a:r>
          </a:p>
          <a:p>
            <a:pPr lvl="2" rtl="0"/>
            <a:r>
              <a:rPr lang="it-IT"/>
              <a:t>Terzo livello</a:t>
            </a:r>
          </a:p>
          <a:p>
            <a:pPr lvl="3" rtl="0"/>
            <a:r>
              <a:rPr lang="it-IT"/>
              <a:t>Quarto livello</a:t>
            </a:r>
          </a:p>
          <a:p>
            <a:pPr lvl="4" rtl="0"/>
            <a:r>
              <a:rPr lang="it-IT"/>
              <a:t>Quinto livello</a:t>
            </a:r>
            <a:endParaRPr lang="it-IT" dirty="0"/>
          </a:p>
        </p:txBody>
      </p:sp>
      <p:sp>
        <p:nvSpPr>
          <p:cNvPr id="4" name="Segnaposto contenuto 3"/>
          <p:cNvSpPr>
            <a:spLocks noGrp="1"/>
          </p:cNvSpPr>
          <p:nvPr>
            <p:ph sz="half" idx="2"/>
          </p:nvPr>
        </p:nvSpPr>
        <p:spPr>
          <a:xfrm>
            <a:off x="6500707" y="1706880"/>
            <a:ext cx="5078677" cy="4465320"/>
          </a:xfrm>
        </p:spPr>
        <p:txBody>
          <a:bodyPr rtlCol="0">
            <a:normAutofit/>
          </a:bodyPr>
          <a:lstStyle>
            <a:lvl1pPr algn="l" rtl="0">
              <a:defRPr sz="2800"/>
            </a:lvl1pPr>
            <a:lvl2pPr algn="l" rtl="0">
              <a:defRPr sz="2400"/>
            </a:lvl2pPr>
            <a:lvl3pPr algn="l" rtl="0">
              <a:defRPr sz="2000"/>
            </a:lvl3pPr>
            <a:lvl4pPr algn="l" rtl="0">
              <a:defRPr sz="2000"/>
            </a:lvl4pPr>
            <a:lvl5pPr algn="l" rtl="0">
              <a:defRPr sz="2000"/>
            </a:lvl5pPr>
            <a:lvl6pPr algn="l" rtl="0">
              <a:defRPr sz="2000"/>
            </a:lvl6pPr>
            <a:lvl7pPr algn="l" rtl="0">
              <a:defRPr sz="2000"/>
            </a:lvl7pPr>
            <a:lvl8pPr algn="l" rtl="0">
              <a:defRPr sz="2000"/>
            </a:lvl8pPr>
            <a:lvl9pPr algn="l" rtl="0">
              <a:defRPr sz="2000"/>
            </a:lvl9pPr>
          </a:lstStyle>
          <a:p>
            <a:pPr lvl="0" rtl="0"/>
            <a:r>
              <a:rPr lang="it-IT"/>
              <a:t>Fare clic per modificare gli stili del testo dello schema</a:t>
            </a:r>
          </a:p>
          <a:p>
            <a:pPr lvl="1" rtl="0"/>
            <a:r>
              <a:rPr lang="it-IT"/>
              <a:t>Secondo livello</a:t>
            </a:r>
          </a:p>
          <a:p>
            <a:pPr lvl="2" rtl="0"/>
            <a:r>
              <a:rPr lang="it-IT"/>
              <a:t>Terzo livello</a:t>
            </a:r>
          </a:p>
          <a:p>
            <a:pPr lvl="3" rtl="0"/>
            <a:r>
              <a:rPr lang="it-IT"/>
              <a:t>Quarto livello</a:t>
            </a:r>
          </a:p>
          <a:p>
            <a:pPr lvl="4" rtl="0"/>
            <a:r>
              <a:rPr lang="it-IT"/>
              <a:t>Quinto livello</a:t>
            </a:r>
            <a:endParaRPr lang="it-IT" dirty="0"/>
          </a:p>
        </p:txBody>
      </p:sp>
      <p:sp>
        <p:nvSpPr>
          <p:cNvPr id="5" name="Segnaposto data 4"/>
          <p:cNvSpPr>
            <a:spLocks noGrp="1"/>
          </p:cNvSpPr>
          <p:nvPr>
            <p:ph type="dt" sz="half" idx="10"/>
          </p:nvPr>
        </p:nvSpPr>
        <p:spPr/>
        <p:txBody>
          <a:bodyPr rtlCol="0"/>
          <a:lstStyle>
            <a:lvl1pPr>
              <a:defRPr/>
            </a:lvl1pPr>
          </a:lstStyle>
          <a:p>
            <a:fld id="{0B9BE34E-14EC-4041-A597-EE22FC16794F}" type="datetime1">
              <a:rPr lang="it-IT" smtClean="0"/>
              <a:pPr/>
              <a:t>10/02/2025</a:t>
            </a:fld>
            <a:endParaRPr lang="it-IT" dirty="0"/>
          </a:p>
        </p:txBody>
      </p:sp>
      <p:sp>
        <p:nvSpPr>
          <p:cNvPr id="6" name="Segnaposto piè di pagina 5"/>
          <p:cNvSpPr>
            <a:spLocks noGrp="1"/>
          </p:cNvSpPr>
          <p:nvPr>
            <p:ph type="ftr" sz="quarter" idx="11"/>
          </p:nvPr>
        </p:nvSpPr>
        <p:spPr/>
        <p:txBody>
          <a:bodyPr rtlCol="0"/>
          <a:lstStyle/>
          <a:p>
            <a:pPr rtl="0"/>
            <a:endParaRPr lang="it-IT" dirty="0"/>
          </a:p>
        </p:txBody>
      </p:sp>
      <p:sp>
        <p:nvSpPr>
          <p:cNvPr id="7" name="Segnaposto numero diapositiva 6"/>
          <p:cNvSpPr>
            <a:spLocks noGrp="1"/>
          </p:cNvSpPr>
          <p:nvPr>
            <p:ph type="sldNum" sz="quarter" idx="12"/>
          </p:nvPr>
        </p:nvSpPr>
        <p:spPr/>
        <p:txBody>
          <a:bodyPr rtlCol="0"/>
          <a:lstStyle/>
          <a:p>
            <a:pPr rtl="0"/>
            <a:fld id="{C014DD1E-5D91-48A3-AD6D-45FBA980D106}" type="slidenum">
              <a:rPr lang="it-IT" smtClean="0"/>
              <a:t>‹N›</a:t>
            </a:fld>
            <a:endParaRPr lang="it-IT" dirty="0"/>
          </a:p>
        </p:txBody>
      </p:sp>
    </p:spTree>
    <p:extLst>
      <p:ext uri="{BB962C8B-B14F-4D97-AF65-F5344CB8AC3E}">
        <p14:creationId xmlns:p14="http://schemas.microsoft.com/office/powerpoint/2010/main" val="3557647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rtlCol="0"/>
          <a:lstStyle>
            <a:lvl1pPr algn="l" rtl="0">
              <a:defRPr/>
            </a:lvl1pPr>
          </a:lstStyle>
          <a:p>
            <a:pPr rtl="0"/>
            <a:r>
              <a:rPr lang="it-IT"/>
              <a:t>Fare clic per modificare lo stile del titolo dello schema</a:t>
            </a:r>
            <a:endParaRPr lang="it-IT" dirty="0"/>
          </a:p>
        </p:txBody>
      </p:sp>
      <p:sp>
        <p:nvSpPr>
          <p:cNvPr id="3" name="Segnaposto testo 2"/>
          <p:cNvSpPr>
            <a:spLocks noGrp="1"/>
          </p:cNvSpPr>
          <p:nvPr>
            <p:ph type="body" idx="1"/>
          </p:nvPr>
        </p:nvSpPr>
        <p:spPr>
          <a:xfrm>
            <a:off x="1218883" y="1701800"/>
            <a:ext cx="5082740" cy="914400"/>
          </a:xfrm>
        </p:spPr>
        <p:txBody>
          <a:bodyPr rtlCol="0" anchor="b">
            <a:normAutofit/>
          </a:bodyPr>
          <a:lstStyle>
            <a:lvl1pPr marL="0" indent="0" algn="l" rtl="0">
              <a:spcBef>
                <a:spcPts val="0"/>
              </a:spcBef>
              <a:buNone/>
              <a:defRPr sz="2800" b="0" cap="all" spc="200" baseline="0">
                <a:solidFill>
                  <a:schemeClr val="accent1"/>
                </a:solidFill>
              </a:defRPr>
            </a:lvl1pPr>
            <a:lvl2pPr marL="609493" indent="0" algn="l" rtl="0">
              <a:buNone/>
              <a:defRPr sz="2700" b="1"/>
            </a:lvl2pPr>
            <a:lvl3pPr marL="1218987" indent="0" algn="l" rtl="0">
              <a:buNone/>
              <a:defRPr sz="2400" b="1"/>
            </a:lvl3pPr>
            <a:lvl4pPr marL="1828480" indent="0" algn="l" rtl="0">
              <a:buNone/>
              <a:defRPr sz="2100" b="1"/>
            </a:lvl4pPr>
            <a:lvl5pPr marL="2437973" indent="0" algn="l" rtl="0">
              <a:buNone/>
              <a:defRPr sz="2100" b="1"/>
            </a:lvl5pPr>
            <a:lvl6pPr marL="3047467" indent="0" algn="l" rtl="0">
              <a:buNone/>
              <a:defRPr sz="2100" b="1"/>
            </a:lvl6pPr>
            <a:lvl7pPr marL="3656960" indent="0" algn="l" rtl="0">
              <a:buNone/>
              <a:defRPr sz="2100" b="1"/>
            </a:lvl7pPr>
            <a:lvl8pPr marL="4266453" indent="0" algn="l" rtl="0">
              <a:buNone/>
              <a:defRPr sz="2100" b="1"/>
            </a:lvl8pPr>
            <a:lvl9pPr marL="4875947" indent="0" algn="l" rtl="0">
              <a:buNone/>
              <a:defRPr sz="2100" b="1"/>
            </a:lvl9pPr>
          </a:lstStyle>
          <a:p>
            <a:pPr lvl="0" rtl="0"/>
            <a:r>
              <a:rPr lang="it-IT"/>
              <a:t>Fare clic per modificare gli stili del testo dello schema</a:t>
            </a:r>
          </a:p>
        </p:txBody>
      </p:sp>
      <p:sp>
        <p:nvSpPr>
          <p:cNvPr id="4" name="Segnaposto contenuto 3"/>
          <p:cNvSpPr>
            <a:spLocks noGrp="1"/>
          </p:cNvSpPr>
          <p:nvPr>
            <p:ph sz="half" idx="2"/>
          </p:nvPr>
        </p:nvSpPr>
        <p:spPr>
          <a:xfrm>
            <a:off x="1218883" y="2717800"/>
            <a:ext cx="5078677" cy="3454400"/>
          </a:xfrm>
        </p:spPr>
        <p:txBody>
          <a:bodyPr rtlCol="0">
            <a:noAutofit/>
          </a:bodyPr>
          <a:lstStyle>
            <a:lvl1pPr algn="l" rtl="0">
              <a:defRPr sz="2800"/>
            </a:lvl1pPr>
            <a:lvl2pPr algn="l" rtl="0">
              <a:defRPr sz="2400"/>
            </a:lvl2pPr>
            <a:lvl3pPr algn="l" rtl="0">
              <a:defRPr sz="2000"/>
            </a:lvl3pPr>
            <a:lvl4pPr algn="l" rtl="0">
              <a:defRPr sz="2000"/>
            </a:lvl4pPr>
            <a:lvl5pPr algn="l" rtl="0">
              <a:defRPr sz="2000"/>
            </a:lvl5pPr>
            <a:lvl6pPr algn="l" rtl="0">
              <a:defRPr sz="2000"/>
            </a:lvl6pPr>
            <a:lvl7pPr algn="l" rtl="0">
              <a:defRPr sz="2000" baseline="0"/>
            </a:lvl7pPr>
            <a:lvl8pPr algn="l" rtl="0">
              <a:defRPr sz="2000" baseline="0"/>
            </a:lvl8pPr>
            <a:lvl9pPr algn="l" rtl="0">
              <a:defRPr sz="2000" baseline="0"/>
            </a:lvl9pPr>
          </a:lstStyle>
          <a:p>
            <a:pPr lvl="0" rtl="0"/>
            <a:r>
              <a:rPr lang="it-IT"/>
              <a:t>Fare clic per modificare gli stili del testo dello schema</a:t>
            </a:r>
          </a:p>
          <a:p>
            <a:pPr lvl="1" rtl="0"/>
            <a:r>
              <a:rPr lang="it-IT"/>
              <a:t>Secondo livello</a:t>
            </a:r>
          </a:p>
          <a:p>
            <a:pPr lvl="2" rtl="0"/>
            <a:r>
              <a:rPr lang="it-IT"/>
              <a:t>Terzo livello</a:t>
            </a:r>
          </a:p>
          <a:p>
            <a:pPr lvl="3" rtl="0"/>
            <a:r>
              <a:rPr lang="it-IT"/>
              <a:t>Quarto livello</a:t>
            </a:r>
          </a:p>
          <a:p>
            <a:pPr lvl="4" rtl="0"/>
            <a:r>
              <a:rPr lang="it-IT"/>
              <a:t>Quinto livello</a:t>
            </a:r>
            <a:endParaRPr lang="it-IT" dirty="0"/>
          </a:p>
        </p:txBody>
      </p:sp>
      <p:sp>
        <p:nvSpPr>
          <p:cNvPr id="5" name="Segnaposto testo 4"/>
          <p:cNvSpPr>
            <a:spLocks noGrp="1"/>
          </p:cNvSpPr>
          <p:nvPr>
            <p:ph type="body" sz="quarter" idx="3"/>
          </p:nvPr>
        </p:nvSpPr>
        <p:spPr>
          <a:xfrm>
            <a:off x="6496644" y="1701800"/>
            <a:ext cx="5082740" cy="914400"/>
          </a:xfrm>
        </p:spPr>
        <p:txBody>
          <a:bodyPr rtlCol="0" anchor="b">
            <a:normAutofit/>
          </a:bodyPr>
          <a:lstStyle>
            <a:lvl1pPr marL="0" indent="0" algn="l" rtl="0">
              <a:spcBef>
                <a:spcPts val="0"/>
              </a:spcBef>
              <a:buNone/>
              <a:defRPr sz="2800" b="0" cap="all" spc="200" baseline="0">
                <a:solidFill>
                  <a:schemeClr val="accent1"/>
                </a:solidFill>
              </a:defRPr>
            </a:lvl1pPr>
            <a:lvl2pPr marL="609493" indent="0" algn="l" rtl="0">
              <a:buNone/>
              <a:defRPr sz="2700" b="1"/>
            </a:lvl2pPr>
            <a:lvl3pPr marL="1218987" indent="0" algn="l" rtl="0">
              <a:buNone/>
              <a:defRPr sz="2400" b="1"/>
            </a:lvl3pPr>
            <a:lvl4pPr marL="1828480" indent="0" algn="l" rtl="0">
              <a:buNone/>
              <a:defRPr sz="2100" b="1"/>
            </a:lvl4pPr>
            <a:lvl5pPr marL="2437973" indent="0" algn="l" rtl="0">
              <a:buNone/>
              <a:defRPr sz="2100" b="1"/>
            </a:lvl5pPr>
            <a:lvl6pPr marL="3047467" indent="0" algn="l" rtl="0">
              <a:buNone/>
              <a:defRPr sz="2100" b="1"/>
            </a:lvl6pPr>
            <a:lvl7pPr marL="3656960" indent="0" algn="l" rtl="0">
              <a:buNone/>
              <a:defRPr sz="2100" b="1"/>
            </a:lvl7pPr>
            <a:lvl8pPr marL="4266453" indent="0" algn="l" rtl="0">
              <a:buNone/>
              <a:defRPr sz="2100" b="1"/>
            </a:lvl8pPr>
            <a:lvl9pPr marL="4875947" indent="0" algn="l" rtl="0">
              <a:buNone/>
              <a:defRPr sz="2100" b="1"/>
            </a:lvl9pPr>
          </a:lstStyle>
          <a:p>
            <a:pPr lvl="0" rtl="0"/>
            <a:r>
              <a:rPr lang="it-IT"/>
              <a:t>Fare clic per modificare gli stili del testo dello schema</a:t>
            </a:r>
          </a:p>
        </p:txBody>
      </p:sp>
      <p:sp>
        <p:nvSpPr>
          <p:cNvPr id="6" name="Segnaposto contenuto 5"/>
          <p:cNvSpPr>
            <a:spLocks noGrp="1"/>
          </p:cNvSpPr>
          <p:nvPr>
            <p:ph sz="quarter" idx="4"/>
          </p:nvPr>
        </p:nvSpPr>
        <p:spPr>
          <a:xfrm>
            <a:off x="6500707" y="2717800"/>
            <a:ext cx="5078677" cy="3454400"/>
          </a:xfrm>
        </p:spPr>
        <p:txBody>
          <a:bodyPr rtlCol="0">
            <a:noAutofit/>
          </a:bodyPr>
          <a:lstStyle>
            <a:lvl1pPr algn="l" rtl="0">
              <a:defRPr sz="2800"/>
            </a:lvl1pPr>
            <a:lvl2pPr algn="l" rtl="0">
              <a:defRPr sz="2400"/>
            </a:lvl2pPr>
            <a:lvl3pPr algn="l" rtl="0">
              <a:defRPr sz="2000"/>
            </a:lvl3pPr>
            <a:lvl4pPr algn="l" rtl="0">
              <a:defRPr sz="2000"/>
            </a:lvl4pPr>
            <a:lvl5pPr algn="l" rtl="0">
              <a:defRPr sz="2000"/>
            </a:lvl5pPr>
            <a:lvl6pPr algn="l" rtl="0">
              <a:defRPr sz="2000" baseline="0"/>
            </a:lvl6pPr>
            <a:lvl7pPr algn="l" rtl="0">
              <a:defRPr sz="2000" baseline="0"/>
            </a:lvl7pPr>
            <a:lvl8pPr algn="l" rtl="0">
              <a:defRPr sz="2000" baseline="0"/>
            </a:lvl8pPr>
            <a:lvl9pPr algn="l" rtl="0">
              <a:defRPr sz="2000" baseline="0"/>
            </a:lvl9pPr>
          </a:lstStyle>
          <a:p>
            <a:pPr lvl="0" rtl="0"/>
            <a:r>
              <a:rPr lang="it-IT"/>
              <a:t>Fare clic per modificare gli stili del testo dello schema</a:t>
            </a:r>
          </a:p>
          <a:p>
            <a:pPr lvl="1" rtl="0"/>
            <a:r>
              <a:rPr lang="it-IT"/>
              <a:t>Secondo livello</a:t>
            </a:r>
          </a:p>
          <a:p>
            <a:pPr lvl="2" rtl="0"/>
            <a:r>
              <a:rPr lang="it-IT"/>
              <a:t>Terzo livello</a:t>
            </a:r>
          </a:p>
          <a:p>
            <a:pPr lvl="3" rtl="0"/>
            <a:r>
              <a:rPr lang="it-IT"/>
              <a:t>Quarto livello</a:t>
            </a:r>
          </a:p>
          <a:p>
            <a:pPr lvl="4" rtl="0"/>
            <a:r>
              <a:rPr lang="it-IT"/>
              <a:t>Quinto livello</a:t>
            </a:r>
            <a:endParaRPr lang="it-IT" dirty="0"/>
          </a:p>
        </p:txBody>
      </p:sp>
      <p:sp>
        <p:nvSpPr>
          <p:cNvPr id="7" name="Segnaposto data 6"/>
          <p:cNvSpPr>
            <a:spLocks noGrp="1"/>
          </p:cNvSpPr>
          <p:nvPr>
            <p:ph type="dt" sz="half" idx="10"/>
          </p:nvPr>
        </p:nvSpPr>
        <p:spPr/>
        <p:txBody>
          <a:bodyPr rtlCol="0"/>
          <a:lstStyle>
            <a:lvl1pPr>
              <a:defRPr/>
            </a:lvl1pPr>
          </a:lstStyle>
          <a:p>
            <a:fld id="{D6FAD192-1BF7-4994-9CBA-74265F19F4C1}" type="datetime1">
              <a:rPr lang="it-IT" smtClean="0"/>
              <a:pPr/>
              <a:t>10/02/2025</a:t>
            </a:fld>
            <a:endParaRPr lang="it-IT" dirty="0"/>
          </a:p>
        </p:txBody>
      </p:sp>
      <p:sp>
        <p:nvSpPr>
          <p:cNvPr id="8" name="Segnaposto piè di pagina 7"/>
          <p:cNvSpPr>
            <a:spLocks noGrp="1"/>
          </p:cNvSpPr>
          <p:nvPr>
            <p:ph type="ftr" sz="quarter" idx="11"/>
          </p:nvPr>
        </p:nvSpPr>
        <p:spPr/>
        <p:txBody>
          <a:bodyPr rtlCol="0"/>
          <a:lstStyle/>
          <a:p>
            <a:pPr rtl="0"/>
            <a:endParaRPr lang="it-IT" dirty="0"/>
          </a:p>
        </p:txBody>
      </p:sp>
      <p:sp>
        <p:nvSpPr>
          <p:cNvPr id="9" name="Segnaposto numero diapositiva 8"/>
          <p:cNvSpPr>
            <a:spLocks noGrp="1"/>
          </p:cNvSpPr>
          <p:nvPr>
            <p:ph type="sldNum" sz="quarter" idx="12"/>
          </p:nvPr>
        </p:nvSpPr>
        <p:spPr/>
        <p:txBody>
          <a:bodyPr rtlCol="0"/>
          <a:lstStyle/>
          <a:p>
            <a:pPr rtl="0"/>
            <a:fld id="{C014DD1E-5D91-48A3-AD6D-45FBA980D106}" type="slidenum">
              <a:rPr lang="it-IT" smtClean="0"/>
              <a:t>‹N›</a:t>
            </a:fld>
            <a:endParaRPr lang="it-IT" dirty="0"/>
          </a:p>
        </p:txBody>
      </p:sp>
    </p:spTree>
    <p:extLst>
      <p:ext uri="{BB962C8B-B14F-4D97-AF65-F5344CB8AC3E}">
        <p14:creationId xmlns:p14="http://schemas.microsoft.com/office/powerpoint/2010/main" val="59538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rtlCol="0"/>
          <a:lstStyle/>
          <a:p>
            <a:pPr rtl="0"/>
            <a:r>
              <a:rPr lang="it-IT"/>
              <a:t>Fare clic per modificare lo stile del titolo dello schema</a:t>
            </a:r>
            <a:endParaRPr lang="it-IT" dirty="0"/>
          </a:p>
        </p:txBody>
      </p:sp>
      <p:sp>
        <p:nvSpPr>
          <p:cNvPr id="3" name="Segnaposto data 2"/>
          <p:cNvSpPr>
            <a:spLocks noGrp="1"/>
          </p:cNvSpPr>
          <p:nvPr>
            <p:ph type="dt" sz="half" idx="10"/>
          </p:nvPr>
        </p:nvSpPr>
        <p:spPr/>
        <p:txBody>
          <a:bodyPr rtlCol="0"/>
          <a:lstStyle>
            <a:lvl1pPr>
              <a:defRPr/>
            </a:lvl1pPr>
          </a:lstStyle>
          <a:p>
            <a:fld id="{C476DD40-7EBA-46D0-A855-62759524AC7A}" type="datetime1">
              <a:rPr lang="it-IT" smtClean="0"/>
              <a:pPr/>
              <a:t>10/02/2025</a:t>
            </a:fld>
            <a:endParaRPr lang="it-IT" dirty="0"/>
          </a:p>
        </p:txBody>
      </p:sp>
      <p:sp>
        <p:nvSpPr>
          <p:cNvPr id="4" name="Segnaposto piè di pagina 3"/>
          <p:cNvSpPr>
            <a:spLocks noGrp="1"/>
          </p:cNvSpPr>
          <p:nvPr>
            <p:ph type="ftr" sz="quarter" idx="11"/>
          </p:nvPr>
        </p:nvSpPr>
        <p:spPr/>
        <p:txBody>
          <a:bodyPr rtlCol="0"/>
          <a:lstStyle/>
          <a:p>
            <a:pPr rtl="0"/>
            <a:endParaRPr lang="it-IT" dirty="0"/>
          </a:p>
        </p:txBody>
      </p:sp>
      <p:sp>
        <p:nvSpPr>
          <p:cNvPr id="5" name="Segnaposto numero diapositiva 4"/>
          <p:cNvSpPr>
            <a:spLocks noGrp="1"/>
          </p:cNvSpPr>
          <p:nvPr>
            <p:ph type="sldNum" sz="quarter" idx="12"/>
          </p:nvPr>
        </p:nvSpPr>
        <p:spPr/>
        <p:txBody>
          <a:bodyPr rtlCol="0"/>
          <a:lstStyle/>
          <a:p>
            <a:pPr rtl="0"/>
            <a:fld id="{C014DD1E-5D91-48A3-AD6D-45FBA980D106}" type="slidenum">
              <a:rPr lang="it-IT" smtClean="0"/>
              <a:t>‹N›</a:t>
            </a:fld>
            <a:endParaRPr lang="it-IT" dirty="0"/>
          </a:p>
        </p:txBody>
      </p:sp>
    </p:spTree>
    <p:extLst>
      <p:ext uri="{BB962C8B-B14F-4D97-AF65-F5344CB8AC3E}">
        <p14:creationId xmlns:p14="http://schemas.microsoft.com/office/powerpoint/2010/main" val="151522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o">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rtlCol="0"/>
          <a:lstStyle>
            <a:lvl1pPr>
              <a:defRPr/>
            </a:lvl1pPr>
          </a:lstStyle>
          <a:p>
            <a:fld id="{C62E4D95-88E1-4556-89BE-EC650C1D14A8}" type="datetime1">
              <a:rPr lang="it-IT" smtClean="0"/>
              <a:pPr/>
              <a:t>10/02/2025</a:t>
            </a:fld>
            <a:endParaRPr lang="it-IT" dirty="0"/>
          </a:p>
        </p:txBody>
      </p:sp>
      <p:sp>
        <p:nvSpPr>
          <p:cNvPr id="3" name="Segnaposto piè di pagina 2"/>
          <p:cNvSpPr>
            <a:spLocks noGrp="1"/>
          </p:cNvSpPr>
          <p:nvPr>
            <p:ph type="ftr" sz="quarter" idx="11"/>
          </p:nvPr>
        </p:nvSpPr>
        <p:spPr/>
        <p:txBody>
          <a:bodyPr rtlCol="0"/>
          <a:lstStyle/>
          <a:p>
            <a:pPr rtl="0"/>
            <a:endParaRPr lang="it-IT" dirty="0"/>
          </a:p>
        </p:txBody>
      </p:sp>
      <p:sp>
        <p:nvSpPr>
          <p:cNvPr id="4" name="Segnaposto numero diapositiva 3"/>
          <p:cNvSpPr>
            <a:spLocks noGrp="1"/>
          </p:cNvSpPr>
          <p:nvPr>
            <p:ph type="sldNum" sz="quarter" idx="12"/>
          </p:nvPr>
        </p:nvSpPr>
        <p:spPr/>
        <p:txBody>
          <a:bodyPr rtlCol="0"/>
          <a:lstStyle/>
          <a:p>
            <a:pPr rtl="0"/>
            <a:fld id="{C014DD1E-5D91-48A3-AD6D-45FBA980D106}" type="slidenum">
              <a:rPr lang="it-IT" smtClean="0"/>
              <a:t>‹N›</a:t>
            </a:fld>
            <a:endParaRPr lang="it-IT" dirty="0"/>
          </a:p>
        </p:txBody>
      </p:sp>
    </p:spTree>
    <p:extLst>
      <p:ext uri="{BB962C8B-B14F-4D97-AF65-F5344CB8AC3E}">
        <p14:creationId xmlns:p14="http://schemas.microsoft.com/office/powerpoint/2010/main" val="2172478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218882" y="1701800"/>
            <a:ext cx="4062942" cy="2438400"/>
          </a:xfrm>
        </p:spPr>
        <p:txBody>
          <a:bodyPr rtlCol="0" anchor="b">
            <a:normAutofit/>
          </a:bodyPr>
          <a:lstStyle>
            <a:lvl1pPr algn="l" rtl="0">
              <a:defRPr sz="2800" b="0" cap="all" spc="200" baseline="0">
                <a:solidFill>
                  <a:schemeClr val="accent1"/>
                </a:solidFill>
              </a:defRPr>
            </a:lvl1pPr>
          </a:lstStyle>
          <a:p>
            <a:pPr rtl="0"/>
            <a:r>
              <a:rPr lang="it-IT"/>
              <a:t>Fare clic per modificare lo stile del titolo dello schema</a:t>
            </a:r>
            <a:endParaRPr lang="it-IT" dirty="0"/>
          </a:p>
        </p:txBody>
      </p:sp>
      <p:sp>
        <p:nvSpPr>
          <p:cNvPr id="4" name="Segnaposto testo 3"/>
          <p:cNvSpPr>
            <a:spLocks noGrp="1"/>
          </p:cNvSpPr>
          <p:nvPr>
            <p:ph type="body" sz="half" idx="2"/>
          </p:nvPr>
        </p:nvSpPr>
        <p:spPr>
          <a:xfrm>
            <a:off x="1218882" y="4241800"/>
            <a:ext cx="4062942" cy="1930400"/>
          </a:xfrm>
        </p:spPr>
        <p:txBody>
          <a:bodyPr rtlCol="0">
            <a:normAutofit/>
          </a:bodyPr>
          <a:lstStyle>
            <a:lvl1pPr marL="0" indent="0" algn="l" rtl="0">
              <a:buNone/>
              <a:defRPr sz="2000"/>
            </a:lvl1pPr>
            <a:lvl2pPr marL="609493" indent="0" algn="l" rtl="0">
              <a:buNone/>
              <a:defRPr sz="1600"/>
            </a:lvl2pPr>
            <a:lvl3pPr marL="1218987" indent="0" algn="l" rtl="0">
              <a:buNone/>
              <a:defRPr sz="1300"/>
            </a:lvl3pPr>
            <a:lvl4pPr marL="1828480" indent="0" algn="l" rtl="0">
              <a:buNone/>
              <a:defRPr sz="1200"/>
            </a:lvl4pPr>
            <a:lvl5pPr marL="2437973" indent="0" algn="l" rtl="0">
              <a:buNone/>
              <a:defRPr sz="1200"/>
            </a:lvl5pPr>
            <a:lvl6pPr marL="3047467" indent="0" algn="l" rtl="0">
              <a:buNone/>
              <a:defRPr sz="1200"/>
            </a:lvl6pPr>
            <a:lvl7pPr marL="3656960" indent="0" algn="l" rtl="0">
              <a:buNone/>
              <a:defRPr sz="1200"/>
            </a:lvl7pPr>
            <a:lvl8pPr marL="4266453" indent="0" algn="l" rtl="0">
              <a:buNone/>
              <a:defRPr sz="1200"/>
            </a:lvl8pPr>
            <a:lvl9pPr marL="4875947" indent="0" algn="l" rtl="0">
              <a:buNone/>
              <a:defRPr sz="1200"/>
            </a:lvl9pPr>
          </a:lstStyle>
          <a:p>
            <a:pPr lvl="0" rtl="0"/>
            <a:r>
              <a:rPr lang="it-IT"/>
              <a:t>Fare clic per modificare gli stili del testo dello schema</a:t>
            </a:r>
          </a:p>
        </p:txBody>
      </p:sp>
      <p:sp>
        <p:nvSpPr>
          <p:cNvPr id="3" name="Segnaposto contenuto 2"/>
          <p:cNvSpPr>
            <a:spLocks noGrp="1"/>
          </p:cNvSpPr>
          <p:nvPr>
            <p:ph idx="1"/>
          </p:nvPr>
        </p:nvSpPr>
        <p:spPr>
          <a:xfrm>
            <a:off x="5484971" y="584200"/>
            <a:ext cx="6094413" cy="5588000"/>
          </a:xfrm>
        </p:spPr>
        <p:txBody>
          <a:bodyPr rtlCol="0">
            <a:normAutofit/>
          </a:bodyPr>
          <a:lstStyle>
            <a:lvl1pPr algn="l" rtl="0">
              <a:defRPr sz="2800"/>
            </a:lvl1pPr>
            <a:lvl2pPr algn="l" rtl="0">
              <a:defRPr sz="2400"/>
            </a:lvl2pPr>
            <a:lvl3pPr algn="l" rtl="0">
              <a:defRPr sz="2000"/>
            </a:lvl3pPr>
            <a:lvl4pPr algn="l" rtl="0">
              <a:defRPr sz="2000"/>
            </a:lvl4pPr>
            <a:lvl5pPr algn="l" rtl="0">
              <a:defRPr sz="2000"/>
            </a:lvl5pPr>
            <a:lvl6pPr algn="l" rtl="0">
              <a:defRPr sz="2000"/>
            </a:lvl6pPr>
            <a:lvl7pPr algn="l" rtl="0">
              <a:defRPr sz="2000"/>
            </a:lvl7pPr>
            <a:lvl8pPr algn="l" rtl="0">
              <a:defRPr sz="2000" baseline="0"/>
            </a:lvl8pPr>
            <a:lvl9pPr algn="l" rtl="0">
              <a:defRPr sz="2000" baseline="0"/>
            </a:lvl9pPr>
          </a:lstStyle>
          <a:p>
            <a:pPr lvl="0" rtl="0"/>
            <a:r>
              <a:rPr lang="it-IT"/>
              <a:t>Fare clic per modificare gli stili del testo dello schema</a:t>
            </a:r>
          </a:p>
          <a:p>
            <a:pPr lvl="1" rtl="0"/>
            <a:r>
              <a:rPr lang="it-IT"/>
              <a:t>Secondo livello</a:t>
            </a:r>
          </a:p>
          <a:p>
            <a:pPr lvl="2" rtl="0"/>
            <a:r>
              <a:rPr lang="it-IT"/>
              <a:t>Terzo livello</a:t>
            </a:r>
          </a:p>
          <a:p>
            <a:pPr lvl="3" rtl="0"/>
            <a:r>
              <a:rPr lang="it-IT"/>
              <a:t>Quarto livello</a:t>
            </a:r>
          </a:p>
          <a:p>
            <a:pPr lvl="4" rtl="0"/>
            <a:r>
              <a:rPr lang="it-IT"/>
              <a:t>Quinto livello</a:t>
            </a:r>
            <a:endParaRPr lang="it-IT" dirty="0"/>
          </a:p>
        </p:txBody>
      </p:sp>
      <p:sp>
        <p:nvSpPr>
          <p:cNvPr id="5" name="Segnaposto data 4"/>
          <p:cNvSpPr>
            <a:spLocks noGrp="1"/>
          </p:cNvSpPr>
          <p:nvPr>
            <p:ph type="dt" sz="half" idx="10"/>
          </p:nvPr>
        </p:nvSpPr>
        <p:spPr/>
        <p:txBody>
          <a:bodyPr rtlCol="0"/>
          <a:lstStyle>
            <a:lvl1pPr>
              <a:defRPr/>
            </a:lvl1pPr>
          </a:lstStyle>
          <a:p>
            <a:fld id="{1F9867D3-FC26-40B1-8BB9-B19FF8D6CD45}" type="datetime1">
              <a:rPr lang="it-IT" smtClean="0"/>
              <a:pPr/>
              <a:t>10/02/2025</a:t>
            </a:fld>
            <a:endParaRPr lang="it-IT" dirty="0"/>
          </a:p>
        </p:txBody>
      </p:sp>
      <p:sp>
        <p:nvSpPr>
          <p:cNvPr id="6" name="Segnaposto piè di pagina 5"/>
          <p:cNvSpPr>
            <a:spLocks noGrp="1"/>
          </p:cNvSpPr>
          <p:nvPr>
            <p:ph type="ftr" sz="quarter" idx="11"/>
          </p:nvPr>
        </p:nvSpPr>
        <p:spPr/>
        <p:txBody>
          <a:bodyPr rtlCol="0"/>
          <a:lstStyle/>
          <a:p>
            <a:pPr rtl="0"/>
            <a:endParaRPr lang="it-IT" dirty="0"/>
          </a:p>
        </p:txBody>
      </p:sp>
      <p:sp>
        <p:nvSpPr>
          <p:cNvPr id="7" name="Segnaposto numero diapositiva 6"/>
          <p:cNvSpPr>
            <a:spLocks noGrp="1"/>
          </p:cNvSpPr>
          <p:nvPr>
            <p:ph type="sldNum" sz="quarter" idx="12"/>
          </p:nvPr>
        </p:nvSpPr>
        <p:spPr/>
        <p:txBody>
          <a:bodyPr rtlCol="0"/>
          <a:lstStyle/>
          <a:p>
            <a:pPr rtl="0"/>
            <a:fld id="{C014DD1E-5D91-48A3-AD6D-45FBA980D106}" type="slidenum">
              <a:rPr lang="it-IT" smtClean="0"/>
              <a:t>‹N›</a:t>
            </a:fld>
            <a:endParaRPr lang="it-IT" dirty="0"/>
          </a:p>
        </p:txBody>
      </p:sp>
    </p:spTree>
    <p:extLst>
      <p:ext uri="{BB962C8B-B14F-4D97-AF65-F5344CB8AC3E}">
        <p14:creationId xmlns:p14="http://schemas.microsoft.com/office/powerpoint/2010/main" val="161813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218882" y="1701800"/>
            <a:ext cx="4062942" cy="2438400"/>
          </a:xfrm>
        </p:spPr>
        <p:txBody>
          <a:bodyPr rtlCol="0" anchor="b">
            <a:normAutofit/>
          </a:bodyPr>
          <a:lstStyle>
            <a:lvl1pPr algn="l" rtl="0">
              <a:defRPr sz="2800" b="0" cap="all" spc="200" baseline="0">
                <a:solidFill>
                  <a:schemeClr val="accent1"/>
                </a:solidFill>
              </a:defRPr>
            </a:lvl1pPr>
          </a:lstStyle>
          <a:p>
            <a:pPr rtl="0"/>
            <a:r>
              <a:rPr lang="it-IT"/>
              <a:t>Fare clic per modificare lo stile del titolo dello schema</a:t>
            </a:r>
            <a:endParaRPr lang="it-IT" dirty="0"/>
          </a:p>
        </p:txBody>
      </p:sp>
      <p:sp>
        <p:nvSpPr>
          <p:cNvPr id="4" name="Segnaposto testo 3"/>
          <p:cNvSpPr>
            <a:spLocks noGrp="1"/>
          </p:cNvSpPr>
          <p:nvPr>
            <p:ph type="body" sz="half" idx="2"/>
          </p:nvPr>
        </p:nvSpPr>
        <p:spPr>
          <a:xfrm>
            <a:off x="1218882" y="4241800"/>
            <a:ext cx="4062942" cy="1930400"/>
          </a:xfrm>
        </p:spPr>
        <p:txBody>
          <a:bodyPr rtlCol="0">
            <a:normAutofit/>
          </a:bodyPr>
          <a:lstStyle>
            <a:lvl1pPr marL="0" indent="0" algn="l" rtl="0">
              <a:buNone/>
              <a:defRPr sz="2000"/>
            </a:lvl1pPr>
            <a:lvl2pPr marL="609493" indent="0" algn="l" rtl="0">
              <a:buNone/>
              <a:defRPr sz="1600"/>
            </a:lvl2pPr>
            <a:lvl3pPr marL="1218987" indent="0" algn="l" rtl="0">
              <a:buNone/>
              <a:defRPr sz="1300"/>
            </a:lvl3pPr>
            <a:lvl4pPr marL="1828480" indent="0" algn="l" rtl="0">
              <a:buNone/>
              <a:defRPr sz="1200"/>
            </a:lvl4pPr>
            <a:lvl5pPr marL="2437973" indent="0" algn="l" rtl="0">
              <a:buNone/>
              <a:defRPr sz="1200"/>
            </a:lvl5pPr>
            <a:lvl6pPr marL="3047467" indent="0" algn="l" rtl="0">
              <a:buNone/>
              <a:defRPr sz="1200"/>
            </a:lvl6pPr>
            <a:lvl7pPr marL="3656960" indent="0" algn="l" rtl="0">
              <a:buNone/>
              <a:defRPr sz="1200"/>
            </a:lvl7pPr>
            <a:lvl8pPr marL="4266453" indent="0" algn="l" rtl="0">
              <a:buNone/>
              <a:defRPr sz="1200"/>
            </a:lvl8pPr>
            <a:lvl9pPr marL="4875947" indent="0" algn="l" rtl="0">
              <a:buNone/>
              <a:defRPr sz="1200"/>
            </a:lvl9pPr>
          </a:lstStyle>
          <a:p>
            <a:pPr lvl="0" rtl="0"/>
            <a:r>
              <a:rPr lang="it-IT"/>
              <a:t>Fare clic per modificare gli stili del testo dello schema</a:t>
            </a:r>
          </a:p>
        </p:txBody>
      </p:sp>
      <p:sp>
        <p:nvSpPr>
          <p:cNvPr id="3" name="Segnaposto immagine 2" descr="Segnaposto vuoto per aggiungere un'immagine. Fare clic sul segnaposto e selezionare l'immagine che si vuole aggiungere."/>
          <p:cNvSpPr>
            <a:spLocks noGrp="1"/>
          </p:cNvSpPr>
          <p:nvPr>
            <p:ph type="pic" idx="1"/>
          </p:nvPr>
        </p:nvSpPr>
        <p:spPr>
          <a:xfrm>
            <a:off x="5484971" y="584200"/>
            <a:ext cx="6094413" cy="5588000"/>
          </a:xfrm>
          <a:ln w="12700">
            <a:solidFill>
              <a:schemeClr val="bg1">
                <a:lumMod val="75000"/>
                <a:lumOff val="25000"/>
              </a:schemeClr>
            </a:solidFill>
            <a:miter lim="800000"/>
          </a:ln>
        </p:spPr>
        <p:txBody>
          <a:bodyPr rtlCol="0">
            <a:normAutofit/>
          </a:bodyPr>
          <a:lstStyle>
            <a:lvl1pPr marL="0" indent="0" algn="l" rtl="0">
              <a:buNone/>
              <a:defRPr sz="2800"/>
            </a:lvl1pPr>
            <a:lvl2pPr marL="609493" indent="0" algn="l" rtl="0">
              <a:buNone/>
              <a:defRPr sz="3700"/>
            </a:lvl2pPr>
            <a:lvl3pPr marL="1218987" indent="0" algn="l" rtl="0">
              <a:buNone/>
              <a:defRPr sz="3200"/>
            </a:lvl3pPr>
            <a:lvl4pPr marL="1828480" indent="0" algn="l" rtl="0">
              <a:buNone/>
              <a:defRPr sz="2700"/>
            </a:lvl4pPr>
            <a:lvl5pPr marL="2437973" indent="0" algn="l" rtl="0">
              <a:buNone/>
              <a:defRPr sz="2700"/>
            </a:lvl5pPr>
            <a:lvl6pPr marL="3047467" indent="0" algn="l" rtl="0">
              <a:buNone/>
              <a:defRPr sz="2700"/>
            </a:lvl6pPr>
            <a:lvl7pPr marL="3656960" indent="0" algn="l" rtl="0">
              <a:buNone/>
              <a:defRPr sz="2700"/>
            </a:lvl7pPr>
            <a:lvl8pPr marL="4266453" indent="0" algn="l" rtl="0">
              <a:buNone/>
              <a:defRPr sz="2700"/>
            </a:lvl8pPr>
            <a:lvl9pPr marL="4875947" indent="0" algn="l" rtl="0">
              <a:buNone/>
              <a:defRPr sz="2700"/>
            </a:lvl9pPr>
          </a:lstStyle>
          <a:p>
            <a:pPr rtl="0"/>
            <a:r>
              <a:rPr lang="it-IT"/>
              <a:t>Fare clic sull'icona per inserire un'immagine</a:t>
            </a:r>
            <a:endParaRPr lang="it-IT" dirty="0"/>
          </a:p>
        </p:txBody>
      </p:sp>
      <p:sp>
        <p:nvSpPr>
          <p:cNvPr id="5" name="Segnaposto data 4"/>
          <p:cNvSpPr>
            <a:spLocks noGrp="1"/>
          </p:cNvSpPr>
          <p:nvPr>
            <p:ph type="dt" sz="half" idx="10"/>
          </p:nvPr>
        </p:nvSpPr>
        <p:spPr/>
        <p:txBody>
          <a:bodyPr rtlCol="0"/>
          <a:lstStyle>
            <a:lvl1pPr>
              <a:defRPr/>
            </a:lvl1pPr>
          </a:lstStyle>
          <a:p>
            <a:fld id="{5B0EE21F-92EE-4289-AFFB-9252D957F459}" type="datetime1">
              <a:rPr lang="it-IT" smtClean="0"/>
              <a:pPr/>
              <a:t>10/02/2025</a:t>
            </a:fld>
            <a:endParaRPr lang="it-IT" dirty="0"/>
          </a:p>
        </p:txBody>
      </p:sp>
      <p:sp>
        <p:nvSpPr>
          <p:cNvPr id="6" name="Segnaposto piè di pagina 5"/>
          <p:cNvSpPr>
            <a:spLocks noGrp="1"/>
          </p:cNvSpPr>
          <p:nvPr>
            <p:ph type="ftr" sz="quarter" idx="11"/>
          </p:nvPr>
        </p:nvSpPr>
        <p:spPr/>
        <p:txBody>
          <a:bodyPr rtlCol="0"/>
          <a:lstStyle/>
          <a:p>
            <a:pPr rtl="0"/>
            <a:endParaRPr lang="it-IT" dirty="0"/>
          </a:p>
        </p:txBody>
      </p:sp>
      <p:sp>
        <p:nvSpPr>
          <p:cNvPr id="7" name="Segnaposto numero diapositiva 6"/>
          <p:cNvSpPr>
            <a:spLocks noGrp="1"/>
          </p:cNvSpPr>
          <p:nvPr>
            <p:ph type="sldNum" sz="quarter" idx="12"/>
          </p:nvPr>
        </p:nvSpPr>
        <p:spPr/>
        <p:txBody>
          <a:bodyPr rtlCol="0"/>
          <a:lstStyle/>
          <a:p>
            <a:pPr rtl="0"/>
            <a:fld id="{C014DD1E-5D91-48A3-AD6D-45FBA980D106}" type="slidenum">
              <a:rPr lang="it-IT" smtClean="0"/>
              <a:t>‹N›</a:t>
            </a:fld>
            <a:endParaRPr lang="it-IT" dirty="0"/>
          </a:p>
        </p:txBody>
      </p:sp>
    </p:spTree>
    <p:extLst>
      <p:ext uri="{BB962C8B-B14F-4D97-AF65-F5344CB8AC3E}">
        <p14:creationId xmlns:p14="http://schemas.microsoft.com/office/powerpoint/2010/main" val="422343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rtlCol="0"/>
          <a:lstStyle/>
          <a:p>
            <a:pPr rtl="0"/>
            <a:r>
              <a:rPr lang="it-IT"/>
              <a:t>Fare clic per modificare lo stile del titolo dello schema</a:t>
            </a:r>
            <a:endParaRPr lang="it-IT" dirty="0"/>
          </a:p>
        </p:txBody>
      </p:sp>
      <p:sp>
        <p:nvSpPr>
          <p:cNvPr id="3" name="Segnaposto testo verticale 2"/>
          <p:cNvSpPr>
            <a:spLocks noGrp="1"/>
          </p:cNvSpPr>
          <p:nvPr>
            <p:ph type="body" orient="vert" idx="1"/>
          </p:nvPr>
        </p:nvSpPr>
        <p:spPr/>
        <p:txBody>
          <a:bodyPr vert="eaVert" rtlCol="0"/>
          <a:lstStyle>
            <a:lvl5pPr algn="l" rtl="0">
              <a:defRPr/>
            </a:lvl5pPr>
            <a:lvl6pPr algn="l" rtl="0">
              <a:defRPr/>
            </a:lvl6pPr>
            <a:lvl7pPr algn="l" rtl="0">
              <a:defRPr/>
            </a:lvl7pPr>
            <a:lvl8pPr algn="l" rtl="0">
              <a:defRPr baseline="0"/>
            </a:lvl8pPr>
            <a:lvl9pPr algn="l" rtl="0">
              <a:defRPr baseline="0"/>
            </a:lvl9pPr>
          </a:lstStyle>
          <a:p>
            <a:pPr lvl="0" rtl="0"/>
            <a:r>
              <a:rPr lang="it-IT"/>
              <a:t>Fare clic per modificare gli stili del testo dello schema</a:t>
            </a:r>
          </a:p>
          <a:p>
            <a:pPr lvl="1" rtl="0"/>
            <a:r>
              <a:rPr lang="it-IT"/>
              <a:t>Secondo livello</a:t>
            </a:r>
          </a:p>
          <a:p>
            <a:pPr lvl="2" rtl="0"/>
            <a:r>
              <a:rPr lang="it-IT"/>
              <a:t>Terzo livello</a:t>
            </a:r>
          </a:p>
          <a:p>
            <a:pPr lvl="3" rtl="0"/>
            <a:r>
              <a:rPr lang="it-IT"/>
              <a:t>Quarto livello</a:t>
            </a:r>
          </a:p>
          <a:p>
            <a:pPr lvl="4" rtl="0"/>
            <a:r>
              <a:rPr lang="it-IT"/>
              <a:t>Quinto livello</a:t>
            </a:r>
            <a:endParaRPr lang="it-IT" dirty="0"/>
          </a:p>
        </p:txBody>
      </p:sp>
      <p:sp>
        <p:nvSpPr>
          <p:cNvPr id="4" name="Segnaposto data 3"/>
          <p:cNvSpPr>
            <a:spLocks noGrp="1"/>
          </p:cNvSpPr>
          <p:nvPr>
            <p:ph type="dt" sz="half" idx="10"/>
          </p:nvPr>
        </p:nvSpPr>
        <p:spPr/>
        <p:txBody>
          <a:bodyPr rtlCol="0"/>
          <a:lstStyle>
            <a:lvl1pPr>
              <a:defRPr/>
            </a:lvl1pPr>
          </a:lstStyle>
          <a:p>
            <a:fld id="{6E724BBD-5BEA-4971-A6C4-42E94AF7CB5F}" type="datetime1">
              <a:rPr lang="it-IT" smtClean="0"/>
              <a:pPr/>
              <a:t>10/02/2025</a:t>
            </a:fld>
            <a:endParaRPr lang="it-IT" dirty="0"/>
          </a:p>
        </p:txBody>
      </p:sp>
      <p:sp>
        <p:nvSpPr>
          <p:cNvPr id="5" name="Segnaposto piè di pagina 4"/>
          <p:cNvSpPr>
            <a:spLocks noGrp="1"/>
          </p:cNvSpPr>
          <p:nvPr>
            <p:ph type="ftr" sz="quarter" idx="11"/>
          </p:nvPr>
        </p:nvSpPr>
        <p:spPr/>
        <p:txBody>
          <a:bodyPr rtlCol="0"/>
          <a:lstStyle/>
          <a:p>
            <a:pPr rtl="0"/>
            <a:endParaRPr lang="it-IT" dirty="0"/>
          </a:p>
        </p:txBody>
      </p:sp>
      <p:sp>
        <p:nvSpPr>
          <p:cNvPr id="6" name="Segnaposto numero diapositiva 5"/>
          <p:cNvSpPr>
            <a:spLocks noGrp="1"/>
          </p:cNvSpPr>
          <p:nvPr>
            <p:ph type="sldNum" sz="quarter" idx="12"/>
          </p:nvPr>
        </p:nvSpPr>
        <p:spPr/>
        <p:txBody>
          <a:bodyPr rtlCol="0"/>
          <a:lstStyle/>
          <a:p>
            <a:pPr rtl="0"/>
            <a:fld id="{C014DD1E-5D91-48A3-AD6D-45FBA980D106}" type="slidenum">
              <a:rPr lang="it-IT" smtClean="0"/>
              <a:t>‹N›</a:t>
            </a:fld>
            <a:endParaRPr lang="it-IT" dirty="0"/>
          </a:p>
        </p:txBody>
      </p:sp>
    </p:spTree>
    <p:extLst>
      <p:ext uri="{BB962C8B-B14F-4D97-AF65-F5344CB8AC3E}">
        <p14:creationId xmlns:p14="http://schemas.microsoft.com/office/powerpoint/2010/main" val="199667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836898" y="584200"/>
            <a:ext cx="2742486" cy="5588000"/>
          </a:xfrm>
        </p:spPr>
        <p:txBody>
          <a:bodyPr vert="eaVert" rtlCol="0"/>
          <a:lstStyle/>
          <a:p>
            <a:pPr rtl="0"/>
            <a:r>
              <a:rPr lang="it-IT"/>
              <a:t>Fare clic per modificare lo stile del titolo dello schema</a:t>
            </a:r>
            <a:endParaRPr lang="it-IT" dirty="0"/>
          </a:p>
        </p:txBody>
      </p:sp>
      <p:sp>
        <p:nvSpPr>
          <p:cNvPr id="3" name="Segnaposto testo verticale 2"/>
          <p:cNvSpPr>
            <a:spLocks noGrp="1"/>
          </p:cNvSpPr>
          <p:nvPr>
            <p:ph type="body" orient="vert" idx="1"/>
          </p:nvPr>
        </p:nvSpPr>
        <p:spPr>
          <a:xfrm>
            <a:off x="1218882" y="584200"/>
            <a:ext cx="7414869" cy="5588000"/>
          </a:xfrm>
        </p:spPr>
        <p:txBody>
          <a:bodyPr vert="eaVert" rtlCol="0"/>
          <a:lstStyle>
            <a:lvl5pPr algn="l" rtl="0">
              <a:defRPr/>
            </a:lvl5pPr>
            <a:lvl6pPr algn="l" rtl="0">
              <a:defRPr/>
            </a:lvl6pPr>
            <a:lvl7pPr algn="l" rtl="0">
              <a:defRPr/>
            </a:lvl7pPr>
            <a:lvl8pPr algn="l" rtl="0">
              <a:defRPr/>
            </a:lvl8pPr>
            <a:lvl9pPr algn="l" rtl="0">
              <a:defRPr/>
            </a:lvl9pPr>
          </a:lstStyle>
          <a:p>
            <a:pPr lvl="0" rtl="0"/>
            <a:r>
              <a:rPr lang="it-IT"/>
              <a:t>Fare clic per modificare gli stili del testo dello schema</a:t>
            </a:r>
          </a:p>
          <a:p>
            <a:pPr lvl="1" rtl="0"/>
            <a:r>
              <a:rPr lang="it-IT"/>
              <a:t>Secondo livello</a:t>
            </a:r>
          </a:p>
          <a:p>
            <a:pPr lvl="2" rtl="0"/>
            <a:r>
              <a:rPr lang="it-IT"/>
              <a:t>Terzo livello</a:t>
            </a:r>
          </a:p>
          <a:p>
            <a:pPr lvl="3" rtl="0"/>
            <a:r>
              <a:rPr lang="it-IT"/>
              <a:t>Quarto livello</a:t>
            </a:r>
          </a:p>
          <a:p>
            <a:pPr lvl="4" rtl="0"/>
            <a:r>
              <a:rPr lang="it-IT"/>
              <a:t>Quinto livello</a:t>
            </a:r>
            <a:endParaRPr lang="it-IT" dirty="0"/>
          </a:p>
        </p:txBody>
      </p:sp>
      <p:sp>
        <p:nvSpPr>
          <p:cNvPr id="4" name="Segnaposto data 3"/>
          <p:cNvSpPr>
            <a:spLocks noGrp="1"/>
          </p:cNvSpPr>
          <p:nvPr>
            <p:ph type="dt" sz="half" idx="10"/>
          </p:nvPr>
        </p:nvSpPr>
        <p:spPr/>
        <p:txBody>
          <a:bodyPr rtlCol="0"/>
          <a:lstStyle>
            <a:lvl1pPr>
              <a:defRPr/>
            </a:lvl1pPr>
          </a:lstStyle>
          <a:p>
            <a:fld id="{EF1B2188-7D8C-43C8-B29F-60D01DE77B72}" type="datetime1">
              <a:rPr lang="it-IT" smtClean="0"/>
              <a:pPr/>
              <a:t>10/02/2025</a:t>
            </a:fld>
            <a:endParaRPr lang="it-IT" dirty="0"/>
          </a:p>
        </p:txBody>
      </p:sp>
      <p:sp>
        <p:nvSpPr>
          <p:cNvPr id="5" name="Segnaposto piè di pagina 4"/>
          <p:cNvSpPr>
            <a:spLocks noGrp="1"/>
          </p:cNvSpPr>
          <p:nvPr>
            <p:ph type="ftr" sz="quarter" idx="11"/>
          </p:nvPr>
        </p:nvSpPr>
        <p:spPr/>
        <p:txBody>
          <a:bodyPr rtlCol="0"/>
          <a:lstStyle/>
          <a:p>
            <a:pPr rtl="0"/>
            <a:endParaRPr lang="it-IT" dirty="0"/>
          </a:p>
        </p:txBody>
      </p:sp>
      <p:sp>
        <p:nvSpPr>
          <p:cNvPr id="6" name="Segnaposto numero diapositiva 5"/>
          <p:cNvSpPr>
            <a:spLocks noGrp="1"/>
          </p:cNvSpPr>
          <p:nvPr>
            <p:ph type="sldNum" sz="quarter" idx="12"/>
          </p:nvPr>
        </p:nvSpPr>
        <p:spPr/>
        <p:txBody>
          <a:bodyPr rtlCol="0"/>
          <a:lstStyle/>
          <a:p>
            <a:pPr rtl="0"/>
            <a:fld id="{C014DD1E-5D91-48A3-AD6D-45FBA980D106}" type="slidenum">
              <a:rPr lang="it-IT" smtClean="0"/>
              <a:t>‹N›</a:t>
            </a:fld>
            <a:endParaRPr lang="it-IT" dirty="0"/>
          </a:p>
        </p:txBody>
      </p:sp>
    </p:spTree>
    <p:extLst>
      <p:ext uri="{BB962C8B-B14F-4D97-AF65-F5344CB8AC3E}">
        <p14:creationId xmlns:p14="http://schemas.microsoft.com/office/powerpoint/2010/main" val="59588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Diapositiva titolo">
    <p:spTree>
      <p:nvGrpSpPr>
        <p:cNvPr id="1" name=""/>
        <p:cNvGrpSpPr/>
        <p:nvPr/>
      </p:nvGrpSpPr>
      <p:grpSpPr>
        <a:xfrm>
          <a:off x="0" y="0"/>
          <a:ext cx="0" cy="0"/>
          <a:chOff x="0" y="0"/>
          <a:chExt cx="0" cy="0"/>
        </a:xfrm>
      </p:grpSpPr>
      <p:sp>
        <p:nvSpPr>
          <p:cNvPr id="17" name="PlaceHolder 1"/>
          <p:cNvSpPr>
            <a:spLocks noGrp="1"/>
          </p:cNvSpPr>
          <p:nvPr>
            <p:ph type="title"/>
          </p:nvPr>
        </p:nvSpPr>
        <p:spPr>
          <a:xfrm>
            <a:off x="1218960" y="274680"/>
            <a:ext cx="10359720" cy="1223280"/>
          </a:xfrm>
          <a:prstGeom prst="rect">
            <a:avLst/>
          </a:prstGeom>
          <a:noFill/>
          <a:ln w="0">
            <a:noFill/>
          </a:ln>
        </p:spPr>
        <p:txBody>
          <a:bodyPr lIns="0" tIns="0" rIns="0" bIns="0" anchor="ctr">
            <a:noAutofit/>
          </a:bodyPr>
          <a:lstStyle/>
          <a:p>
            <a:pPr indent="0" algn="ctr">
              <a:buNone/>
            </a:pPr>
            <a:endParaRPr lang="en-GB" sz="4400" b="0" u="none" strike="noStrike">
              <a:solidFill>
                <a:srgbClr val="FFFFFF"/>
              </a:solidFill>
              <a:uFillTx/>
              <a:latin typeface="Arial"/>
            </a:endParaRPr>
          </a:p>
        </p:txBody>
      </p:sp>
      <p:sp>
        <p:nvSpPr>
          <p:cNvPr id="18" name="PlaceHolder 2"/>
          <p:cNvSpPr>
            <a:spLocks noGrp="1"/>
          </p:cNvSpPr>
          <p:nvPr>
            <p:ph type="subTitle"/>
          </p:nvPr>
        </p:nvSpPr>
        <p:spPr>
          <a:xfrm>
            <a:off x="609120" y="1604520"/>
            <a:ext cx="10969560" cy="3977280"/>
          </a:xfrm>
          <a:prstGeom prst="rect">
            <a:avLst/>
          </a:prstGeom>
          <a:noFill/>
          <a:ln w="0">
            <a:noFill/>
          </a:ln>
        </p:spPr>
        <p:txBody>
          <a:bodyPr lIns="0" tIns="0" rIns="0" bIns="0" anchor="ctr">
            <a:noAutofit/>
          </a:bodyPr>
          <a:lstStyle/>
          <a:p>
            <a:pPr indent="0" algn="ctr">
              <a:buNone/>
            </a:pPr>
            <a:endParaRPr lang="en-GB" sz="3200" b="0" u="none" strike="noStrike">
              <a:solidFill>
                <a:srgbClr val="FFFFFF"/>
              </a:solidFill>
              <a:uFillTx/>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63355210-4B5C-44B7-8753-7859FB7FB827}" type="slidenum">
              <a:t>‹N›</a:t>
            </a:fld>
            <a:endParaRPr/>
          </a:p>
        </p:txBody>
      </p:sp>
      <p:sp>
        <p:nvSpPr>
          <p:cNvPr id="6" name="PlaceHolder 5"/>
          <p:cNvSpPr>
            <a:spLocks noGrp="1"/>
          </p:cNvSpPr>
          <p:nvPr>
            <p:ph type="dt" idx="3"/>
          </p:nvPr>
        </p:nvSpPr>
        <p:spPr/>
        <p:txBody>
          <a:bodyPr/>
          <a:lstStyle/>
          <a:p>
            <a:endParaRPr/>
          </a:p>
        </p:txBody>
      </p:sp>
    </p:spTree>
    <p:extLst>
      <p:ext uri="{BB962C8B-B14F-4D97-AF65-F5344CB8AC3E}">
        <p14:creationId xmlns:p14="http://schemas.microsoft.com/office/powerpoint/2010/main" val="9159415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Default 7">
    <p:spTree>
      <p:nvGrpSpPr>
        <p:cNvPr id="1" name=""/>
        <p:cNvGrpSpPr/>
        <p:nvPr/>
      </p:nvGrpSpPr>
      <p:grpSpPr>
        <a:xfrm>
          <a:off x="0" y="0"/>
          <a:ext cx="0" cy="0"/>
          <a:chOff x="0" y="0"/>
          <a:chExt cx="0" cy="0"/>
        </a:xfrm>
      </p:grpSpPr>
      <p:sp>
        <p:nvSpPr>
          <p:cNvPr id="113" name="PlaceHolder 1"/>
          <p:cNvSpPr>
            <a:spLocks noGrp="1"/>
          </p:cNvSpPr>
          <p:nvPr>
            <p:ph type="title"/>
          </p:nvPr>
        </p:nvSpPr>
        <p:spPr>
          <a:xfrm>
            <a:off x="1218960" y="274680"/>
            <a:ext cx="10359720" cy="1223280"/>
          </a:xfrm>
          <a:prstGeom prst="rect">
            <a:avLst/>
          </a:prstGeom>
          <a:noFill/>
          <a:ln w="0">
            <a:noFill/>
          </a:ln>
        </p:spPr>
        <p:txBody>
          <a:bodyPr lIns="0" tIns="0" rIns="0" bIns="0" anchor="ctr">
            <a:noAutofit/>
          </a:bodyPr>
          <a:lstStyle/>
          <a:p>
            <a:pPr indent="0" algn="ctr">
              <a:buNone/>
            </a:pPr>
            <a:endParaRPr lang="en-GB" sz="4400" b="0" u="none" strike="noStrike">
              <a:solidFill>
                <a:srgbClr val="FFFFFF"/>
              </a:solidFill>
              <a:uFillTx/>
              <a:latin typeface="Arial"/>
            </a:endParaRPr>
          </a:p>
        </p:txBody>
      </p:sp>
      <p:sp>
        <p:nvSpPr>
          <p:cNvPr id="114" name="PlaceHolder 2"/>
          <p:cNvSpPr>
            <a:spLocks noGrp="1"/>
          </p:cNvSpPr>
          <p:nvPr>
            <p:ph/>
          </p:nvPr>
        </p:nvSpPr>
        <p:spPr>
          <a:xfrm>
            <a:off x="609120" y="1604520"/>
            <a:ext cx="10969560" cy="3977280"/>
          </a:xfrm>
          <a:prstGeom prst="rect">
            <a:avLst/>
          </a:prstGeom>
          <a:noFill/>
          <a:ln w="0">
            <a:noFill/>
          </a:ln>
        </p:spPr>
        <p:txBody>
          <a:bodyPr lIns="0" tIns="0" rIns="0" bIns="0" anchor="t">
            <a:normAutofit/>
          </a:bodyPr>
          <a:lstStyle/>
          <a:p>
            <a:pPr indent="0">
              <a:spcBef>
                <a:spcPts val="1417"/>
              </a:spcBef>
              <a:buNone/>
            </a:pPr>
            <a:endParaRPr lang="en-GB" sz="3200" b="0" u="none" strike="noStrike">
              <a:solidFill>
                <a:srgbClr val="FFFFFF"/>
              </a:solidFill>
              <a:uFillTx/>
              <a:latin typeface="Arial"/>
            </a:endParaRPr>
          </a:p>
        </p:txBody>
      </p:sp>
      <p:sp>
        <p:nvSpPr>
          <p:cNvPr id="4" name="PlaceHolder 3"/>
          <p:cNvSpPr>
            <a:spLocks noGrp="1"/>
          </p:cNvSpPr>
          <p:nvPr>
            <p:ph type="ftr" idx="31"/>
          </p:nvPr>
        </p:nvSpPr>
        <p:spPr/>
        <p:txBody>
          <a:bodyPr/>
          <a:lstStyle/>
          <a:p>
            <a:r>
              <a:t>Footer</a:t>
            </a:r>
          </a:p>
        </p:txBody>
      </p:sp>
      <p:sp>
        <p:nvSpPr>
          <p:cNvPr id="5" name="PlaceHolder 4"/>
          <p:cNvSpPr>
            <a:spLocks noGrp="1"/>
          </p:cNvSpPr>
          <p:nvPr>
            <p:ph type="sldNum" idx="32"/>
          </p:nvPr>
        </p:nvSpPr>
        <p:spPr/>
        <p:txBody>
          <a:bodyPr/>
          <a:lstStyle/>
          <a:p>
            <a:fld id="{51E7F1A8-8047-43D6-A971-BEB2073E413F}" type="slidenum">
              <a:t>‹N›</a:t>
            </a:fld>
            <a:endParaRPr/>
          </a:p>
        </p:txBody>
      </p:sp>
      <p:sp>
        <p:nvSpPr>
          <p:cNvPr id="6" name="PlaceHolder 5"/>
          <p:cNvSpPr>
            <a:spLocks noGrp="1"/>
          </p:cNvSpPr>
          <p:nvPr>
            <p:ph type="dt" idx="33"/>
          </p:nvPr>
        </p:nvSpPr>
        <p:spPr/>
        <p:txBody>
          <a:bodyPr/>
          <a:lstStyle/>
          <a:p>
            <a:endParaRPr/>
          </a:p>
        </p:txBody>
      </p:sp>
    </p:spTree>
    <p:extLst>
      <p:ext uri="{BB962C8B-B14F-4D97-AF65-F5344CB8AC3E}">
        <p14:creationId xmlns:p14="http://schemas.microsoft.com/office/powerpoint/2010/main" val="3875497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5" name="linee a sinistra"/>
          <p:cNvGrpSpPr/>
          <p:nvPr/>
        </p:nvGrpSpPr>
        <p:grpSpPr>
          <a:xfrm>
            <a:off x="-15870" y="-3174"/>
            <a:ext cx="819993" cy="5229225"/>
            <a:chOff x="-11906" y="-2381"/>
            <a:chExt cx="615155" cy="3921919"/>
          </a:xfrm>
        </p:grpSpPr>
        <p:sp>
          <p:nvSpPr>
            <p:cNvPr id="10" name="Figura a mano libera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dirty="0">
                <a:latin typeface="CMU Serif" panose="02000603000000000000" pitchFamily="2" charset="0"/>
              </a:endParaRPr>
            </a:p>
          </p:txBody>
        </p:sp>
        <p:sp>
          <p:nvSpPr>
            <p:cNvPr id="11" name="Figura a mano libera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dirty="0">
                <a:latin typeface="CMU Serif" panose="02000603000000000000" pitchFamily="2" charset="0"/>
              </a:endParaRPr>
            </a:p>
          </p:txBody>
        </p:sp>
        <p:sp>
          <p:nvSpPr>
            <p:cNvPr id="14" name="Figura a mano libera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dirty="0">
                <a:latin typeface="CMU Serif" panose="02000603000000000000" pitchFamily="2" charset="0"/>
              </a:endParaRPr>
            </a:p>
          </p:txBody>
        </p:sp>
      </p:grpSp>
      <p:sp>
        <p:nvSpPr>
          <p:cNvPr id="2" name="Segnaposto titolo 1"/>
          <p:cNvSpPr>
            <a:spLocks noGrp="1"/>
          </p:cNvSpPr>
          <p:nvPr>
            <p:ph type="title"/>
          </p:nvPr>
        </p:nvSpPr>
        <p:spPr>
          <a:xfrm>
            <a:off x="1218883" y="274637"/>
            <a:ext cx="10360501" cy="1223963"/>
          </a:xfrm>
          <a:prstGeom prst="rect">
            <a:avLst/>
          </a:prstGeom>
        </p:spPr>
        <p:txBody>
          <a:bodyPr vert="horz" lIns="121899" tIns="60949" rIns="121899" bIns="60949" rtlCol="0" anchor="b">
            <a:normAutofit/>
          </a:bodyPr>
          <a:lstStyle/>
          <a:p>
            <a:pPr rtl="0"/>
            <a:r>
              <a:rPr lang="it-IT" dirty="0"/>
              <a:t>Fare clic per modificare lo stile del titolo</a:t>
            </a:r>
          </a:p>
        </p:txBody>
      </p:sp>
      <p:sp>
        <p:nvSpPr>
          <p:cNvPr id="3" name="Segnaposto testo 2"/>
          <p:cNvSpPr>
            <a:spLocks noGrp="1"/>
          </p:cNvSpPr>
          <p:nvPr>
            <p:ph type="body" idx="1"/>
          </p:nvPr>
        </p:nvSpPr>
        <p:spPr>
          <a:xfrm>
            <a:off x="1218883" y="1701797"/>
            <a:ext cx="10360501" cy="4462272"/>
          </a:xfrm>
          <a:prstGeom prst="rect">
            <a:avLst/>
          </a:prstGeom>
        </p:spPr>
        <p:txBody>
          <a:bodyPr vert="horz" lIns="121899" tIns="60949" rIns="121899" bIns="60949" rtlCol="0">
            <a:normAutofit/>
          </a:bodyPr>
          <a:lstStyle/>
          <a:p>
            <a:pPr lvl="0" rtl="0"/>
            <a:r>
              <a:rPr lang="it-IT" dirty="0"/>
              <a:t>Fare clic per modificare gli stili del testo dello schema</a:t>
            </a:r>
          </a:p>
          <a:p>
            <a:pPr lvl="1" rtl="0"/>
            <a:r>
              <a:rPr lang="it-IT" dirty="0"/>
              <a:t>Secondo livello</a:t>
            </a:r>
          </a:p>
          <a:p>
            <a:pPr lvl="2" rtl="0"/>
            <a:r>
              <a:rPr lang="it-IT" dirty="0"/>
              <a:t>Terzo livello</a:t>
            </a:r>
          </a:p>
          <a:p>
            <a:pPr lvl="3" rtl="0"/>
            <a:r>
              <a:rPr lang="it-IT" dirty="0"/>
              <a:t>Quarto livello</a:t>
            </a:r>
          </a:p>
          <a:p>
            <a:pPr lvl="4" rtl="0"/>
            <a:r>
              <a:rPr lang="it-IT" dirty="0"/>
              <a:t>Quinto livello</a:t>
            </a:r>
          </a:p>
        </p:txBody>
      </p:sp>
      <p:sp>
        <p:nvSpPr>
          <p:cNvPr id="4" name="Segnaposto data 3"/>
          <p:cNvSpPr>
            <a:spLocks noGrp="1"/>
          </p:cNvSpPr>
          <p:nvPr>
            <p:ph type="dt" sz="half" idx="2"/>
          </p:nvPr>
        </p:nvSpPr>
        <p:spPr>
          <a:xfrm>
            <a:off x="1218882" y="6356352"/>
            <a:ext cx="2234618" cy="365125"/>
          </a:xfrm>
          <a:prstGeom prst="rect">
            <a:avLst/>
          </a:prstGeom>
        </p:spPr>
        <p:txBody>
          <a:bodyPr vert="horz" lIns="121899" tIns="60949" rIns="121899" bIns="60949" rtlCol="0" anchor="ctr"/>
          <a:lstStyle>
            <a:lvl1pPr algn="l" rtl="0">
              <a:defRPr sz="1200">
                <a:solidFill>
                  <a:schemeClr val="tx1">
                    <a:tint val="75000"/>
                  </a:schemeClr>
                </a:solidFill>
                <a:latin typeface="CMU Serif" panose="02000603000000000000" pitchFamily="2" charset="0"/>
              </a:defRPr>
            </a:lvl1pPr>
          </a:lstStyle>
          <a:p>
            <a:fld id="{8A756645-DD8C-4009-9A84-A4AD56EB55A9}" type="datetime1">
              <a:rPr lang="it-IT" smtClean="0"/>
              <a:pPr/>
              <a:t>10/02/2025</a:t>
            </a:fld>
            <a:endParaRPr lang="it-IT" dirty="0"/>
          </a:p>
        </p:txBody>
      </p:sp>
      <p:sp>
        <p:nvSpPr>
          <p:cNvPr id="5" name="Segnaposto piè di pagina 4"/>
          <p:cNvSpPr>
            <a:spLocks noGrp="1"/>
          </p:cNvSpPr>
          <p:nvPr>
            <p:ph type="ftr" sz="quarter" idx="3"/>
          </p:nvPr>
        </p:nvSpPr>
        <p:spPr>
          <a:xfrm>
            <a:off x="3453501" y="6356352"/>
            <a:ext cx="5281824" cy="365125"/>
          </a:xfrm>
          <a:prstGeom prst="rect">
            <a:avLst/>
          </a:prstGeom>
        </p:spPr>
        <p:txBody>
          <a:bodyPr vert="horz" lIns="121899" tIns="60949" rIns="121899" bIns="60949" rtlCol="0" anchor="ctr"/>
          <a:lstStyle>
            <a:lvl1pPr algn="ctr" rtl="0">
              <a:defRPr sz="1200">
                <a:solidFill>
                  <a:schemeClr val="tx1">
                    <a:tint val="75000"/>
                  </a:schemeClr>
                </a:solidFill>
                <a:latin typeface="CMU Serif" panose="02000603000000000000" pitchFamily="2" charset="0"/>
              </a:defRPr>
            </a:lvl1pPr>
          </a:lstStyle>
          <a:p>
            <a:endParaRPr lang="it-IT" dirty="0"/>
          </a:p>
        </p:txBody>
      </p:sp>
      <p:sp>
        <p:nvSpPr>
          <p:cNvPr id="6" name="Segnaposto numero diapositiva 5"/>
          <p:cNvSpPr>
            <a:spLocks noGrp="1"/>
          </p:cNvSpPr>
          <p:nvPr>
            <p:ph type="sldNum" sz="quarter" idx="4"/>
          </p:nvPr>
        </p:nvSpPr>
        <p:spPr>
          <a:xfrm>
            <a:off x="10563649" y="6356352"/>
            <a:ext cx="1015735" cy="365125"/>
          </a:xfrm>
          <a:prstGeom prst="rect">
            <a:avLst/>
          </a:prstGeom>
        </p:spPr>
        <p:txBody>
          <a:bodyPr vert="horz" lIns="121899" tIns="60949" rIns="121899" bIns="60949" rtlCol="0" anchor="ctr"/>
          <a:lstStyle>
            <a:lvl1pPr algn="r" rtl="0">
              <a:defRPr sz="1200">
                <a:solidFill>
                  <a:schemeClr val="tx1">
                    <a:tint val="75000"/>
                  </a:schemeClr>
                </a:solidFill>
                <a:latin typeface="CMU Serif" panose="02000603000000000000" pitchFamily="2" charset="0"/>
              </a:defRPr>
            </a:lvl1pPr>
          </a:lstStyle>
          <a:p>
            <a:fld id="{C014DD1E-5D91-48A3-AD6D-45FBA980D106}" type="slidenum">
              <a:rPr lang="it-IT" smtClean="0"/>
              <a:pPr/>
              <a:t>‹N›</a:t>
            </a:fld>
            <a:endParaRPr lang="it-IT" dirty="0"/>
          </a:p>
        </p:txBody>
      </p:sp>
    </p:spTree>
    <p:extLst>
      <p:ext uri="{BB962C8B-B14F-4D97-AF65-F5344CB8AC3E}">
        <p14:creationId xmlns:p14="http://schemas.microsoft.com/office/powerpoint/2010/main" val="139527588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90000"/>
        </a:lnSpc>
        <a:spcBef>
          <a:spcPct val="0"/>
        </a:spcBef>
        <a:buNone/>
        <a:defRPr sz="3600" kern="1200">
          <a:solidFill>
            <a:schemeClr val="tx1"/>
          </a:solidFill>
          <a:latin typeface="CMU Serif" panose="02000603000000000000" pitchFamily="2" charset="0"/>
          <a:ea typeface="+mj-ea"/>
          <a:cs typeface="+mj-cs"/>
        </a:defRPr>
      </a:lvl1pPr>
    </p:titleStyle>
    <p:body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CMU Serif" panose="02000603000000000000" pitchFamily="2" charset="0"/>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CMU Serif" panose="02000603000000000000" pitchFamily="2" charset="0"/>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CMU Serif" panose="02000603000000000000" pitchFamily="2" charset="0"/>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CMU Serif" panose="02000603000000000000" pitchFamily="2" charset="0"/>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CMU Serif" panose="02000603000000000000" pitchFamily="2" charset="0"/>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8.svg"/></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0.xml"/><Relationship Id="rId1" Type="http://schemas.openxmlformats.org/officeDocument/2006/relationships/slideLayout" Target="../slideLayouts/slideLayout13.xml"/><Relationship Id="rId5" Type="http://schemas.openxmlformats.org/officeDocument/2006/relationships/chart" Target="../charts/chart5.xml"/><Relationship Id="rId4" Type="http://schemas.openxmlformats.org/officeDocument/2006/relationships/chart" Target="../charts/char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2.xml"/><Relationship Id="rId1" Type="http://schemas.openxmlformats.org/officeDocument/2006/relationships/slideLayout" Target="../slideLayouts/slideLayout13.xml"/><Relationship Id="rId5" Type="http://schemas.openxmlformats.org/officeDocument/2006/relationships/chart" Target="../charts/chart8.xml"/><Relationship Id="rId4" Type="http://schemas.openxmlformats.org/officeDocument/2006/relationships/chart" Target="../charts/chart7.xml"/></Relationships>
</file>

<file path=ppt/slides/_rels/slide23.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chart" Target="../charts/char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1625176" y="1731898"/>
            <a:ext cx="8285660" cy="1099667"/>
          </a:xfrm>
        </p:spPr>
        <p:txBody>
          <a:bodyPr rtlCol="0"/>
          <a:lstStyle/>
          <a:p>
            <a:pPr rtl="0"/>
            <a:r>
              <a:rPr lang="it-IT" dirty="0"/>
              <a:t>DNA Sequence </a:t>
            </a:r>
            <a:r>
              <a:rPr lang="it-IT" dirty="0" err="1"/>
              <a:t>Alignment</a:t>
            </a:r>
            <a:endParaRPr lang="it-IT" dirty="0">
              <a:latin typeface="CMU Serif" panose="02000603000000000000" pitchFamily="2" charset="0"/>
              <a:ea typeface="CMU Serif" panose="02000603000000000000" pitchFamily="2" charset="0"/>
              <a:cs typeface="CMU Serif" panose="02000603000000000000" pitchFamily="2" charset="0"/>
            </a:endParaRPr>
          </a:p>
        </p:txBody>
      </p:sp>
      <p:sp>
        <p:nvSpPr>
          <p:cNvPr id="5" name="Sottotitolo 4"/>
          <p:cNvSpPr>
            <a:spLocks noGrp="1"/>
          </p:cNvSpPr>
          <p:nvPr>
            <p:ph type="subTitle" idx="1"/>
          </p:nvPr>
        </p:nvSpPr>
        <p:spPr>
          <a:xfrm>
            <a:off x="1689733" y="2802273"/>
            <a:ext cx="8717708" cy="737786"/>
          </a:xfrm>
        </p:spPr>
        <p:txBody>
          <a:bodyPr rtlCol="0">
            <a:normAutofit fontScale="92500" lnSpcReduction="20000"/>
          </a:bodyPr>
          <a:lstStyle/>
          <a:p>
            <a:pPr rtl="0"/>
            <a:r>
              <a:rPr lang="it-IT" cap="none" dirty="0"/>
              <a:t>Implementazione MPI OpenMP CUDA MPI+CUDA</a:t>
            </a:r>
            <a:endParaRPr lang="it-IT" dirty="0"/>
          </a:p>
        </p:txBody>
      </p:sp>
      <p:sp>
        <p:nvSpPr>
          <p:cNvPr id="3" name="TextBox 7">
            <a:extLst>
              <a:ext uri="{FF2B5EF4-FFF2-40B4-BE49-F238E27FC236}">
                <a16:creationId xmlns:a16="http://schemas.microsoft.com/office/drawing/2014/main" id="{EA7947CA-5BBC-643E-04D5-CD50DEE4808B}"/>
              </a:ext>
            </a:extLst>
          </p:cNvPr>
          <p:cNvSpPr txBox="1"/>
          <p:nvPr/>
        </p:nvSpPr>
        <p:spPr>
          <a:xfrm>
            <a:off x="1053852" y="261413"/>
            <a:ext cx="5040560" cy="443070"/>
          </a:xfrm>
          <a:prstGeom prst="rect">
            <a:avLst/>
          </a:prstGeom>
        </p:spPr>
        <p:txBody>
          <a:bodyPr wrap="square" lIns="0" tIns="0" rIns="0" bIns="0" rtlCol="0" anchor="t">
            <a:spAutoFit/>
          </a:bodyPr>
          <a:lstStyle/>
          <a:p>
            <a:pPr algn="l">
              <a:lnSpc>
                <a:spcPts val="1679"/>
              </a:lnSpc>
            </a:pPr>
            <a:r>
              <a:rPr lang="it-IT" sz="1600" b="1" i="0" dirty="0">
                <a:effectLst/>
                <a:latin typeface="CMU Serif" panose="02000603000000000000" pitchFamily="2" charset="0"/>
              </a:rPr>
              <a:t>Programmazione di Sistemi Embedded e Multicore </a:t>
            </a:r>
            <a:r>
              <a:rPr lang="en-US" sz="1600" spc="1" dirty="0">
                <a:solidFill>
                  <a:srgbClr val="FFFFFF"/>
                </a:solidFill>
                <a:latin typeface="CMU Serif" panose="02000603000000000000" pitchFamily="2" charset="0"/>
                <a:ea typeface="CMU Serif" panose="02000603000000000000" pitchFamily="2" charset="0"/>
                <a:cs typeface="CMU Serif" panose="02000603000000000000" pitchFamily="2" charset="0"/>
                <a:sym typeface="IBM Plex Sans"/>
              </a:rPr>
              <a:t>A.A 2024/2025 Prof. Daniele De Sensi</a:t>
            </a:r>
          </a:p>
        </p:txBody>
      </p:sp>
      <p:sp>
        <p:nvSpPr>
          <p:cNvPr id="4" name="TextBox 7">
            <a:extLst>
              <a:ext uri="{FF2B5EF4-FFF2-40B4-BE49-F238E27FC236}">
                <a16:creationId xmlns:a16="http://schemas.microsoft.com/office/drawing/2014/main" id="{68F81502-ACD9-68D0-A4E1-E2BD6983C097}"/>
              </a:ext>
            </a:extLst>
          </p:cNvPr>
          <p:cNvSpPr txBox="1"/>
          <p:nvPr/>
        </p:nvSpPr>
        <p:spPr>
          <a:xfrm>
            <a:off x="8326660" y="261414"/>
            <a:ext cx="3672408" cy="240450"/>
          </a:xfrm>
          <a:prstGeom prst="rect">
            <a:avLst/>
          </a:prstGeom>
        </p:spPr>
        <p:txBody>
          <a:bodyPr wrap="square" lIns="0" tIns="0" rIns="0" bIns="0" rtlCol="0" anchor="t">
            <a:spAutoFit/>
          </a:bodyPr>
          <a:lstStyle/>
          <a:p>
            <a:pPr algn="l">
              <a:lnSpc>
                <a:spcPts val="1679"/>
              </a:lnSpc>
            </a:pPr>
            <a:r>
              <a:rPr lang="it-IT" sz="2000" i="0" dirty="0">
                <a:effectLst/>
                <a:latin typeface="CMU Serif" panose="02000603000000000000" pitchFamily="2" charset="0"/>
              </a:rPr>
              <a:t>Cola Valerio – Cerboni Federico</a:t>
            </a:r>
            <a:endParaRPr lang="en-US" sz="2000" spc="1" dirty="0">
              <a:solidFill>
                <a:srgbClr val="FFFFFF"/>
              </a:solidFill>
              <a:latin typeface="CMU Serif" panose="02000603000000000000" pitchFamily="2" charset="0"/>
              <a:ea typeface="CMU Serif" panose="02000603000000000000" pitchFamily="2" charset="0"/>
              <a:cs typeface="CMU Serif" panose="02000603000000000000" pitchFamily="2" charset="0"/>
              <a:sym typeface="IBM Plex Sans"/>
            </a:endParaRPr>
          </a:p>
        </p:txBody>
      </p:sp>
      <p:sp>
        <p:nvSpPr>
          <p:cNvPr id="6" name="Freeform 2">
            <a:extLst>
              <a:ext uri="{FF2B5EF4-FFF2-40B4-BE49-F238E27FC236}">
                <a16:creationId xmlns:a16="http://schemas.microsoft.com/office/drawing/2014/main" id="{7D98CE38-FAF7-0947-37CE-43477529654F}"/>
              </a:ext>
            </a:extLst>
          </p:cNvPr>
          <p:cNvSpPr/>
          <p:nvPr/>
        </p:nvSpPr>
        <p:spPr>
          <a:xfrm>
            <a:off x="228074" y="5269080"/>
            <a:ext cx="526818" cy="642033"/>
          </a:xfrm>
          <a:custGeom>
            <a:avLst/>
            <a:gdLst/>
            <a:ahLst/>
            <a:cxnLst/>
            <a:rect l="l" t="t" r="r" b="b"/>
            <a:pathLst>
              <a:path w="526818" h="642033">
                <a:moveTo>
                  <a:pt x="0" y="0"/>
                </a:moveTo>
                <a:lnTo>
                  <a:pt x="526819" y="0"/>
                </a:lnTo>
                <a:lnTo>
                  <a:pt x="526819" y="642033"/>
                </a:lnTo>
                <a:lnTo>
                  <a:pt x="0" y="64203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3">
            <a:extLst>
              <a:ext uri="{FF2B5EF4-FFF2-40B4-BE49-F238E27FC236}">
                <a16:creationId xmlns:a16="http://schemas.microsoft.com/office/drawing/2014/main" id="{8DEBB594-D8C8-9DA3-C397-6101F608C8AA}"/>
              </a:ext>
            </a:extLst>
          </p:cNvPr>
          <p:cNvSpPr/>
          <p:nvPr/>
        </p:nvSpPr>
        <p:spPr>
          <a:xfrm>
            <a:off x="909836" y="5301208"/>
            <a:ext cx="1559795" cy="576691"/>
          </a:xfrm>
          <a:custGeom>
            <a:avLst/>
            <a:gdLst/>
            <a:ahLst/>
            <a:cxnLst/>
            <a:rect l="l" t="t" r="r" b="b"/>
            <a:pathLst>
              <a:path w="1559795" h="576691">
                <a:moveTo>
                  <a:pt x="0" y="0"/>
                </a:moveTo>
                <a:lnTo>
                  <a:pt x="1559795" y="0"/>
                </a:lnTo>
                <a:lnTo>
                  <a:pt x="1559795" y="576691"/>
                </a:lnTo>
                <a:lnTo>
                  <a:pt x="0" y="57669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extLst>
      <p:ext uri="{BB962C8B-B14F-4D97-AF65-F5344CB8AC3E}">
        <p14:creationId xmlns:p14="http://schemas.microsoft.com/office/powerpoint/2010/main" val="1332291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ottotitolo 4"/>
          <p:cNvSpPr>
            <a:spLocks noGrp="1"/>
          </p:cNvSpPr>
          <p:nvPr>
            <p:ph type="subTitle" idx="1"/>
          </p:nvPr>
        </p:nvSpPr>
        <p:spPr>
          <a:xfrm>
            <a:off x="1689733" y="2802273"/>
            <a:ext cx="8717708" cy="737786"/>
          </a:xfrm>
        </p:spPr>
        <p:txBody>
          <a:bodyPr rtlCol="0">
            <a:normAutofit/>
          </a:bodyPr>
          <a:lstStyle/>
          <a:p>
            <a:pPr rtl="0"/>
            <a:r>
              <a:rPr lang="it-IT" sz="4000" cap="none" dirty="0"/>
              <a:t>Implementazione MPI</a:t>
            </a:r>
            <a:endParaRPr lang="it-IT" sz="4000" dirty="0"/>
          </a:p>
        </p:txBody>
      </p:sp>
      <p:sp>
        <p:nvSpPr>
          <p:cNvPr id="3" name="TextBox 7">
            <a:extLst>
              <a:ext uri="{FF2B5EF4-FFF2-40B4-BE49-F238E27FC236}">
                <a16:creationId xmlns:a16="http://schemas.microsoft.com/office/drawing/2014/main" id="{EA7947CA-5BBC-643E-04D5-CD50DEE4808B}"/>
              </a:ext>
            </a:extLst>
          </p:cNvPr>
          <p:cNvSpPr txBox="1"/>
          <p:nvPr/>
        </p:nvSpPr>
        <p:spPr>
          <a:xfrm>
            <a:off x="1053852" y="261413"/>
            <a:ext cx="5040560" cy="443070"/>
          </a:xfrm>
          <a:prstGeom prst="rect">
            <a:avLst/>
          </a:prstGeom>
        </p:spPr>
        <p:txBody>
          <a:bodyPr wrap="square" lIns="0" tIns="0" rIns="0" bIns="0" rtlCol="0" anchor="t">
            <a:spAutoFit/>
          </a:bodyPr>
          <a:lstStyle/>
          <a:p>
            <a:pPr algn="l">
              <a:lnSpc>
                <a:spcPts val="1679"/>
              </a:lnSpc>
            </a:pPr>
            <a:r>
              <a:rPr lang="it-IT" sz="1600" b="1" i="0" dirty="0">
                <a:effectLst/>
                <a:latin typeface="CMU Serif" panose="02000603000000000000" pitchFamily="2" charset="0"/>
              </a:rPr>
              <a:t>Programmazione di Sistemi Embedded e Multicore </a:t>
            </a:r>
            <a:r>
              <a:rPr lang="en-US" sz="1600" spc="1" dirty="0">
                <a:solidFill>
                  <a:srgbClr val="FFFFFF"/>
                </a:solidFill>
                <a:latin typeface="CMU Serif" panose="02000603000000000000" pitchFamily="2" charset="0"/>
                <a:ea typeface="CMU Serif" panose="02000603000000000000" pitchFamily="2" charset="0"/>
                <a:cs typeface="CMU Serif" panose="02000603000000000000" pitchFamily="2" charset="0"/>
                <a:sym typeface="IBM Plex Sans"/>
              </a:rPr>
              <a:t>A.A 2024/2025 Prof. Daniele De Sensi</a:t>
            </a:r>
          </a:p>
        </p:txBody>
      </p:sp>
      <p:sp>
        <p:nvSpPr>
          <p:cNvPr id="4" name="TextBox 7">
            <a:extLst>
              <a:ext uri="{FF2B5EF4-FFF2-40B4-BE49-F238E27FC236}">
                <a16:creationId xmlns:a16="http://schemas.microsoft.com/office/drawing/2014/main" id="{68F81502-ACD9-68D0-A4E1-E2BD6983C097}"/>
              </a:ext>
            </a:extLst>
          </p:cNvPr>
          <p:cNvSpPr txBox="1"/>
          <p:nvPr/>
        </p:nvSpPr>
        <p:spPr>
          <a:xfrm>
            <a:off x="8326660" y="261414"/>
            <a:ext cx="3672408" cy="225062"/>
          </a:xfrm>
          <a:prstGeom prst="rect">
            <a:avLst/>
          </a:prstGeom>
        </p:spPr>
        <p:txBody>
          <a:bodyPr wrap="square" lIns="0" tIns="0" rIns="0" bIns="0" rtlCol="0" anchor="t">
            <a:spAutoFit/>
          </a:bodyPr>
          <a:lstStyle/>
          <a:p>
            <a:pPr algn="l">
              <a:lnSpc>
                <a:spcPts val="1679"/>
              </a:lnSpc>
            </a:pPr>
            <a:r>
              <a:rPr lang="it-IT" sz="1600" i="0" dirty="0">
                <a:effectLst/>
                <a:latin typeface="CMU Serif" panose="02000603000000000000" pitchFamily="2" charset="0"/>
              </a:rPr>
              <a:t>Cola Valerio – Cerboni Federico</a:t>
            </a:r>
            <a:endParaRPr lang="en-US" sz="1600" spc="1" dirty="0">
              <a:solidFill>
                <a:srgbClr val="FFFFFF"/>
              </a:solidFill>
              <a:latin typeface="CMU Serif" panose="02000603000000000000" pitchFamily="2" charset="0"/>
              <a:ea typeface="CMU Serif" panose="02000603000000000000" pitchFamily="2" charset="0"/>
              <a:cs typeface="CMU Serif" panose="02000603000000000000" pitchFamily="2" charset="0"/>
              <a:sym typeface="IBM Plex Sans"/>
            </a:endParaRPr>
          </a:p>
        </p:txBody>
      </p:sp>
      <p:sp>
        <p:nvSpPr>
          <p:cNvPr id="6" name="Freeform 2">
            <a:extLst>
              <a:ext uri="{FF2B5EF4-FFF2-40B4-BE49-F238E27FC236}">
                <a16:creationId xmlns:a16="http://schemas.microsoft.com/office/drawing/2014/main" id="{7D98CE38-FAF7-0947-37CE-43477529654F}"/>
              </a:ext>
            </a:extLst>
          </p:cNvPr>
          <p:cNvSpPr/>
          <p:nvPr/>
        </p:nvSpPr>
        <p:spPr>
          <a:xfrm>
            <a:off x="228074" y="5269080"/>
            <a:ext cx="526818" cy="642033"/>
          </a:xfrm>
          <a:custGeom>
            <a:avLst/>
            <a:gdLst/>
            <a:ahLst/>
            <a:cxnLst/>
            <a:rect l="l" t="t" r="r" b="b"/>
            <a:pathLst>
              <a:path w="526818" h="642033">
                <a:moveTo>
                  <a:pt x="0" y="0"/>
                </a:moveTo>
                <a:lnTo>
                  <a:pt x="526819" y="0"/>
                </a:lnTo>
                <a:lnTo>
                  <a:pt x="526819" y="642033"/>
                </a:lnTo>
                <a:lnTo>
                  <a:pt x="0" y="64203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3">
            <a:extLst>
              <a:ext uri="{FF2B5EF4-FFF2-40B4-BE49-F238E27FC236}">
                <a16:creationId xmlns:a16="http://schemas.microsoft.com/office/drawing/2014/main" id="{8DEBB594-D8C8-9DA3-C397-6101F608C8AA}"/>
              </a:ext>
            </a:extLst>
          </p:cNvPr>
          <p:cNvSpPr/>
          <p:nvPr/>
        </p:nvSpPr>
        <p:spPr>
          <a:xfrm>
            <a:off x="909836" y="5301208"/>
            <a:ext cx="1559795" cy="576691"/>
          </a:xfrm>
          <a:custGeom>
            <a:avLst/>
            <a:gdLst/>
            <a:ahLst/>
            <a:cxnLst/>
            <a:rect l="l" t="t" r="r" b="b"/>
            <a:pathLst>
              <a:path w="1559795" h="576691">
                <a:moveTo>
                  <a:pt x="0" y="0"/>
                </a:moveTo>
                <a:lnTo>
                  <a:pt x="1559795" y="0"/>
                </a:lnTo>
                <a:lnTo>
                  <a:pt x="1559795" y="576691"/>
                </a:lnTo>
                <a:lnTo>
                  <a:pt x="0" y="57669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extLst>
      <p:ext uri="{BB962C8B-B14F-4D97-AF65-F5344CB8AC3E}">
        <p14:creationId xmlns:p14="http://schemas.microsoft.com/office/powerpoint/2010/main" val="1988594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egnaposto contenuto 13"/>
          <p:cNvSpPr>
            <a:spLocks noGrp="1"/>
          </p:cNvSpPr>
          <p:nvPr>
            <p:ph idx="1"/>
          </p:nvPr>
        </p:nvSpPr>
        <p:spPr>
          <a:xfrm>
            <a:off x="6310436" y="1628800"/>
            <a:ext cx="5760640" cy="5760640"/>
          </a:xfrm>
        </p:spPr>
        <p:txBody>
          <a:bodyPr rtlCol="0">
            <a:normAutofit/>
          </a:bodyPr>
          <a:lstStyle/>
          <a:p>
            <a:pPr rtl="0"/>
            <a:r>
              <a:rPr lang="it-IT" sz="2000" dirty="0"/>
              <a:t>Alloca la sequenza (DNA) generata solo dal Root e successivamente inviata a tutti i processi mediante Bcast().</a:t>
            </a:r>
          </a:p>
          <a:p>
            <a:pPr rtl="0"/>
            <a:r>
              <a:rPr lang="it-IT" sz="2000" dirty="0"/>
              <a:t>Possiede una copia locale di </a:t>
            </a:r>
            <a:r>
              <a:rPr lang="it-IT" sz="2000" dirty="0">
                <a:solidFill>
                  <a:srgbClr val="9CDCFE"/>
                </a:solidFill>
              </a:rPr>
              <a:t>pat_found</a:t>
            </a:r>
            <a:r>
              <a:rPr lang="it-IT" sz="2000" dirty="0"/>
              <a:t>, array utilizzato per tenere traccia di dove viene trovato il pattern, e </a:t>
            </a:r>
            <a:r>
              <a:rPr lang="it-IT" sz="2000" dirty="0">
                <a:solidFill>
                  <a:srgbClr val="9CDCFE"/>
                </a:solidFill>
              </a:rPr>
              <a:t>seq_matches </a:t>
            </a:r>
            <a:r>
              <a:rPr lang="it-IT" sz="2000" dirty="0"/>
              <a:t>utilizzato per specificare per ogni posizione della sequenza quanti pattern sono stati trovati con un nucleotide in quella posizione.</a:t>
            </a:r>
          </a:p>
          <a:p>
            <a:pPr rtl="0"/>
            <a:r>
              <a:rPr lang="it-IT" sz="2000" dirty="0"/>
              <a:t>Calcola il numero di pattern che deve cercare, il primo e l’ultimo. Se ci sono rimanenze vengono assegnate all’ultimo rank.</a:t>
            </a:r>
          </a:p>
        </p:txBody>
      </p:sp>
      <p:pic>
        <p:nvPicPr>
          <p:cNvPr id="3" name="Immagine 2" descr="Immagine che contiene testo, elettronica, schermata, computer">
            <a:extLst>
              <a:ext uri="{FF2B5EF4-FFF2-40B4-BE49-F238E27FC236}">
                <a16:creationId xmlns:a16="http://schemas.microsoft.com/office/drawing/2014/main" id="{4BD4299F-294C-4DEE-A2A2-DAAA1D6B322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042" y="0"/>
            <a:ext cx="5831803" cy="6858000"/>
          </a:xfrm>
          <a:prstGeom prst="rect">
            <a:avLst/>
          </a:prstGeom>
          <a:ln>
            <a:noFill/>
          </a:ln>
          <a:effectLst>
            <a:softEdge rad="112500"/>
          </a:effectLst>
        </p:spPr>
      </p:pic>
      <p:sp>
        <p:nvSpPr>
          <p:cNvPr id="6" name="Titolo 6">
            <a:extLst>
              <a:ext uri="{FF2B5EF4-FFF2-40B4-BE49-F238E27FC236}">
                <a16:creationId xmlns:a16="http://schemas.microsoft.com/office/drawing/2014/main" id="{FD45444E-40A6-9A2C-92E7-0543023D3745}"/>
              </a:ext>
            </a:extLst>
          </p:cNvPr>
          <p:cNvSpPr>
            <a:spLocks noGrp="1"/>
          </p:cNvSpPr>
          <p:nvPr>
            <p:ph type="title"/>
          </p:nvPr>
        </p:nvSpPr>
        <p:spPr>
          <a:xfrm>
            <a:off x="6382444" y="188640"/>
            <a:ext cx="6531713" cy="1223963"/>
          </a:xfrm>
        </p:spPr>
        <p:txBody>
          <a:bodyPr rtlCol="0"/>
          <a:lstStyle/>
          <a:p>
            <a:pPr rtl="0"/>
            <a:r>
              <a:rPr lang="it-IT" dirty="0"/>
              <a:t>Ogni Rank:</a:t>
            </a:r>
          </a:p>
        </p:txBody>
      </p:sp>
    </p:spTree>
    <p:extLst>
      <p:ext uri="{BB962C8B-B14F-4D97-AF65-F5344CB8AC3E}">
        <p14:creationId xmlns:p14="http://schemas.microsoft.com/office/powerpoint/2010/main" val="352911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egnaposto contenuto 13"/>
          <p:cNvSpPr>
            <a:spLocks noGrp="1"/>
          </p:cNvSpPr>
          <p:nvPr>
            <p:ph idx="1"/>
          </p:nvPr>
        </p:nvSpPr>
        <p:spPr>
          <a:xfrm>
            <a:off x="7064045" y="1700808"/>
            <a:ext cx="4935023" cy="5760640"/>
          </a:xfrm>
        </p:spPr>
        <p:txBody>
          <a:bodyPr rtlCol="0">
            <a:normAutofit/>
          </a:bodyPr>
          <a:lstStyle/>
          <a:p>
            <a:pPr rtl="0"/>
            <a:r>
              <a:rPr lang="it-IT" sz="2000" dirty="0"/>
              <a:t>Ogni rank cerca nella sequenza solo il proprio range di pattern</a:t>
            </a:r>
          </a:p>
          <a:p>
            <a:pPr rtl="0"/>
            <a:r>
              <a:rPr lang="it-IT" sz="2000" dirty="0"/>
              <a:t> Ogni rank aggiornerà esclusivamente </a:t>
            </a:r>
            <a:r>
              <a:rPr lang="it-IT" sz="2000" dirty="0">
                <a:solidFill>
                  <a:srgbClr val="9CDCFE"/>
                </a:solidFill>
              </a:rPr>
              <a:t>pat_matches </a:t>
            </a:r>
            <a:r>
              <a:rPr lang="it-IT" sz="2000" dirty="0"/>
              <a:t>(numero di pattern trovati), </a:t>
            </a:r>
            <a:r>
              <a:rPr lang="it-IT" sz="2000" dirty="0">
                <a:solidFill>
                  <a:srgbClr val="9CDCFE"/>
                </a:solidFill>
              </a:rPr>
              <a:t>seq_matches </a:t>
            </a:r>
            <a:r>
              <a:rPr lang="it-IT" sz="2000" dirty="0"/>
              <a:t>e </a:t>
            </a:r>
            <a:r>
              <a:rPr lang="it-IT" sz="2000" dirty="0">
                <a:solidFill>
                  <a:srgbClr val="9CDCFE"/>
                </a:solidFill>
              </a:rPr>
              <a:t>pat_found</a:t>
            </a:r>
            <a:r>
              <a:rPr lang="it-IT" sz="2000" dirty="0"/>
              <a:t> locali. </a:t>
            </a:r>
          </a:p>
        </p:txBody>
      </p:sp>
      <p:sp>
        <p:nvSpPr>
          <p:cNvPr id="6" name="Titolo 6">
            <a:extLst>
              <a:ext uri="{FF2B5EF4-FFF2-40B4-BE49-F238E27FC236}">
                <a16:creationId xmlns:a16="http://schemas.microsoft.com/office/drawing/2014/main" id="{FD45444E-40A6-9A2C-92E7-0543023D3745}"/>
              </a:ext>
            </a:extLst>
          </p:cNvPr>
          <p:cNvSpPr>
            <a:spLocks noGrp="1"/>
          </p:cNvSpPr>
          <p:nvPr>
            <p:ph type="title"/>
          </p:nvPr>
        </p:nvSpPr>
        <p:spPr>
          <a:xfrm>
            <a:off x="7174532" y="188639"/>
            <a:ext cx="6531713" cy="1223963"/>
          </a:xfrm>
        </p:spPr>
        <p:txBody>
          <a:bodyPr rtlCol="0"/>
          <a:lstStyle/>
          <a:p>
            <a:pPr rtl="0"/>
            <a:r>
              <a:rPr lang="it-IT" dirty="0"/>
              <a:t>Fase di ricerca:</a:t>
            </a:r>
          </a:p>
        </p:txBody>
      </p:sp>
      <p:pic>
        <p:nvPicPr>
          <p:cNvPr id="4" name="Immagine 3" descr="Immagine che contiene testo, schermo, schermata, software&#10;&#10;Descrizione generata automaticamente">
            <a:extLst>
              <a:ext uri="{FF2B5EF4-FFF2-40B4-BE49-F238E27FC236}">
                <a16:creationId xmlns:a16="http://schemas.microsoft.com/office/drawing/2014/main" id="{C188DC17-58DC-8924-F1C2-9ABD75CBED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764" y="800621"/>
            <a:ext cx="6802281" cy="5328592"/>
          </a:xfrm>
          <a:prstGeom prst="rect">
            <a:avLst/>
          </a:prstGeom>
          <a:ln>
            <a:noFill/>
          </a:ln>
          <a:effectLst>
            <a:softEdge rad="112500"/>
          </a:effectLst>
        </p:spPr>
      </p:pic>
    </p:spTree>
    <p:extLst>
      <p:ext uri="{BB962C8B-B14F-4D97-AF65-F5344CB8AC3E}">
        <p14:creationId xmlns:p14="http://schemas.microsoft.com/office/powerpoint/2010/main" val="136419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egnaposto contenuto 13"/>
          <p:cNvSpPr>
            <a:spLocks noGrp="1"/>
          </p:cNvSpPr>
          <p:nvPr>
            <p:ph idx="1"/>
          </p:nvPr>
        </p:nvSpPr>
        <p:spPr>
          <a:xfrm>
            <a:off x="1845940" y="1417793"/>
            <a:ext cx="7920880" cy="2113177"/>
          </a:xfrm>
        </p:spPr>
        <p:txBody>
          <a:bodyPr rtlCol="0">
            <a:normAutofit/>
          </a:bodyPr>
          <a:lstStyle/>
          <a:p>
            <a:pPr marL="0" indent="0" algn="ctr" rtl="0">
              <a:buNone/>
            </a:pPr>
            <a:r>
              <a:rPr lang="it-IT" sz="2000" dirty="0"/>
              <a:t>Nella seguente funzione ogni processo incrementerà le singole celle dell’array locale </a:t>
            </a:r>
            <a:r>
              <a:rPr lang="it-IT" sz="2000" dirty="0">
                <a:solidFill>
                  <a:srgbClr val="9CDCFE"/>
                </a:solidFill>
              </a:rPr>
              <a:t>seq_matches</a:t>
            </a:r>
            <a:r>
              <a:rPr lang="it-IT" sz="2000" dirty="0"/>
              <a:t>, successivamente quando dovrà essere sommato in uno unico succederà più volte che allo stesso indice la cella passerà da -1 (NOT_FOUND) a 0. </a:t>
            </a:r>
          </a:p>
          <a:p>
            <a:pPr marL="0" indent="0" algn="ctr" rtl="0">
              <a:buNone/>
            </a:pPr>
            <a:r>
              <a:rPr lang="it-IT" sz="2000" dirty="0"/>
              <a:t>Ciò risulta un problema nel calcolo del checksum perché l’array finale potrebbe contenere numeri inferiori.</a:t>
            </a:r>
          </a:p>
        </p:txBody>
      </p:sp>
      <p:sp>
        <p:nvSpPr>
          <p:cNvPr id="6" name="Titolo 6">
            <a:extLst>
              <a:ext uri="{FF2B5EF4-FFF2-40B4-BE49-F238E27FC236}">
                <a16:creationId xmlns:a16="http://schemas.microsoft.com/office/drawing/2014/main" id="{FD45444E-40A6-9A2C-92E7-0543023D3745}"/>
              </a:ext>
            </a:extLst>
          </p:cNvPr>
          <p:cNvSpPr>
            <a:spLocks noGrp="1"/>
          </p:cNvSpPr>
          <p:nvPr>
            <p:ph type="title"/>
          </p:nvPr>
        </p:nvSpPr>
        <p:spPr>
          <a:xfrm>
            <a:off x="4150196" y="-10228"/>
            <a:ext cx="2376264" cy="1223963"/>
          </a:xfrm>
        </p:spPr>
        <p:txBody>
          <a:bodyPr rtlCol="0"/>
          <a:lstStyle/>
          <a:p>
            <a:pPr rtl="0"/>
            <a:r>
              <a:rPr lang="it-IT" dirty="0"/>
              <a:t>Problema</a:t>
            </a:r>
          </a:p>
        </p:txBody>
      </p:sp>
      <p:pic>
        <p:nvPicPr>
          <p:cNvPr id="3" name="Elemento grafico 2" descr="Avviso con riempimento a tinta unita">
            <a:extLst>
              <a:ext uri="{FF2B5EF4-FFF2-40B4-BE49-F238E27FC236}">
                <a16:creationId xmlns:a16="http://schemas.microsoft.com/office/drawing/2014/main" id="{95C2B1B1-2E35-196A-E89E-5DBED3C46A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26460" y="476672"/>
            <a:ext cx="605012" cy="605012"/>
          </a:xfrm>
          <a:prstGeom prst="rect">
            <a:avLst/>
          </a:prstGeom>
        </p:spPr>
      </p:pic>
      <p:pic>
        <p:nvPicPr>
          <p:cNvPr id="9" name="Immagine 8" descr="Immagine che contiene testo, software, Software multimediale, multimediale&#10;&#10;Descrizione generata automaticamente">
            <a:extLst>
              <a:ext uri="{FF2B5EF4-FFF2-40B4-BE49-F238E27FC236}">
                <a16:creationId xmlns:a16="http://schemas.microsoft.com/office/drawing/2014/main" id="{AF276A2E-1EA6-DCB8-F3CE-90FC75395F9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37664" y="3741805"/>
            <a:ext cx="8902724" cy="2927556"/>
          </a:xfrm>
          <a:prstGeom prst="rect">
            <a:avLst/>
          </a:prstGeom>
          <a:ln>
            <a:noFill/>
          </a:ln>
          <a:effectLst>
            <a:softEdge rad="112500"/>
          </a:effectLst>
        </p:spPr>
      </p:pic>
    </p:spTree>
    <p:extLst>
      <p:ext uri="{BB962C8B-B14F-4D97-AF65-F5344CB8AC3E}">
        <p14:creationId xmlns:p14="http://schemas.microsoft.com/office/powerpoint/2010/main" val="2665374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egnaposto contenuto 13"/>
          <p:cNvSpPr>
            <a:spLocks noGrp="1"/>
          </p:cNvSpPr>
          <p:nvPr>
            <p:ph idx="1"/>
          </p:nvPr>
        </p:nvSpPr>
        <p:spPr>
          <a:xfrm>
            <a:off x="7390556" y="1700808"/>
            <a:ext cx="4935023" cy="5760640"/>
          </a:xfrm>
        </p:spPr>
        <p:txBody>
          <a:bodyPr rtlCol="0">
            <a:normAutofit/>
          </a:bodyPr>
          <a:lstStyle/>
          <a:p>
            <a:pPr rtl="0"/>
            <a:r>
              <a:rPr lang="it-IT" sz="2000" dirty="0"/>
              <a:t>Ogni Rank utilizza la Send() per inviare il proprio </a:t>
            </a:r>
            <a:r>
              <a:rPr lang="it-IT" sz="2000" dirty="0">
                <a:solidFill>
                  <a:srgbClr val="9CDCFE"/>
                </a:solidFill>
              </a:rPr>
              <a:t>seq_matches</a:t>
            </a:r>
          </a:p>
          <a:p>
            <a:pPr rtl="0"/>
            <a:r>
              <a:rPr lang="it-IT" sz="2000" dirty="0"/>
              <a:t> Il Root alloca un array locale in cui immagazzina ad ogni iterazione il </a:t>
            </a:r>
            <a:r>
              <a:rPr lang="it-IT" sz="2000" dirty="0">
                <a:solidFill>
                  <a:srgbClr val="9CDCFE"/>
                </a:solidFill>
              </a:rPr>
              <a:t>seq_matches </a:t>
            </a:r>
            <a:r>
              <a:rPr lang="it-IT" sz="2000" dirty="0"/>
              <a:t>che riceve</a:t>
            </a:r>
          </a:p>
          <a:p>
            <a:pPr rtl="0"/>
            <a:r>
              <a:rPr lang="it-IT" sz="2000" dirty="0"/>
              <a:t>Utilizzando il proprio </a:t>
            </a:r>
            <a:r>
              <a:rPr lang="it-IT" sz="2000" dirty="0">
                <a:solidFill>
                  <a:srgbClr val="9CDCFE"/>
                </a:solidFill>
              </a:rPr>
              <a:t>seq_matches </a:t>
            </a:r>
            <a:r>
              <a:rPr lang="it-IT" sz="2000" dirty="0"/>
              <a:t>vi somma quello che ha ricevuto </a:t>
            </a:r>
          </a:p>
          <a:p>
            <a:pPr rtl="0"/>
            <a:r>
              <a:rPr lang="it-IT" sz="2000" dirty="0"/>
              <a:t>Per ogni indice se sono entrambi a 0 li somma e aggiunge 1, se invece il </a:t>
            </a:r>
            <a:r>
              <a:rPr lang="it-IT" sz="2000" dirty="0">
                <a:solidFill>
                  <a:srgbClr val="9CDCFE"/>
                </a:solidFill>
              </a:rPr>
              <a:t>seq_matches </a:t>
            </a:r>
            <a:r>
              <a:rPr lang="it-IT" sz="2000" dirty="0"/>
              <a:t>del root è -1 verrà sostituito con l’altro valore.</a:t>
            </a:r>
          </a:p>
          <a:p>
            <a:pPr rtl="0"/>
            <a:r>
              <a:rPr lang="it-IT" sz="2000" dirty="0"/>
              <a:t>In tutti gli altri casi non fa nulla</a:t>
            </a:r>
          </a:p>
        </p:txBody>
      </p:sp>
      <p:sp>
        <p:nvSpPr>
          <p:cNvPr id="6" name="Titolo 6">
            <a:extLst>
              <a:ext uri="{FF2B5EF4-FFF2-40B4-BE49-F238E27FC236}">
                <a16:creationId xmlns:a16="http://schemas.microsoft.com/office/drawing/2014/main" id="{FD45444E-40A6-9A2C-92E7-0543023D3745}"/>
              </a:ext>
            </a:extLst>
          </p:cNvPr>
          <p:cNvSpPr>
            <a:spLocks noGrp="1"/>
          </p:cNvSpPr>
          <p:nvPr>
            <p:ph type="title"/>
          </p:nvPr>
        </p:nvSpPr>
        <p:spPr>
          <a:xfrm>
            <a:off x="7491892" y="-18256"/>
            <a:ext cx="6531713" cy="1223963"/>
          </a:xfrm>
        </p:spPr>
        <p:txBody>
          <a:bodyPr rtlCol="0">
            <a:normAutofit/>
          </a:bodyPr>
          <a:lstStyle/>
          <a:p>
            <a:pPr rtl="0"/>
            <a:r>
              <a:rPr lang="it-IT" sz="3200" dirty="0"/>
              <a:t>Gestione seq_matches:</a:t>
            </a:r>
          </a:p>
        </p:txBody>
      </p:sp>
      <p:pic>
        <p:nvPicPr>
          <p:cNvPr id="9" name="Immagine 8" descr="Immagine che contiene testo, schermata, schermo, software&#10;&#10;Descrizione generata automaticamente">
            <a:extLst>
              <a:ext uri="{FF2B5EF4-FFF2-40B4-BE49-F238E27FC236}">
                <a16:creationId xmlns:a16="http://schemas.microsoft.com/office/drawing/2014/main" id="{224B5327-2650-BC66-C9D2-06E4C940AA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7749" y="742392"/>
            <a:ext cx="7344816" cy="5149185"/>
          </a:xfrm>
          <a:prstGeom prst="rect">
            <a:avLst/>
          </a:prstGeom>
          <a:ln>
            <a:noFill/>
          </a:ln>
          <a:effectLst>
            <a:softEdge rad="112500"/>
          </a:effectLst>
        </p:spPr>
      </p:pic>
    </p:spTree>
    <p:extLst>
      <p:ext uri="{BB962C8B-B14F-4D97-AF65-F5344CB8AC3E}">
        <p14:creationId xmlns:p14="http://schemas.microsoft.com/office/powerpoint/2010/main" val="2324077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egnaposto contenuto 13"/>
          <p:cNvSpPr>
            <a:spLocks noGrp="1"/>
          </p:cNvSpPr>
          <p:nvPr>
            <p:ph idx="1"/>
          </p:nvPr>
        </p:nvSpPr>
        <p:spPr>
          <a:xfrm>
            <a:off x="7390555" y="1412776"/>
            <a:ext cx="4935023" cy="5760640"/>
          </a:xfrm>
        </p:spPr>
        <p:txBody>
          <a:bodyPr rtlCol="0">
            <a:normAutofit/>
          </a:bodyPr>
          <a:lstStyle/>
          <a:p>
            <a:pPr rtl="0"/>
            <a:r>
              <a:rPr lang="it-IT" sz="2000" dirty="0">
                <a:solidFill>
                  <a:srgbClr val="9CDCFE"/>
                </a:solidFill>
              </a:rPr>
              <a:t>pat_found </a:t>
            </a:r>
            <a:r>
              <a:rPr lang="it-IT" sz="2000" dirty="0"/>
              <a:t>è modificato solo in parte, in base al range di pattern, e l’unico modo per inviare solo quel determinato pezzo di array è utilizzare Gatherv()</a:t>
            </a:r>
          </a:p>
          <a:p>
            <a:pPr rtl="0"/>
            <a:r>
              <a:rPr lang="it-IT" sz="2000" dirty="0"/>
              <a:t>Ogni rank specificherà in </a:t>
            </a:r>
            <a:r>
              <a:rPr lang="it-IT" sz="2000" dirty="0">
                <a:solidFill>
                  <a:srgbClr val="9CDCFE"/>
                </a:solidFill>
              </a:rPr>
              <a:t>send_counts </a:t>
            </a:r>
            <a:r>
              <a:rPr lang="it-IT" sz="2000" dirty="0"/>
              <a:t>e </a:t>
            </a:r>
            <a:r>
              <a:rPr lang="it-IT" sz="2000" dirty="0" err="1"/>
              <a:t>displs</a:t>
            </a:r>
            <a:r>
              <a:rPr lang="it-IT" sz="2000" dirty="0"/>
              <a:t> il numero di pattern che ha analizzato e il primo</a:t>
            </a:r>
          </a:p>
          <a:p>
            <a:pPr rtl="0"/>
            <a:r>
              <a:rPr lang="it-IT" sz="2000" dirty="0"/>
              <a:t>Il root in questo modo riceverà da ognuno il pezzo che prenderà il posto del proprio locale</a:t>
            </a:r>
          </a:p>
          <a:p>
            <a:pPr rtl="0"/>
            <a:r>
              <a:rPr lang="it-IT" sz="2000" dirty="0">
                <a:solidFill>
                  <a:srgbClr val="9CDCFE"/>
                </a:solidFill>
              </a:rPr>
              <a:t>Pat_matche </a:t>
            </a:r>
            <a:r>
              <a:rPr lang="it-IT" sz="2000" dirty="0"/>
              <a:t>è stato gestito semplicemente con una Reduce()</a:t>
            </a:r>
          </a:p>
        </p:txBody>
      </p:sp>
      <p:sp>
        <p:nvSpPr>
          <p:cNvPr id="6" name="Titolo 6">
            <a:extLst>
              <a:ext uri="{FF2B5EF4-FFF2-40B4-BE49-F238E27FC236}">
                <a16:creationId xmlns:a16="http://schemas.microsoft.com/office/drawing/2014/main" id="{FD45444E-40A6-9A2C-92E7-0543023D3745}"/>
              </a:ext>
            </a:extLst>
          </p:cNvPr>
          <p:cNvSpPr>
            <a:spLocks noGrp="1"/>
          </p:cNvSpPr>
          <p:nvPr>
            <p:ph type="title"/>
          </p:nvPr>
        </p:nvSpPr>
        <p:spPr>
          <a:xfrm>
            <a:off x="7661823" y="62755"/>
            <a:ext cx="4392488" cy="1223963"/>
          </a:xfrm>
        </p:spPr>
        <p:txBody>
          <a:bodyPr rtlCol="0">
            <a:normAutofit/>
          </a:bodyPr>
          <a:lstStyle/>
          <a:p>
            <a:pPr rtl="0"/>
            <a:r>
              <a:rPr lang="it-IT" sz="3200" dirty="0"/>
              <a:t>Gestione </a:t>
            </a:r>
            <a:r>
              <a:rPr lang="it-IT" sz="3200" dirty="0">
                <a:solidFill>
                  <a:srgbClr val="9CDCFE"/>
                </a:solidFill>
              </a:rPr>
              <a:t>pat_found </a:t>
            </a:r>
            <a:r>
              <a:rPr lang="it-IT" sz="3200" dirty="0"/>
              <a:t>e </a:t>
            </a:r>
            <a:r>
              <a:rPr lang="it-IT" sz="3200" dirty="0">
                <a:solidFill>
                  <a:srgbClr val="9CDCFE"/>
                </a:solidFill>
              </a:rPr>
              <a:t>pat_matches</a:t>
            </a:r>
            <a:r>
              <a:rPr lang="it-IT" sz="3200" dirty="0"/>
              <a:t>:</a:t>
            </a:r>
          </a:p>
        </p:txBody>
      </p:sp>
      <p:pic>
        <p:nvPicPr>
          <p:cNvPr id="5" name="Immagine 4" descr="Immagine che contiene testo, schermata, software, computer&#10;&#10;Descrizione generata automaticamente">
            <a:extLst>
              <a:ext uri="{FF2B5EF4-FFF2-40B4-BE49-F238E27FC236}">
                <a16:creationId xmlns:a16="http://schemas.microsoft.com/office/drawing/2014/main" id="{1ABD1E7D-1A47-DDA7-F924-BEE39D3E4A9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40" y="872629"/>
            <a:ext cx="7488832" cy="4935997"/>
          </a:xfrm>
          <a:prstGeom prst="rect">
            <a:avLst/>
          </a:prstGeom>
          <a:ln>
            <a:noFill/>
          </a:ln>
          <a:effectLst>
            <a:softEdge rad="112500"/>
          </a:effectLst>
        </p:spPr>
      </p:pic>
    </p:spTree>
    <p:extLst>
      <p:ext uri="{BB962C8B-B14F-4D97-AF65-F5344CB8AC3E}">
        <p14:creationId xmlns:p14="http://schemas.microsoft.com/office/powerpoint/2010/main" val="3406365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ottotitolo 4"/>
          <p:cNvSpPr>
            <a:spLocks noGrp="1"/>
          </p:cNvSpPr>
          <p:nvPr>
            <p:ph type="subTitle" idx="1"/>
          </p:nvPr>
        </p:nvSpPr>
        <p:spPr>
          <a:xfrm>
            <a:off x="1689733" y="2802273"/>
            <a:ext cx="8717708" cy="737786"/>
          </a:xfrm>
        </p:spPr>
        <p:txBody>
          <a:bodyPr rtlCol="0">
            <a:normAutofit/>
          </a:bodyPr>
          <a:lstStyle/>
          <a:p>
            <a:pPr rtl="0"/>
            <a:r>
              <a:rPr lang="it-IT" sz="4000" cap="none" dirty="0"/>
              <a:t>Implementazione CUDA</a:t>
            </a:r>
            <a:endParaRPr lang="it-IT" sz="4000" dirty="0"/>
          </a:p>
        </p:txBody>
      </p:sp>
      <p:sp>
        <p:nvSpPr>
          <p:cNvPr id="3" name="TextBox 7">
            <a:extLst>
              <a:ext uri="{FF2B5EF4-FFF2-40B4-BE49-F238E27FC236}">
                <a16:creationId xmlns:a16="http://schemas.microsoft.com/office/drawing/2014/main" id="{EA7947CA-5BBC-643E-04D5-CD50DEE4808B}"/>
              </a:ext>
            </a:extLst>
          </p:cNvPr>
          <p:cNvSpPr txBox="1"/>
          <p:nvPr/>
        </p:nvSpPr>
        <p:spPr>
          <a:xfrm>
            <a:off x="1053852" y="261413"/>
            <a:ext cx="5040560" cy="443070"/>
          </a:xfrm>
          <a:prstGeom prst="rect">
            <a:avLst/>
          </a:prstGeom>
        </p:spPr>
        <p:txBody>
          <a:bodyPr wrap="square" lIns="0" tIns="0" rIns="0" bIns="0" rtlCol="0" anchor="t">
            <a:spAutoFit/>
          </a:bodyPr>
          <a:lstStyle/>
          <a:p>
            <a:pPr algn="l">
              <a:lnSpc>
                <a:spcPts val="1679"/>
              </a:lnSpc>
            </a:pPr>
            <a:r>
              <a:rPr lang="it-IT" sz="1600" b="1" i="0" dirty="0">
                <a:effectLst/>
                <a:latin typeface="CMU Serif" panose="02000603000000000000" pitchFamily="2" charset="0"/>
              </a:rPr>
              <a:t>Programmazione di Sistemi Embedded e Multicore </a:t>
            </a:r>
            <a:r>
              <a:rPr lang="en-US" sz="1600" spc="1" dirty="0">
                <a:solidFill>
                  <a:srgbClr val="FFFFFF"/>
                </a:solidFill>
                <a:latin typeface="CMU Serif" panose="02000603000000000000" pitchFamily="2" charset="0"/>
                <a:ea typeface="CMU Serif" panose="02000603000000000000" pitchFamily="2" charset="0"/>
                <a:cs typeface="CMU Serif" panose="02000603000000000000" pitchFamily="2" charset="0"/>
                <a:sym typeface="IBM Plex Sans"/>
              </a:rPr>
              <a:t>A.A 2024/2025 Prof. Daniele De Sensi</a:t>
            </a:r>
          </a:p>
        </p:txBody>
      </p:sp>
      <p:sp>
        <p:nvSpPr>
          <p:cNvPr id="4" name="TextBox 7">
            <a:extLst>
              <a:ext uri="{FF2B5EF4-FFF2-40B4-BE49-F238E27FC236}">
                <a16:creationId xmlns:a16="http://schemas.microsoft.com/office/drawing/2014/main" id="{68F81502-ACD9-68D0-A4E1-E2BD6983C097}"/>
              </a:ext>
            </a:extLst>
          </p:cNvPr>
          <p:cNvSpPr txBox="1"/>
          <p:nvPr/>
        </p:nvSpPr>
        <p:spPr>
          <a:xfrm>
            <a:off x="8326660" y="261414"/>
            <a:ext cx="3672408" cy="225062"/>
          </a:xfrm>
          <a:prstGeom prst="rect">
            <a:avLst/>
          </a:prstGeom>
        </p:spPr>
        <p:txBody>
          <a:bodyPr wrap="square" lIns="0" tIns="0" rIns="0" bIns="0" rtlCol="0" anchor="t">
            <a:spAutoFit/>
          </a:bodyPr>
          <a:lstStyle/>
          <a:p>
            <a:pPr algn="l">
              <a:lnSpc>
                <a:spcPts val="1679"/>
              </a:lnSpc>
            </a:pPr>
            <a:r>
              <a:rPr lang="it-IT" sz="1600" i="0" dirty="0">
                <a:effectLst/>
                <a:latin typeface="CMU Serif" panose="02000603000000000000" pitchFamily="2" charset="0"/>
              </a:rPr>
              <a:t>Cola Valerio – Cerboni Federico</a:t>
            </a:r>
            <a:endParaRPr lang="en-US" sz="1600" spc="1" dirty="0">
              <a:solidFill>
                <a:srgbClr val="FFFFFF"/>
              </a:solidFill>
              <a:latin typeface="CMU Serif" panose="02000603000000000000" pitchFamily="2" charset="0"/>
              <a:ea typeface="CMU Serif" panose="02000603000000000000" pitchFamily="2" charset="0"/>
              <a:cs typeface="CMU Serif" panose="02000603000000000000" pitchFamily="2" charset="0"/>
              <a:sym typeface="IBM Plex Sans"/>
            </a:endParaRPr>
          </a:p>
        </p:txBody>
      </p:sp>
      <p:sp>
        <p:nvSpPr>
          <p:cNvPr id="6" name="Freeform 2">
            <a:extLst>
              <a:ext uri="{FF2B5EF4-FFF2-40B4-BE49-F238E27FC236}">
                <a16:creationId xmlns:a16="http://schemas.microsoft.com/office/drawing/2014/main" id="{7D98CE38-FAF7-0947-37CE-43477529654F}"/>
              </a:ext>
            </a:extLst>
          </p:cNvPr>
          <p:cNvSpPr/>
          <p:nvPr/>
        </p:nvSpPr>
        <p:spPr>
          <a:xfrm>
            <a:off x="228074" y="5269080"/>
            <a:ext cx="526818" cy="642033"/>
          </a:xfrm>
          <a:custGeom>
            <a:avLst/>
            <a:gdLst/>
            <a:ahLst/>
            <a:cxnLst/>
            <a:rect l="l" t="t" r="r" b="b"/>
            <a:pathLst>
              <a:path w="526818" h="642033">
                <a:moveTo>
                  <a:pt x="0" y="0"/>
                </a:moveTo>
                <a:lnTo>
                  <a:pt x="526819" y="0"/>
                </a:lnTo>
                <a:lnTo>
                  <a:pt x="526819" y="642033"/>
                </a:lnTo>
                <a:lnTo>
                  <a:pt x="0" y="64203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3">
            <a:extLst>
              <a:ext uri="{FF2B5EF4-FFF2-40B4-BE49-F238E27FC236}">
                <a16:creationId xmlns:a16="http://schemas.microsoft.com/office/drawing/2014/main" id="{8DEBB594-D8C8-9DA3-C397-6101F608C8AA}"/>
              </a:ext>
            </a:extLst>
          </p:cNvPr>
          <p:cNvSpPr/>
          <p:nvPr/>
        </p:nvSpPr>
        <p:spPr>
          <a:xfrm>
            <a:off x="909836" y="5301208"/>
            <a:ext cx="1559795" cy="576691"/>
          </a:xfrm>
          <a:custGeom>
            <a:avLst/>
            <a:gdLst/>
            <a:ahLst/>
            <a:cxnLst/>
            <a:rect l="l" t="t" r="r" b="b"/>
            <a:pathLst>
              <a:path w="1559795" h="576691">
                <a:moveTo>
                  <a:pt x="0" y="0"/>
                </a:moveTo>
                <a:lnTo>
                  <a:pt x="1559795" y="0"/>
                </a:lnTo>
                <a:lnTo>
                  <a:pt x="1559795" y="576691"/>
                </a:lnTo>
                <a:lnTo>
                  <a:pt x="0" y="57669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extLst>
      <p:ext uri="{BB962C8B-B14F-4D97-AF65-F5344CB8AC3E}">
        <p14:creationId xmlns:p14="http://schemas.microsoft.com/office/powerpoint/2010/main" val="938516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egnaposto contenuto 13"/>
          <p:cNvSpPr>
            <a:spLocks noGrp="1"/>
          </p:cNvSpPr>
          <p:nvPr>
            <p:ph idx="1"/>
          </p:nvPr>
        </p:nvSpPr>
        <p:spPr>
          <a:xfrm>
            <a:off x="7959630" y="1196752"/>
            <a:ext cx="4216574" cy="5760640"/>
          </a:xfrm>
        </p:spPr>
        <p:txBody>
          <a:bodyPr rtlCol="0">
            <a:normAutofit/>
          </a:bodyPr>
          <a:lstStyle/>
          <a:p>
            <a:pPr rtl="0"/>
            <a:r>
              <a:rPr lang="it-IT" sz="2000" dirty="0"/>
              <a:t>L’host alloca i dati necessari nella memoria globale della GPU</a:t>
            </a:r>
          </a:p>
          <a:p>
            <a:pPr rtl="0"/>
            <a:r>
              <a:rPr lang="it-IT" sz="2000" dirty="0"/>
              <a:t>Abbiamo notato che nella parte di codice non modificabile </a:t>
            </a:r>
            <a:r>
              <a:rPr lang="it-IT" sz="2000" dirty="0">
                <a:solidFill>
                  <a:srgbClr val="9CDCFE"/>
                </a:solidFill>
              </a:rPr>
              <a:t>d_pat_lenght </a:t>
            </a:r>
            <a:r>
              <a:rPr lang="it-IT" sz="2000" dirty="0"/>
              <a:t>non è stato inviato nella GPU</a:t>
            </a:r>
          </a:p>
          <a:p>
            <a:pPr rtl="0"/>
            <a:r>
              <a:rPr lang="it-IT" sz="2000" dirty="0"/>
              <a:t>Il kernel viene invocato considerando tutti e 1024 thread che può contenere un blocco </a:t>
            </a:r>
          </a:p>
          <a:p>
            <a:pPr rtl="0"/>
            <a:r>
              <a:rPr lang="it-IT" sz="2000" dirty="0"/>
              <a:t>Il numero di blocchi è calcolato mediante la divisione numero di pattern / 1024 approssimato per difetto nel caso in cui ci siano meno di 1024 pattern</a:t>
            </a:r>
          </a:p>
        </p:txBody>
      </p:sp>
      <p:sp>
        <p:nvSpPr>
          <p:cNvPr id="6" name="Titolo 6">
            <a:extLst>
              <a:ext uri="{FF2B5EF4-FFF2-40B4-BE49-F238E27FC236}">
                <a16:creationId xmlns:a16="http://schemas.microsoft.com/office/drawing/2014/main" id="{FD45444E-40A6-9A2C-92E7-0543023D3745}"/>
              </a:ext>
            </a:extLst>
          </p:cNvPr>
          <p:cNvSpPr>
            <a:spLocks noGrp="1"/>
          </p:cNvSpPr>
          <p:nvPr>
            <p:ph type="title"/>
          </p:nvPr>
        </p:nvSpPr>
        <p:spPr>
          <a:xfrm>
            <a:off x="6382444" y="188640"/>
            <a:ext cx="6531713" cy="1223963"/>
          </a:xfrm>
        </p:spPr>
        <p:txBody>
          <a:bodyPr rtlCol="0"/>
          <a:lstStyle/>
          <a:p>
            <a:pPr rtl="0"/>
            <a:r>
              <a:rPr lang="it-IT" dirty="0"/>
              <a:t> 	</a:t>
            </a:r>
          </a:p>
        </p:txBody>
      </p:sp>
      <p:pic>
        <p:nvPicPr>
          <p:cNvPr id="4" name="Immagine 3" descr="Immagine che contiene testo, elettronica, schermata, computer&#10;&#10;Descrizione generata automaticamente">
            <a:extLst>
              <a:ext uri="{FF2B5EF4-FFF2-40B4-BE49-F238E27FC236}">
                <a16:creationId xmlns:a16="http://schemas.microsoft.com/office/drawing/2014/main" id="{396E07CD-AE91-5567-B3F9-DD9B1D20216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639" y="1052736"/>
            <a:ext cx="7797216" cy="5112568"/>
          </a:xfrm>
          <a:prstGeom prst="rect">
            <a:avLst/>
          </a:prstGeom>
          <a:ln>
            <a:noFill/>
          </a:ln>
          <a:effectLst>
            <a:softEdge rad="112500"/>
          </a:effectLst>
        </p:spPr>
      </p:pic>
      <p:sp>
        <p:nvSpPr>
          <p:cNvPr id="5" name="Titolo 6">
            <a:extLst>
              <a:ext uri="{FF2B5EF4-FFF2-40B4-BE49-F238E27FC236}">
                <a16:creationId xmlns:a16="http://schemas.microsoft.com/office/drawing/2014/main" id="{1164150C-45CE-B04B-EEAF-A5CC1F228244}"/>
              </a:ext>
            </a:extLst>
          </p:cNvPr>
          <p:cNvSpPr txBox="1">
            <a:spLocks/>
          </p:cNvSpPr>
          <p:nvPr/>
        </p:nvSpPr>
        <p:spPr>
          <a:xfrm>
            <a:off x="7869984" y="-171227"/>
            <a:ext cx="4392488" cy="1223963"/>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CMU Serif" panose="02000603000000000000" pitchFamily="2" charset="0"/>
                <a:ea typeface="+mj-ea"/>
                <a:cs typeface="+mj-cs"/>
              </a:defRPr>
            </a:lvl1pPr>
          </a:lstStyle>
          <a:p>
            <a:r>
              <a:rPr lang="it-IT" sz="3200" dirty="0"/>
              <a:t>Gestione Memoria:</a:t>
            </a:r>
          </a:p>
        </p:txBody>
      </p:sp>
    </p:spTree>
    <p:extLst>
      <p:ext uri="{BB962C8B-B14F-4D97-AF65-F5344CB8AC3E}">
        <p14:creationId xmlns:p14="http://schemas.microsoft.com/office/powerpoint/2010/main" val="3552578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egnaposto contenuto 13"/>
          <p:cNvSpPr>
            <a:spLocks noGrp="1"/>
          </p:cNvSpPr>
          <p:nvPr>
            <p:ph idx="1"/>
          </p:nvPr>
        </p:nvSpPr>
        <p:spPr>
          <a:xfrm>
            <a:off x="7960821" y="1142862"/>
            <a:ext cx="4216574" cy="5760640"/>
          </a:xfrm>
        </p:spPr>
        <p:txBody>
          <a:bodyPr rtlCol="0">
            <a:normAutofit/>
          </a:bodyPr>
          <a:lstStyle/>
          <a:p>
            <a:pPr rtl="0"/>
            <a:r>
              <a:rPr lang="it-IT" sz="2000" dirty="0"/>
              <a:t>Verifichiamo che il thread deve lavorare calcolando il numero</a:t>
            </a:r>
          </a:p>
          <a:p>
            <a:pPr rtl="0"/>
            <a:r>
              <a:rPr lang="it-IT" sz="2000" dirty="0"/>
              <a:t>Successivamente al numero di processo equivale anche il numero del pattern </a:t>
            </a:r>
          </a:p>
          <a:p>
            <a:pPr rtl="0"/>
            <a:r>
              <a:rPr lang="it-IT" sz="2000" dirty="0"/>
              <a:t>Il codice è il medesimo del sequenziale, vengono utilizzate le operazioni atomiche per incrementare </a:t>
            </a:r>
            <a:r>
              <a:rPr lang="it-IT" sz="2000" dirty="0">
                <a:solidFill>
                  <a:srgbClr val="9CDCFE"/>
                </a:solidFill>
              </a:rPr>
              <a:t>g_pat_matches </a:t>
            </a:r>
            <a:r>
              <a:rPr lang="it-IT" sz="2000" dirty="0"/>
              <a:t>e per assegnare start a </a:t>
            </a:r>
            <a:r>
              <a:rPr lang="it-IT" sz="2000" dirty="0">
                <a:solidFill>
                  <a:srgbClr val="9CDCFE"/>
                </a:solidFill>
              </a:rPr>
              <a:t>g_pat_found</a:t>
            </a:r>
            <a:r>
              <a:rPr lang="it-IT" sz="2000" dirty="0"/>
              <a:t>[</a:t>
            </a:r>
            <a:r>
              <a:rPr lang="it-IT" sz="2000" dirty="0">
                <a:solidFill>
                  <a:srgbClr val="9CDCFE"/>
                </a:solidFill>
              </a:rPr>
              <a:t>pat</a:t>
            </a:r>
            <a:r>
              <a:rPr lang="it-IT" sz="2000" dirty="0"/>
              <a:t>] </a:t>
            </a:r>
          </a:p>
          <a:p>
            <a:pPr rtl="0"/>
            <a:endParaRPr lang="it-IT" sz="2000" dirty="0"/>
          </a:p>
        </p:txBody>
      </p:sp>
      <p:sp>
        <p:nvSpPr>
          <p:cNvPr id="6" name="Titolo 6">
            <a:extLst>
              <a:ext uri="{FF2B5EF4-FFF2-40B4-BE49-F238E27FC236}">
                <a16:creationId xmlns:a16="http://schemas.microsoft.com/office/drawing/2014/main" id="{FD45444E-40A6-9A2C-92E7-0543023D3745}"/>
              </a:ext>
            </a:extLst>
          </p:cNvPr>
          <p:cNvSpPr>
            <a:spLocks noGrp="1"/>
          </p:cNvSpPr>
          <p:nvPr>
            <p:ph type="title"/>
          </p:nvPr>
        </p:nvSpPr>
        <p:spPr>
          <a:xfrm>
            <a:off x="6382444" y="188641"/>
            <a:ext cx="6531713" cy="954222"/>
          </a:xfrm>
        </p:spPr>
        <p:txBody>
          <a:bodyPr rtlCol="0"/>
          <a:lstStyle/>
          <a:p>
            <a:pPr rtl="0"/>
            <a:r>
              <a:rPr lang="it-IT" dirty="0"/>
              <a:t> 	</a:t>
            </a:r>
          </a:p>
        </p:txBody>
      </p:sp>
      <p:pic>
        <p:nvPicPr>
          <p:cNvPr id="7" name="Immagine 6" descr="Immagine che contiene testo, elettronica, computer, schermo&#10;&#10;Descrizione generata automaticamente">
            <a:extLst>
              <a:ext uri="{FF2B5EF4-FFF2-40B4-BE49-F238E27FC236}">
                <a16:creationId xmlns:a16="http://schemas.microsoft.com/office/drawing/2014/main" id="{E4BFD993-8C7B-0E78-44F0-8B5A3D3486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528" y="404664"/>
            <a:ext cx="7882293" cy="6207854"/>
          </a:xfrm>
          <a:prstGeom prst="rect">
            <a:avLst/>
          </a:prstGeom>
          <a:ln>
            <a:noFill/>
          </a:ln>
          <a:effectLst>
            <a:softEdge rad="112500"/>
          </a:effectLst>
        </p:spPr>
      </p:pic>
      <p:sp>
        <p:nvSpPr>
          <p:cNvPr id="8" name="Titolo 6">
            <a:extLst>
              <a:ext uri="{FF2B5EF4-FFF2-40B4-BE49-F238E27FC236}">
                <a16:creationId xmlns:a16="http://schemas.microsoft.com/office/drawing/2014/main" id="{CA247DAC-A594-46A1-E714-E6ECC2E21B04}"/>
              </a:ext>
            </a:extLst>
          </p:cNvPr>
          <p:cNvSpPr txBox="1">
            <a:spLocks/>
          </p:cNvSpPr>
          <p:nvPr/>
        </p:nvSpPr>
        <p:spPr>
          <a:xfrm>
            <a:off x="7960821" y="-207318"/>
            <a:ext cx="4392488" cy="1223963"/>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r>
              <a:rPr lang="it-IT" sz="3200" dirty="0">
                <a:latin typeface="CMU Serif" panose="02000603000000000000" pitchFamily="2" charset="0"/>
              </a:rPr>
              <a:t>Kernel:</a:t>
            </a:r>
          </a:p>
        </p:txBody>
      </p:sp>
    </p:spTree>
    <p:extLst>
      <p:ext uri="{BB962C8B-B14F-4D97-AF65-F5344CB8AC3E}">
        <p14:creationId xmlns:p14="http://schemas.microsoft.com/office/powerpoint/2010/main" val="3152463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egnaposto contenuto 13"/>
          <p:cNvSpPr>
            <a:spLocks noGrp="1"/>
          </p:cNvSpPr>
          <p:nvPr>
            <p:ph idx="1"/>
          </p:nvPr>
        </p:nvSpPr>
        <p:spPr>
          <a:xfrm>
            <a:off x="3744246" y="665752"/>
            <a:ext cx="5518517" cy="5760640"/>
          </a:xfrm>
        </p:spPr>
        <p:txBody>
          <a:bodyPr rtlCol="0">
            <a:normAutofit/>
          </a:bodyPr>
          <a:lstStyle/>
          <a:p>
            <a:pPr marL="0" indent="0" rtl="0">
              <a:buNone/>
            </a:pPr>
            <a:r>
              <a:rPr lang="it-IT" sz="2000" dirty="0"/>
              <a:t>Nella seguente funzione è stata utilizzata l’operazione atomica per aggiornare </a:t>
            </a:r>
            <a:r>
              <a:rPr lang="it-IT" sz="2000" dirty="0">
                <a:solidFill>
                  <a:srgbClr val="9CDCFE"/>
                </a:solidFill>
              </a:rPr>
              <a:t>seq_matches</a:t>
            </a:r>
          </a:p>
          <a:p>
            <a:pPr marL="0" indent="0" rtl="0">
              <a:buNone/>
            </a:pPr>
            <a:r>
              <a:rPr lang="it-IT" sz="2000" dirty="0"/>
              <a:t>Abbiamo dovuto modificare il corpo della funzione, precedentemente se il valore era </a:t>
            </a:r>
            <a:r>
              <a:rPr lang="it-IT" sz="2000" dirty="0">
                <a:solidFill>
                  <a:srgbClr val="9CDCFE"/>
                </a:solidFill>
              </a:rPr>
              <a:t>NOT_FOUND </a:t>
            </a:r>
            <a:r>
              <a:rPr lang="it-IT" sz="2000" dirty="0"/>
              <a:t>veniva impostata a 0 altrimenti incrementata di 1. </a:t>
            </a:r>
          </a:p>
          <a:p>
            <a:pPr marL="0" indent="0" rtl="0">
              <a:buNone/>
            </a:pPr>
            <a:r>
              <a:rPr lang="it-IT" sz="2000" dirty="0"/>
              <a:t>Ciò causava problemi nonostante l’utilizzo dell’atomica perché nell’array finale risultavano valori inferiori.</a:t>
            </a:r>
          </a:p>
        </p:txBody>
      </p:sp>
      <p:sp>
        <p:nvSpPr>
          <p:cNvPr id="6" name="Titolo 6">
            <a:extLst>
              <a:ext uri="{FF2B5EF4-FFF2-40B4-BE49-F238E27FC236}">
                <a16:creationId xmlns:a16="http://schemas.microsoft.com/office/drawing/2014/main" id="{FD45444E-40A6-9A2C-92E7-0543023D3745}"/>
              </a:ext>
            </a:extLst>
          </p:cNvPr>
          <p:cNvSpPr>
            <a:spLocks noGrp="1"/>
          </p:cNvSpPr>
          <p:nvPr>
            <p:ph type="title"/>
          </p:nvPr>
        </p:nvSpPr>
        <p:spPr>
          <a:xfrm>
            <a:off x="6382444" y="188641"/>
            <a:ext cx="6531713" cy="954222"/>
          </a:xfrm>
        </p:spPr>
        <p:txBody>
          <a:bodyPr rtlCol="0"/>
          <a:lstStyle/>
          <a:p>
            <a:pPr rtl="0"/>
            <a:r>
              <a:rPr lang="it-IT" dirty="0"/>
              <a:t> 	</a:t>
            </a:r>
          </a:p>
        </p:txBody>
      </p:sp>
      <p:sp>
        <p:nvSpPr>
          <p:cNvPr id="8" name="Titolo 6">
            <a:extLst>
              <a:ext uri="{FF2B5EF4-FFF2-40B4-BE49-F238E27FC236}">
                <a16:creationId xmlns:a16="http://schemas.microsoft.com/office/drawing/2014/main" id="{CA247DAC-A594-46A1-E714-E6ECC2E21B04}"/>
              </a:ext>
            </a:extLst>
          </p:cNvPr>
          <p:cNvSpPr txBox="1">
            <a:spLocks/>
          </p:cNvSpPr>
          <p:nvPr/>
        </p:nvSpPr>
        <p:spPr>
          <a:xfrm>
            <a:off x="7960821" y="-207318"/>
            <a:ext cx="4392488" cy="1223963"/>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endParaRPr lang="it-IT" sz="3200" dirty="0">
              <a:latin typeface="CMU Serif" panose="02000603000000000000" pitchFamily="2" charset="0"/>
            </a:endParaRPr>
          </a:p>
        </p:txBody>
      </p:sp>
      <p:pic>
        <p:nvPicPr>
          <p:cNvPr id="5" name="Immagine 4" descr="Immagine che contiene testo, Software multimediale, software, schermata&#10;&#10;Descrizione generata automaticamente">
            <a:extLst>
              <a:ext uri="{FF2B5EF4-FFF2-40B4-BE49-F238E27FC236}">
                <a16:creationId xmlns:a16="http://schemas.microsoft.com/office/drawing/2014/main" id="{0DD84B62-5361-FEE3-AEAD-BDA8B2764F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1844" y="3861048"/>
            <a:ext cx="10652339" cy="2642756"/>
          </a:xfrm>
          <a:prstGeom prst="rect">
            <a:avLst/>
          </a:prstGeom>
          <a:ln>
            <a:noFill/>
          </a:ln>
          <a:effectLst>
            <a:softEdge rad="112500"/>
          </a:effectLst>
        </p:spPr>
      </p:pic>
    </p:spTree>
    <p:extLst>
      <p:ext uri="{BB962C8B-B14F-4D97-AF65-F5344CB8AC3E}">
        <p14:creationId xmlns:p14="http://schemas.microsoft.com/office/powerpoint/2010/main" val="2877063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egnaposto contenuto 13"/>
          <p:cNvSpPr>
            <a:spLocks noGrp="1"/>
          </p:cNvSpPr>
          <p:nvPr>
            <p:ph idx="1"/>
          </p:nvPr>
        </p:nvSpPr>
        <p:spPr>
          <a:xfrm>
            <a:off x="3471613" y="1076780"/>
            <a:ext cx="5518517" cy="5760640"/>
          </a:xfrm>
        </p:spPr>
        <p:txBody>
          <a:bodyPr rtlCol="0">
            <a:normAutofit/>
          </a:bodyPr>
          <a:lstStyle/>
          <a:p>
            <a:pPr marL="0" indent="0" rtl="0">
              <a:buNone/>
            </a:pPr>
            <a:r>
              <a:rPr lang="it-IT" sz="2000" dirty="0"/>
              <a:t>Riportiamo </a:t>
            </a:r>
            <a:r>
              <a:rPr lang="it-IT" sz="2000" dirty="0" err="1"/>
              <a:t>nell’host</a:t>
            </a:r>
            <a:r>
              <a:rPr lang="it-IT" sz="2000" dirty="0"/>
              <a:t> i dati necessari al checksum e liberiamo la memoria del device</a:t>
            </a:r>
          </a:p>
        </p:txBody>
      </p:sp>
      <p:sp>
        <p:nvSpPr>
          <p:cNvPr id="6" name="Titolo 6">
            <a:extLst>
              <a:ext uri="{FF2B5EF4-FFF2-40B4-BE49-F238E27FC236}">
                <a16:creationId xmlns:a16="http://schemas.microsoft.com/office/drawing/2014/main" id="{FD45444E-40A6-9A2C-92E7-0543023D3745}"/>
              </a:ext>
            </a:extLst>
          </p:cNvPr>
          <p:cNvSpPr>
            <a:spLocks noGrp="1"/>
          </p:cNvSpPr>
          <p:nvPr>
            <p:ph type="title"/>
          </p:nvPr>
        </p:nvSpPr>
        <p:spPr>
          <a:xfrm>
            <a:off x="6382444" y="188641"/>
            <a:ext cx="6531713" cy="954222"/>
          </a:xfrm>
        </p:spPr>
        <p:txBody>
          <a:bodyPr rtlCol="0"/>
          <a:lstStyle/>
          <a:p>
            <a:pPr rtl="0"/>
            <a:r>
              <a:rPr lang="it-IT" dirty="0"/>
              <a:t> 	</a:t>
            </a:r>
          </a:p>
        </p:txBody>
      </p:sp>
      <p:sp>
        <p:nvSpPr>
          <p:cNvPr id="8" name="Titolo 6">
            <a:extLst>
              <a:ext uri="{FF2B5EF4-FFF2-40B4-BE49-F238E27FC236}">
                <a16:creationId xmlns:a16="http://schemas.microsoft.com/office/drawing/2014/main" id="{CA247DAC-A594-46A1-E714-E6ECC2E21B04}"/>
              </a:ext>
            </a:extLst>
          </p:cNvPr>
          <p:cNvSpPr txBox="1">
            <a:spLocks/>
          </p:cNvSpPr>
          <p:nvPr/>
        </p:nvSpPr>
        <p:spPr>
          <a:xfrm>
            <a:off x="7960821" y="-207318"/>
            <a:ext cx="4392488" cy="1223963"/>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endParaRPr lang="it-IT" sz="3200" dirty="0">
              <a:latin typeface="CMU Serif" panose="02000603000000000000" pitchFamily="2" charset="0"/>
            </a:endParaRPr>
          </a:p>
        </p:txBody>
      </p:sp>
      <p:pic>
        <p:nvPicPr>
          <p:cNvPr id="5" name="Immagine 4" descr="Immagine che contiene testo, Software multimediale, software, schermata&#10;&#10;Descrizione generata automaticamente">
            <a:extLst>
              <a:ext uri="{FF2B5EF4-FFF2-40B4-BE49-F238E27FC236}">
                <a16:creationId xmlns:a16="http://schemas.microsoft.com/office/drawing/2014/main" id="{0DD84B62-5361-FEE3-AEAD-BDA8B2764F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1884" y="4149080"/>
            <a:ext cx="9781596" cy="2426732"/>
          </a:xfrm>
          <a:prstGeom prst="rect">
            <a:avLst/>
          </a:prstGeom>
          <a:ln>
            <a:noFill/>
          </a:ln>
          <a:effectLst>
            <a:softEdge rad="112500"/>
          </a:effectLst>
        </p:spPr>
      </p:pic>
      <p:pic>
        <p:nvPicPr>
          <p:cNvPr id="3" name="Immagine 2" descr="Immagine che contiene testo, schermata, software, design&#10;&#10;Descrizione generata automaticamente">
            <a:extLst>
              <a:ext uri="{FF2B5EF4-FFF2-40B4-BE49-F238E27FC236}">
                <a16:creationId xmlns:a16="http://schemas.microsoft.com/office/drawing/2014/main" id="{ECC33812-9D7C-10D3-4BF4-A114FB06D2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5820" y="2144518"/>
            <a:ext cx="10774932" cy="4431294"/>
          </a:xfrm>
          <a:prstGeom prst="rect">
            <a:avLst/>
          </a:prstGeom>
          <a:ln>
            <a:noFill/>
          </a:ln>
          <a:effectLst>
            <a:softEdge rad="112500"/>
          </a:effectLst>
        </p:spPr>
      </p:pic>
    </p:spTree>
    <p:extLst>
      <p:ext uri="{BB962C8B-B14F-4D97-AF65-F5344CB8AC3E}">
        <p14:creationId xmlns:p14="http://schemas.microsoft.com/office/powerpoint/2010/main" val="1478954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ottotitolo 4"/>
          <p:cNvSpPr>
            <a:spLocks noGrp="1"/>
          </p:cNvSpPr>
          <p:nvPr>
            <p:ph type="subTitle" idx="1"/>
          </p:nvPr>
        </p:nvSpPr>
        <p:spPr>
          <a:xfrm>
            <a:off x="1689733" y="2802273"/>
            <a:ext cx="8717708" cy="737786"/>
          </a:xfrm>
        </p:spPr>
        <p:txBody>
          <a:bodyPr rtlCol="0">
            <a:normAutofit/>
          </a:bodyPr>
          <a:lstStyle/>
          <a:p>
            <a:pPr rtl="0"/>
            <a:r>
              <a:rPr lang="it-IT" sz="4000" cap="none" dirty="0"/>
              <a:t>Implementazione MPI+CUDA</a:t>
            </a:r>
            <a:endParaRPr lang="it-IT" sz="4000" dirty="0"/>
          </a:p>
        </p:txBody>
      </p:sp>
      <p:sp>
        <p:nvSpPr>
          <p:cNvPr id="3" name="TextBox 7">
            <a:extLst>
              <a:ext uri="{FF2B5EF4-FFF2-40B4-BE49-F238E27FC236}">
                <a16:creationId xmlns:a16="http://schemas.microsoft.com/office/drawing/2014/main" id="{EA7947CA-5BBC-643E-04D5-CD50DEE4808B}"/>
              </a:ext>
            </a:extLst>
          </p:cNvPr>
          <p:cNvSpPr txBox="1"/>
          <p:nvPr/>
        </p:nvSpPr>
        <p:spPr>
          <a:xfrm>
            <a:off x="1053852" y="261413"/>
            <a:ext cx="5040560" cy="443070"/>
          </a:xfrm>
          <a:prstGeom prst="rect">
            <a:avLst/>
          </a:prstGeom>
        </p:spPr>
        <p:txBody>
          <a:bodyPr wrap="square" lIns="0" tIns="0" rIns="0" bIns="0" rtlCol="0" anchor="t">
            <a:spAutoFit/>
          </a:bodyPr>
          <a:lstStyle/>
          <a:p>
            <a:pPr algn="l">
              <a:lnSpc>
                <a:spcPts val="1679"/>
              </a:lnSpc>
            </a:pPr>
            <a:r>
              <a:rPr lang="it-IT" sz="1600" b="1" i="0" dirty="0">
                <a:effectLst/>
                <a:latin typeface="CMU Serif" panose="02000603000000000000" pitchFamily="2" charset="0"/>
              </a:rPr>
              <a:t>Programmazione di Sistemi Embedded e Multicore </a:t>
            </a:r>
            <a:r>
              <a:rPr lang="en-US" sz="1600" spc="1" dirty="0">
                <a:solidFill>
                  <a:srgbClr val="FFFFFF"/>
                </a:solidFill>
                <a:latin typeface="CMU Serif" panose="02000603000000000000" pitchFamily="2" charset="0"/>
                <a:ea typeface="CMU Serif" panose="02000603000000000000" pitchFamily="2" charset="0"/>
                <a:cs typeface="CMU Serif" panose="02000603000000000000" pitchFamily="2" charset="0"/>
                <a:sym typeface="IBM Plex Sans"/>
              </a:rPr>
              <a:t>A.A 2024/2025 Prof. Daniele De Sensi</a:t>
            </a:r>
          </a:p>
        </p:txBody>
      </p:sp>
      <p:sp>
        <p:nvSpPr>
          <p:cNvPr id="4" name="TextBox 7">
            <a:extLst>
              <a:ext uri="{FF2B5EF4-FFF2-40B4-BE49-F238E27FC236}">
                <a16:creationId xmlns:a16="http://schemas.microsoft.com/office/drawing/2014/main" id="{68F81502-ACD9-68D0-A4E1-E2BD6983C097}"/>
              </a:ext>
            </a:extLst>
          </p:cNvPr>
          <p:cNvSpPr txBox="1"/>
          <p:nvPr/>
        </p:nvSpPr>
        <p:spPr>
          <a:xfrm>
            <a:off x="8326660" y="261414"/>
            <a:ext cx="3672408" cy="225062"/>
          </a:xfrm>
          <a:prstGeom prst="rect">
            <a:avLst/>
          </a:prstGeom>
        </p:spPr>
        <p:txBody>
          <a:bodyPr wrap="square" lIns="0" tIns="0" rIns="0" bIns="0" rtlCol="0" anchor="t">
            <a:spAutoFit/>
          </a:bodyPr>
          <a:lstStyle/>
          <a:p>
            <a:pPr algn="l">
              <a:lnSpc>
                <a:spcPts val="1679"/>
              </a:lnSpc>
            </a:pPr>
            <a:r>
              <a:rPr lang="it-IT" sz="1600" i="0" dirty="0">
                <a:effectLst/>
                <a:latin typeface="CMU Serif" panose="02000603000000000000" pitchFamily="2" charset="0"/>
              </a:rPr>
              <a:t>Cola Valerio – Cerboni Federico</a:t>
            </a:r>
            <a:endParaRPr lang="en-US" sz="1600" spc="1" dirty="0">
              <a:solidFill>
                <a:srgbClr val="FFFFFF"/>
              </a:solidFill>
              <a:latin typeface="CMU Serif" panose="02000603000000000000" pitchFamily="2" charset="0"/>
              <a:ea typeface="CMU Serif" panose="02000603000000000000" pitchFamily="2" charset="0"/>
              <a:cs typeface="CMU Serif" panose="02000603000000000000" pitchFamily="2" charset="0"/>
              <a:sym typeface="IBM Plex Sans"/>
            </a:endParaRPr>
          </a:p>
        </p:txBody>
      </p:sp>
      <p:sp>
        <p:nvSpPr>
          <p:cNvPr id="6" name="Freeform 2">
            <a:extLst>
              <a:ext uri="{FF2B5EF4-FFF2-40B4-BE49-F238E27FC236}">
                <a16:creationId xmlns:a16="http://schemas.microsoft.com/office/drawing/2014/main" id="{7D98CE38-FAF7-0947-37CE-43477529654F}"/>
              </a:ext>
            </a:extLst>
          </p:cNvPr>
          <p:cNvSpPr/>
          <p:nvPr/>
        </p:nvSpPr>
        <p:spPr>
          <a:xfrm>
            <a:off x="228074" y="5269080"/>
            <a:ext cx="526818" cy="642033"/>
          </a:xfrm>
          <a:custGeom>
            <a:avLst/>
            <a:gdLst/>
            <a:ahLst/>
            <a:cxnLst/>
            <a:rect l="l" t="t" r="r" b="b"/>
            <a:pathLst>
              <a:path w="526818" h="642033">
                <a:moveTo>
                  <a:pt x="0" y="0"/>
                </a:moveTo>
                <a:lnTo>
                  <a:pt x="526819" y="0"/>
                </a:lnTo>
                <a:lnTo>
                  <a:pt x="526819" y="642033"/>
                </a:lnTo>
                <a:lnTo>
                  <a:pt x="0" y="64203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3">
            <a:extLst>
              <a:ext uri="{FF2B5EF4-FFF2-40B4-BE49-F238E27FC236}">
                <a16:creationId xmlns:a16="http://schemas.microsoft.com/office/drawing/2014/main" id="{8DEBB594-D8C8-9DA3-C397-6101F608C8AA}"/>
              </a:ext>
            </a:extLst>
          </p:cNvPr>
          <p:cNvSpPr/>
          <p:nvPr/>
        </p:nvSpPr>
        <p:spPr>
          <a:xfrm>
            <a:off x="909836" y="5301208"/>
            <a:ext cx="1559795" cy="576691"/>
          </a:xfrm>
          <a:custGeom>
            <a:avLst/>
            <a:gdLst/>
            <a:ahLst/>
            <a:cxnLst/>
            <a:rect l="l" t="t" r="r" b="b"/>
            <a:pathLst>
              <a:path w="1559795" h="576691">
                <a:moveTo>
                  <a:pt x="0" y="0"/>
                </a:moveTo>
                <a:lnTo>
                  <a:pt x="1559795" y="0"/>
                </a:lnTo>
                <a:lnTo>
                  <a:pt x="1559795" y="576691"/>
                </a:lnTo>
                <a:lnTo>
                  <a:pt x="0" y="57669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extLst>
      <p:ext uri="{BB962C8B-B14F-4D97-AF65-F5344CB8AC3E}">
        <p14:creationId xmlns:p14="http://schemas.microsoft.com/office/powerpoint/2010/main" val="4100883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egnaposto contenuto 13"/>
          <p:cNvSpPr>
            <a:spLocks noGrp="1"/>
          </p:cNvSpPr>
          <p:nvPr>
            <p:ph idx="1"/>
          </p:nvPr>
        </p:nvSpPr>
        <p:spPr>
          <a:xfrm>
            <a:off x="2219029" y="764704"/>
            <a:ext cx="8326829" cy="5760640"/>
          </a:xfrm>
        </p:spPr>
        <p:txBody>
          <a:bodyPr rtlCol="0">
            <a:normAutofit/>
          </a:bodyPr>
          <a:lstStyle/>
          <a:p>
            <a:pPr marL="0" indent="0">
              <a:lnSpc>
                <a:spcPct val="107000"/>
              </a:lnSpc>
              <a:spcAft>
                <a:spcPts val="800"/>
              </a:spcAft>
              <a:buNone/>
            </a:pPr>
            <a:r>
              <a:rPr lang="it-IT" sz="1800" kern="100" dirty="0">
                <a:effectLst/>
                <a:latin typeface="CMU Serif" panose="02000603000000000000" pitchFamily="2" charset="0"/>
                <a:ea typeface="CMU Serif" panose="02000603000000000000" pitchFamily="2" charset="0"/>
                <a:cs typeface="Times New Roman" panose="02020603050405020304" pitchFamily="18" charset="0"/>
              </a:rPr>
              <a:t>L’approccio utilizzato per implementare Sequence in MPI+CUDA suddivide equamente il numero di pattern tra i Device, e ogni processo MPI gestisce una GPU. Anche in questo caso se la suddivisione non è intera, i pattern in eccesso vengono assegnati all’ultimo Rank/Device. Il codice non si limita all’utilizzo di due GPU, ma può essere eseguito su un numero maggiore di dispositivi.</a:t>
            </a:r>
          </a:p>
          <a:p>
            <a:pPr>
              <a:lnSpc>
                <a:spcPct val="107000"/>
              </a:lnSpc>
              <a:spcAft>
                <a:spcPts val="800"/>
              </a:spcAft>
            </a:pPr>
            <a:r>
              <a:rPr lang="it-IT" sz="1800" kern="100" dirty="0">
                <a:effectLst/>
                <a:latin typeface="CMU Serif" panose="02000603000000000000" pitchFamily="2" charset="0"/>
                <a:ea typeface="CMU Serif" panose="02000603000000000000" pitchFamily="2" charset="0"/>
                <a:cs typeface="Times New Roman" panose="02020603050405020304" pitchFamily="18" charset="0"/>
              </a:rPr>
              <a:t>La versione MPI+CUDA estende il codice base della versione CUDA aggiungendo le funzioni di inizializzazione MPI all’inizio del </a:t>
            </a:r>
            <a:r>
              <a:rPr lang="it-IT" sz="1800" kern="100" dirty="0" err="1">
                <a:effectLst/>
                <a:latin typeface="CMU Serif" panose="02000603000000000000" pitchFamily="2" charset="0"/>
                <a:ea typeface="CMU Serif" panose="02000603000000000000" pitchFamily="2" charset="0"/>
                <a:cs typeface="Times New Roman" panose="02020603050405020304" pitchFamily="18" charset="0"/>
              </a:rPr>
              <a:t>main</a:t>
            </a:r>
            <a:r>
              <a:rPr lang="it-IT" sz="1800" kern="100" dirty="0">
                <a:effectLst/>
                <a:latin typeface="CMU Serif" panose="02000603000000000000" pitchFamily="2" charset="0"/>
                <a:ea typeface="CMU Serif" panose="02000603000000000000" pitchFamily="2" charset="0"/>
                <a:cs typeface="Times New Roman" panose="02020603050405020304" pitchFamily="18" charset="0"/>
              </a:rPr>
              <a:t> e utilizzando la variabile rank come argomento di </a:t>
            </a:r>
            <a:r>
              <a:rPr lang="it-IT" sz="1800" kern="100" dirty="0" err="1">
                <a:effectLst/>
                <a:latin typeface="CMU Serif" panose="02000603000000000000" pitchFamily="2" charset="0"/>
                <a:ea typeface="CMU Serif" panose="02000603000000000000" pitchFamily="2" charset="0"/>
                <a:cs typeface="Times New Roman" panose="02020603050405020304" pitchFamily="18" charset="0"/>
              </a:rPr>
              <a:t>cudaSetDevice</a:t>
            </a:r>
            <a:r>
              <a:rPr lang="it-IT" sz="1800" kern="100" dirty="0">
                <a:effectLst/>
                <a:latin typeface="CMU Serif" panose="02000603000000000000" pitchFamily="2" charset="0"/>
                <a:ea typeface="CMU Serif" panose="02000603000000000000" pitchFamily="2" charset="0"/>
                <a:cs typeface="Times New Roman" panose="02020603050405020304" pitchFamily="18" charset="0"/>
              </a:rPr>
              <a:t>().</a:t>
            </a:r>
          </a:p>
          <a:p>
            <a:pPr>
              <a:lnSpc>
                <a:spcPct val="107000"/>
              </a:lnSpc>
              <a:spcAft>
                <a:spcPts val="800"/>
              </a:spcAft>
            </a:pPr>
            <a:r>
              <a:rPr kumimoji="0" lang="it-IT" altLang="it-IT" sz="1800" b="0" i="0" u="none" strike="noStrike" cap="none" normalizeH="0" baseline="0" dirty="0">
                <a:ln>
                  <a:noFill/>
                </a:ln>
                <a:solidFill>
                  <a:schemeClr val="tx1"/>
                </a:solidFill>
                <a:effectLst/>
                <a:latin typeface="CMU Serif" panose="02000603000000000000" pitchFamily="2" charset="0"/>
                <a:ea typeface="CMU Serif" panose="02000603000000000000" pitchFamily="2" charset="0"/>
                <a:cs typeface="Times New Roman" panose="02020603050405020304" pitchFamily="18" charset="0"/>
              </a:rPr>
              <a:t>Nel medesimo modo della versione MPI ogni processo:</a:t>
            </a:r>
            <a:r>
              <a:rPr kumimoji="0" lang="it-IT" altLang="it-IT" sz="100" b="0" i="0" u="none" strike="noStrike" cap="none" normalizeH="0" baseline="0" dirty="0">
                <a:ln>
                  <a:noFill/>
                </a:ln>
                <a:solidFill>
                  <a:schemeClr val="tx1"/>
                </a:solidFill>
                <a:effectLst/>
              </a:rPr>
              <a:t>.</a:t>
            </a:r>
            <a:endParaRPr lang="it-IT" altLang="it-IT" dirty="0"/>
          </a:p>
          <a:p>
            <a:pPr lvl="1">
              <a:lnSpc>
                <a:spcPct val="107000"/>
              </a:lnSpc>
              <a:spcAft>
                <a:spcPts val="800"/>
              </a:spcAft>
            </a:pPr>
            <a:r>
              <a:rPr kumimoji="0" lang="it-IT" altLang="it-IT" sz="1700" b="0" i="0" u="none" strike="noStrike" cap="none" normalizeH="0" baseline="0" dirty="0">
                <a:ln>
                  <a:noFill/>
                </a:ln>
                <a:solidFill>
                  <a:schemeClr val="tx1"/>
                </a:solidFill>
                <a:effectLst/>
                <a:latin typeface="CMU Serif" panose="02000603000000000000" pitchFamily="2" charset="0"/>
                <a:ea typeface="CMU Serif" panose="02000603000000000000" pitchFamily="2" charset="0"/>
                <a:cs typeface="Times New Roman" panose="02020603050405020304" pitchFamily="18" charset="0"/>
              </a:rPr>
              <a:t>Alloca copie locali delle variabili.  </a:t>
            </a:r>
            <a:endParaRPr lang="it-IT" altLang="it-IT" sz="1700" dirty="0"/>
          </a:p>
          <a:p>
            <a:pPr lvl="1">
              <a:lnSpc>
                <a:spcPct val="107000"/>
              </a:lnSpc>
              <a:spcAft>
                <a:spcPts val="800"/>
              </a:spcAft>
            </a:pPr>
            <a:r>
              <a:rPr kumimoji="0" lang="it-IT" altLang="it-IT" sz="1700" b="0" i="0" u="none" strike="noStrike" cap="none" normalizeH="0" baseline="0" dirty="0">
                <a:ln>
                  <a:noFill/>
                </a:ln>
                <a:solidFill>
                  <a:schemeClr val="tx1"/>
                </a:solidFill>
                <a:effectLst/>
                <a:latin typeface="CMU Serif" panose="02000603000000000000" pitchFamily="2" charset="0"/>
                <a:ea typeface="CMU Serif" panose="02000603000000000000" pitchFamily="2" charset="0"/>
                <a:cs typeface="Times New Roman" panose="02020603050405020304" pitchFamily="18" charset="0"/>
              </a:rPr>
              <a:t>Calcola quanti pattern elaborare (se è l’ultimo rank include quelle rimanenti).  </a:t>
            </a:r>
            <a:r>
              <a:rPr kumimoji="0" lang="it-IT" altLang="it-IT" sz="1700" b="0" i="0" u="none" strike="noStrike" cap="none" normalizeH="0" baseline="0" dirty="0">
                <a:ln>
                  <a:noFill/>
                </a:ln>
                <a:solidFill>
                  <a:schemeClr val="tx1"/>
                </a:solidFill>
                <a:effectLst/>
                <a:latin typeface="CMU Serif" panose="02000603000000000000" pitchFamily="2" charset="0"/>
                <a:ea typeface="CMU Serif" panose="02000603000000000000" pitchFamily="2" charset="0"/>
              </a:rPr>
              <a:t> </a:t>
            </a:r>
          </a:p>
          <a:p>
            <a:pPr lvl="1">
              <a:lnSpc>
                <a:spcPct val="107000"/>
              </a:lnSpc>
              <a:spcAft>
                <a:spcPts val="800"/>
              </a:spcAft>
            </a:pPr>
            <a:r>
              <a:rPr kumimoji="0" lang="it-IT" altLang="it-IT" sz="1700" b="0" i="0" u="none" strike="noStrike" cap="none" normalizeH="0" baseline="0" dirty="0">
                <a:ln>
                  <a:noFill/>
                </a:ln>
                <a:solidFill>
                  <a:schemeClr val="tx1"/>
                </a:solidFill>
                <a:effectLst/>
                <a:latin typeface="CMU Serif" panose="02000603000000000000" pitchFamily="2" charset="0"/>
                <a:ea typeface="CMU Serif" panose="02000603000000000000" pitchFamily="2" charset="0"/>
              </a:rPr>
              <a:t>Trasferisce i dati sul proprio Device con </a:t>
            </a:r>
            <a:r>
              <a:rPr kumimoji="0" lang="it-IT" altLang="it-IT" sz="1700" b="0" i="0" u="none" strike="noStrike" cap="none" normalizeH="0" baseline="0" dirty="0" err="1">
                <a:ln>
                  <a:noFill/>
                </a:ln>
                <a:solidFill>
                  <a:schemeClr val="tx1"/>
                </a:solidFill>
                <a:effectLst/>
                <a:latin typeface="CMU Serif" panose="02000603000000000000" pitchFamily="2" charset="0"/>
                <a:ea typeface="CMU Serif" panose="02000603000000000000" pitchFamily="2" charset="0"/>
              </a:rPr>
              <a:t>cudaMalloc</a:t>
            </a:r>
            <a:r>
              <a:rPr kumimoji="0" lang="it-IT" altLang="it-IT" sz="1700" b="0" i="0" u="none" strike="noStrike" cap="none" normalizeH="0" baseline="0" dirty="0">
                <a:ln>
                  <a:noFill/>
                </a:ln>
                <a:solidFill>
                  <a:schemeClr val="tx1"/>
                </a:solidFill>
                <a:effectLst/>
                <a:latin typeface="CMU Serif" panose="02000603000000000000" pitchFamily="2" charset="0"/>
                <a:ea typeface="CMU Serif" panose="02000603000000000000" pitchFamily="2" charset="0"/>
              </a:rPr>
              <a:t> e </a:t>
            </a:r>
            <a:r>
              <a:rPr kumimoji="0" lang="it-IT" altLang="it-IT" sz="1700" b="0" i="0" u="none" strike="noStrike" cap="none" normalizeH="0" baseline="0" dirty="0" err="1">
                <a:ln>
                  <a:noFill/>
                </a:ln>
                <a:solidFill>
                  <a:schemeClr val="tx1"/>
                </a:solidFill>
                <a:effectLst/>
                <a:latin typeface="CMU Serif" panose="02000603000000000000" pitchFamily="2" charset="0"/>
                <a:ea typeface="CMU Serif" panose="02000603000000000000" pitchFamily="2" charset="0"/>
              </a:rPr>
              <a:t>cudaMemcpy</a:t>
            </a:r>
            <a:r>
              <a:rPr kumimoji="0" lang="it-IT" altLang="it-IT" sz="1700" b="0" i="0" u="none" strike="noStrike" cap="none" normalizeH="0" baseline="0" dirty="0">
                <a:ln>
                  <a:noFill/>
                </a:ln>
                <a:solidFill>
                  <a:schemeClr val="tx1"/>
                </a:solidFill>
                <a:effectLst/>
              </a:rPr>
              <a:t> </a:t>
            </a:r>
          </a:p>
        </p:txBody>
      </p:sp>
      <p:sp>
        <p:nvSpPr>
          <p:cNvPr id="6" name="Titolo 6">
            <a:extLst>
              <a:ext uri="{FF2B5EF4-FFF2-40B4-BE49-F238E27FC236}">
                <a16:creationId xmlns:a16="http://schemas.microsoft.com/office/drawing/2014/main" id="{FD45444E-40A6-9A2C-92E7-0543023D3745}"/>
              </a:ext>
            </a:extLst>
          </p:cNvPr>
          <p:cNvSpPr>
            <a:spLocks noGrp="1"/>
          </p:cNvSpPr>
          <p:nvPr>
            <p:ph type="title"/>
          </p:nvPr>
        </p:nvSpPr>
        <p:spPr>
          <a:xfrm>
            <a:off x="6382444" y="188641"/>
            <a:ext cx="6531713" cy="954222"/>
          </a:xfrm>
        </p:spPr>
        <p:txBody>
          <a:bodyPr rtlCol="0"/>
          <a:lstStyle/>
          <a:p>
            <a:pPr rtl="0"/>
            <a:r>
              <a:rPr lang="it-IT" dirty="0"/>
              <a:t> 	</a:t>
            </a:r>
          </a:p>
        </p:txBody>
      </p:sp>
      <p:sp>
        <p:nvSpPr>
          <p:cNvPr id="8" name="Titolo 6">
            <a:extLst>
              <a:ext uri="{FF2B5EF4-FFF2-40B4-BE49-F238E27FC236}">
                <a16:creationId xmlns:a16="http://schemas.microsoft.com/office/drawing/2014/main" id="{CA247DAC-A594-46A1-E714-E6ECC2E21B04}"/>
              </a:ext>
            </a:extLst>
          </p:cNvPr>
          <p:cNvSpPr txBox="1">
            <a:spLocks/>
          </p:cNvSpPr>
          <p:nvPr/>
        </p:nvSpPr>
        <p:spPr>
          <a:xfrm>
            <a:off x="7960821" y="-207318"/>
            <a:ext cx="4392488" cy="1223963"/>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endParaRPr lang="it-IT" sz="3200" dirty="0">
              <a:latin typeface="CMU Serif" panose="02000603000000000000" pitchFamily="2" charset="0"/>
            </a:endParaRPr>
          </a:p>
        </p:txBody>
      </p:sp>
    </p:spTree>
    <p:extLst>
      <p:ext uri="{BB962C8B-B14F-4D97-AF65-F5344CB8AC3E}">
        <p14:creationId xmlns:p14="http://schemas.microsoft.com/office/powerpoint/2010/main" val="3332327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olo 6">
            <a:extLst>
              <a:ext uri="{FF2B5EF4-FFF2-40B4-BE49-F238E27FC236}">
                <a16:creationId xmlns:a16="http://schemas.microsoft.com/office/drawing/2014/main" id="{FD45444E-40A6-9A2C-92E7-0543023D3745}"/>
              </a:ext>
            </a:extLst>
          </p:cNvPr>
          <p:cNvSpPr>
            <a:spLocks noGrp="1"/>
          </p:cNvSpPr>
          <p:nvPr>
            <p:ph type="title"/>
          </p:nvPr>
        </p:nvSpPr>
        <p:spPr>
          <a:xfrm>
            <a:off x="6382444" y="188641"/>
            <a:ext cx="6531713" cy="954222"/>
          </a:xfrm>
        </p:spPr>
        <p:txBody>
          <a:bodyPr rtlCol="0"/>
          <a:lstStyle/>
          <a:p>
            <a:pPr rtl="0"/>
            <a:r>
              <a:rPr lang="it-IT" dirty="0"/>
              <a:t> 	</a:t>
            </a:r>
          </a:p>
        </p:txBody>
      </p:sp>
      <p:sp>
        <p:nvSpPr>
          <p:cNvPr id="8" name="Titolo 6">
            <a:extLst>
              <a:ext uri="{FF2B5EF4-FFF2-40B4-BE49-F238E27FC236}">
                <a16:creationId xmlns:a16="http://schemas.microsoft.com/office/drawing/2014/main" id="{CA247DAC-A594-46A1-E714-E6ECC2E21B04}"/>
              </a:ext>
            </a:extLst>
          </p:cNvPr>
          <p:cNvSpPr txBox="1">
            <a:spLocks/>
          </p:cNvSpPr>
          <p:nvPr/>
        </p:nvSpPr>
        <p:spPr>
          <a:xfrm>
            <a:off x="7960821" y="-207318"/>
            <a:ext cx="4392488" cy="1223963"/>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endParaRPr lang="it-IT" sz="3200" dirty="0">
              <a:latin typeface="CMU Serif" panose="02000603000000000000" pitchFamily="2" charset="0"/>
            </a:endParaRPr>
          </a:p>
        </p:txBody>
      </p:sp>
      <p:pic>
        <p:nvPicPr>
          <p:cNvPr id="18" name="Segnaposto contenuto 17" descr="Immagine che contiene testo, elettronica, schermo, schermata&#10;&#10;Descrizione generata automaticamente">
            <a:extLst>
              <a:ext uri="{FF2B5EF4-FFF2-40B4-BE49-F238E27FC236}">
                <a16:creationId xmlns:a16="http://schemas.microsoft.com/office/drawing/2014/main" id="{094A1887-77CE-4EAB-6550-5C70E37C8DB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1171" y="140903"/>
            <a:ext cx="7000462" cy="6576193"/>
          </a:xfrm>
          <a:prstGeom prst="rect">
            <a:avLst/>
          </a:prstGeom>
          <a:ln>
            <a:noFill/>
          </a:ln>
          <a:effectLst>
            <a:softEdge rad="112500"/>
          </a:effectLst>
        </p:spPr>
      </p:pic>
      <p:sp>
        <p:nvSpPr>
          <p:cNvPr id="19" name="Segnaposto contenuto 13">
            <a:extLst>
              <a:ext uri="{FF2B5EF4-FFF2-40B4-BE49-F238E27FC236}">
                <a16:creationId xmlns:a16="http://schemas.microsoft.com/office/drawing/2014/main" id="{6C5177CC-9321-C03B-F709-63A9A619E2AB}"/>
              </a:ext>
            </a:extLst>
          </p:cNvPr>
          <p:cNvSpPr txBox="1">
            <a:spLocks/>
          </p:cNvSpPr>
          <p:nvPr/>
        </p:nvSpPr>
        <p:spPr>
          <a:xfrm>
            <a:off x="7283637" y="1136089"/>
            <a:ext cx="4734018" cy="5760640"/>
          </a:xfrm>
          <a:prstGeom prst="rect">
            <a:avLst/>
          </a:prstGeom>
        </p:spPr>
        <p:txBody>
          <a:bodyPr vert="horz" lIns="121899" tIns="60949" rIns="121899" bIns="60949" rtlCol="0">
            <a:normAutofit lnSpcReduction="10000"/>
          </a:bodyPr>
          <a:lst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a:lstStyle>
          <a:p>
            <a:r>
              <a:rPr lang="it-IT" sz="1800" dirty="0">
                <a:latin typeface="CMU Serif" panose="02000603000000000000" pitchFamily="2" charset="0"/>
                <a:ea typeface="CMU Serif" panose="02000603000000000000" pitchFamily="2" charset="0"/>
                <a:cs typeface="CMU Serif" panose="02000603000000000000" pitchFamily="2" charset="0"/>
              </a:rPr>
              <a:t>Si differenzia dalla versione CUDA, passando </a:t>
            </a:r>
            <a:r>
              <a:rPr lang="it-IT" sz="1800" dirty="0" err="1">
                <a:solidFill>
                  <a:srgbClr val="9CDCFE"/>
                </a:solidFill>
                <a:latin typeface="CMU Serif" panose="02000603000000000000" pitchFamily="2" charset="0"/>
                <a:ea typeface="CMU Serif" panose="02000603000000000000" pitchFamily="2" charset="0"/>
                <a:cs typeface="CMU Serif" panose="02000603000000000000" pitchFamily="2" charset="0"/>
              </a:rPr>
              <a:t>g_pat_number</a:t>
            </a:r>
            <a:r>
              <a:rPr lang="it-IT" sz="1800" dirty="0">
                <a:solidFill>
                  <a:srgbClr val="9CDCFE"/>
                </a:solidFill>
                <a:latin typeface="CMU Serif" panose="02000603000000000000" pitchFamily="2" charset="0"/>
                <a:ea typeface="CMU Serif" panose="02000603000000000000" pitchFamily="2" charset="0"/>
                <a:cs typeface="CMU Serif" panose="02000603000000000000" pitchFamily="2" charset="0"/>
              </a:rPr>
              <a:t> </a:t>
            </a:r>
            <a:r>
              <a:rPr lang="it-IT" sz="1800" dirty="0">
                <a:latin typeface="CMU Serif" panose="02000603000000000000" pitchFamily="2" charset="0"/>
                <a:ea typeface="CMU Serif" panose="02000603000000000000" pitchFamily="2" charset="0"/>
                <a:cs typeface="CMU Serif" panose="02000603000000000000" pitchFamily="2" charset="0"/>
              </a:rPr>
              <a:t>(numero di pattern assegnati allo specifico device) e </a:t>
            </a:r>
            <a:r>
              <a:rPr lang="it-IT" sz="1800" dirty="0" err="1">
                <a:solidFill>
                  <a:srgbClr val="9CDCFE"/>
                </a:solidFill>
                <a:latin typeface="CMU Serif" panose="02000603000000000000" pitchFamily="2" charset="0"/>
                <a:ea typeface="CMU Serif" panose="02000603000000000000" pitchFamily="2" charset="0"/>
                <a:cs typeface="CMU Serif" panose="02000603000000000000" pitchFamily="2" charset="0"/>
              </a:rPr>
              <a:t>g_my_first_pattern</a:t>
            </a:r>
            <a:r>
              <a:rPr lang="it-IT" sz="1800" dirty="0">
                <a:latin typeface="CMU Serif" panose="02000603000000000000" pitchFamily="2" charset="0"/>
                <a:ea typeface="CMU Serif" panose="02000603000000000000" pitchFamily="2" charset="0"/>
                <a:cs typeface="CMU Serif" panose="02000603000000000000" pitchFamily="2" charset="0"/>
              </a:rPr>
              <a:t>.</a:t>
            </a:r>
          </a:p>
          <a:p>
            <a:r>
              <a:rPr lang="it-IT" sz="1800" dirty="0">
                <a:latin typeface="CMU Serif" panose="02000603000000000000" pitchFamily="2" charset="0"/>
                <a:ea typeface="CMU Serif" panose="02000603000000000000" pitchFamily="2" charset="0"/>
                <a:cs typeface="CMU Serif" panose="02000603000000000000" pitchFamily="2" charset="0"/>
              </a:rPr>
              <a:t>Ciascun </a:t>
            </a:r>
            <a:r>
              <a:rPr lang="it-IT" sz="1800" dirty="0" err="1">
                <a:latin typeface="CMU Serif" panose="02000603000000000000" pitchFamily="2" charset="0"/>
                <a:ea typeface="CMU Serif" panose="02000603000000000000" pitchFamily="2" charset="0"/>
                <a:cs typeface="CMU Serif" panose="02000603000000000000" pitchFamily="2" charset="0"/>
              </a:rPr>
              <a:t>thread</a:t>
            </a:r>
            <a:r>
              <a:rPr lang="it-IT" sz="1800" dirty="0">
                <a:latin typeface="CMU Serif" panose="02000603000000000000" pitchFamily="2" charset="0"/>
                <a:ea typeface="CMU Serif" panose="02000603000000000000" pitchFamily="2" charset="0"/>
                <a:cs typeface="CMU Serif" panose="02000603000000000000" pitchFamily="2" charset="0"/>
              </a:rPr>
              <a:t> lavora sui pattern corrispondenti al proprio intervallo.</a:t>
            </a:r>
          </a:p>
          <a:p>
            <a:r>
              <a:rPr lang="it-IT" sz="1800" dirty="0">
                <a:latin typeface="CMU Serif" panose="02000603000000000000" pitchFamily="2" charset="0"/>
                <a:ea typeface="CMU Serif" panose="02000603000000000000" pitchFamily="2" charset="0"/>
                <a:cs typeface="CMU Serif" panose="02000603000000000000" pitchFamily="2" charset="0"/>
              </a:rPr>
              <a:t>Viene effettuata una verifica per far lavorare solo il numero di thread necessari e per allinearsi al numero di pattern corretto vengono sommati il numero di thread e </a:t>
            </a:r>
            <a:r>
              <a:rPr lang="it-IT" sz="1800" dirty="0" err="1">
                <a:solidFill>
                  <a:srgbClr val="9CDCFE"/>
                </a:solidFill>
                <a:latin typeface="CMU Serif" panose="02000603000000000000" pitchFamily="2" charset="0"/>
                <a:ea typeface="CMU Serif" panose="02000603000000000000" pitchFamily="2" charset="0"/>
                <a:cs typeface="CMU Serif" panose="02000603000000000000" pitchFamily="2" charset="0"/>
              </a:rPr>
              <a:t>g_my_first_pattern</a:t>
            </a:r>
            <a:r>
              <a:rPr lang="it-IT" sz="1800" dirty="0">
                <a:latin typeface="CMU Serif" panose="02000603000000000000" pitchFamily="2" charset="0"/>
                <a:ea typeface="CMU Serif" panose="02000603000000000000" pitchFamily="2" charset="0"/>
                <a:cs typeface="CMU Serif" panose="02000603000000000000" pitchFamily="2" charset="0"/>
              </a:rPr>
              <a:t>.</a:t>
            </a:r>
          </a:p>
          <a:p>
            <a:r>
              <a:rPr lang="it-IT" sz="1800" kern="100" dirty="0">
                <a:effectLst/>
                <a:latin typeface="CMU Serif" panose="02000603000000000000" pitchFamily="2" charset="0"/>
                <a:ea typeface="CMU Serif" panose="02000603000000000000" pitchFamily="2" charset="0"/>
                <a:cs typeface="CMU Serif" panose="02000603000000000000" pitchFamily="2" charset="0"/>
              </a:rPr>
              <a:t>Se ad esempio ad ogni Device sono assegnati 100 pattern, il </a:t>
            </a:r>
            <a:r>
              <a:rPr lang="it-IT" sz="1800" kern="100" dirty="0" err="1">
                <a:effectLst/>
                <a:latin typeface="CMU Serif" panose="02000603000000000000" pitchFamily="2" charset="0"/>
                <a:ea typeface="CMU Serif" panose="02000603000000000000" pitchFamily="2" charset="0"/>
                <a:cs typeface="CMU Serif" panose="02000603000000000000" pitchFamily="2" charset="0"/>
              </a:rPr>
              <a:t>thread</a:t>
            </a:r>
            <a:r>
              <a:rPr lang="it-IT" sz="1800" kern="100" dirty="0">
                <a:effectLst/>
                <a:latin typeface="CMU Serif" panose="02000603000000000000" pitchFamily="2" charset="0"/>
                <a:ea typeface="CMU Serif" panose="02000603000000000000" pitchFamily="2" charset="0"/>
                <a:cs typeface="CMU Serif" panose="02000603000000000000" pitchFamily="2" charset="0"/>
              </a:rPr>
              <a:t> 5 del secondo Device lavora sul pattern 5 + 100 = 105 </a:t>
            </a:r>
            <a:r>
              <a:rPr lang="it-IT" sz="1800" kern="100" dirty="0" err="1">
                <a:effectLst/>
                <a:latin typeface="CMU Serif" panose="02000603000000000000" pitchFamily="2" charset="0"/>
                <a:ea typeface="CMU Serif" panose="02000603000000000000" pitchFamily="2" charset="0"/>
                <a:cs typeface="CMU Serif" panose="02000603000000000000" pitchFamily="2" charset="0"/>
              </a:rPr>
              <a:t>pochè</a:t>
            </a:r>
            <a:r>
              <a:rPr lang="it-IT" sz="1800" kern="100" dirty="0">
                <a:effectLst/>
                <a:latin typeface="CMU Serif" panose="02000603000000000000" pitchFamily="2" charset="0"/>
                <a:ea typeface="CMU Serif" panose="02000603000000000000" pitchFamily="2" charset="0"/>
                <a:cs typeface="CMU Serif" panose="02000603000000000000" pitchFamily="2" charset="0"/>
              </a:rPr>
              <a:t> i primi 100 pattern spettano al primo.</a:t>
            </a:r>
          </a:p>
          <a:p>
            <a:r>
              <a:rPr lang="it-IT" sz="1800" kern="100" dirty="0">
                <a:effectLst/>
                <a:latin typeface="CMU Serif" panose="02000603000000000000" pitchFamily="2" charset="0"/>
                <a:ea typeface="CMU Serif" panose="02000603000000000000" pitchFamily="2" charset="0"/>
                <a:cs typeface="CMU Serif" panose="02000603000000000000" pitchFamily="2" charset="0"/>
              </a:rPr>
              <a:t>Al termine, i dati per il checksum sono copiati </a:t>
            </a:r>
            <a:r>
              <a:rPr lang="it-IT" sz="1800" kern="100" dirty="0" err="1">
                <a:effectLst/>
                <a:latin typeface="CMU Serif" panose="02000603000000000000" pitchFamily="2" charset="0"/>
                <a:ea typeface="CMU Serif" panose="02000603000000000000" pitchFamily="2" charset="0"/>
                <a:cs typeface="CMU Serif" panose="02000603000000000000" pitchFamily="2" charset="0"/>
              </a:rPr>
              <a:t>nell’host</a:t>
            </a:r>
            <a:r>
              <a:rPr lang="it-IT" sz="1800" kern="100" dirty="0">
                <a:effectLst/>
                <a:latin typeface="CMU Serif" panose="02000603000000000000" pitchFamily="2" charset="0"/>
                <a:ea typeface="CMU Serif" panose="02000603000000000000" pitchFamily="2" charset="0"/>
                <a:cs typeface="CMU Serif" panose="02000603000000000000" pitchFamily="2" charset="0"/>
              </a:rPr>
              <a:t> e la memoria del Device viene liberata. Il processo di unificazione e calcolo dei checksum è identico alla versione MPI.</a:t>
            </a:r>
            <a:r>
              <a:rPr lang="it-IT" sz="1800" dirty="0">
                <a:latin typeface="CMU Serif" panose="02000603000000000000" pitchFamily="2" charset="0"/>
                <a:ea typeface="CMU Serif" panose="02000603000000000000" pitchFamily="2" charset="0"/>
                <a:cs typeface="CMU Serif" panose="02000603000000000000" pitchFamily="2" charset="0"/>
              </a:rPr>
              <a:t> </a:t>
            </a:r>
          </a:p>
          <a:p>
            <a:pPr marL="0" indent="0">
              <a:buFont typeface="Arial" pitchFamily="34" charset="0"/>
              <a:buNone/>
            </a:pPr>
            <a:endParaRPr lang="it-IT" sz="1800" dirty="0">
              <a:latin typeface="CMU Serif" panose="02000603000000000000" pitchFamily="2" charset="0"/>
              <a:ea typeface="CMU Serif" panose="02000603000000000000" pitchFamily="2" charset="0"/>
              <a:cs typeface="CMU Serif" panose="02000603000000000000" pitchFamily="2" charset="0"/>
            </a:endParaRPr>
          </a:p>
        </p:txBody>
      </p:sp>
      <p:sp>
        <p:nvSpPr>
          <p:cNvPr id="20" name="Titolo 6">
            <a:extLst>
              <a:ext uri="{FF2B5EF4-FFF2-40B4-BE49-F238E27FC236}">
                <a16:creationId xmlns:a16="http://schemas.microsoft.com/office/drawing/2014/main" id="{CE94594E-9E38-A497-ADF7-0B848A51F299}"/>
              </a:ext>
            </a:extLst>
          </p:cNvPr>
          <p:cNvSpPr txBox="1">
            <a:spLocks/>
          </p:cNvSpPr>
          <p:nvPr/>
        </p:nvSpPr>
        <p:spPr>
          <a:xfrm>
            <a:off x="7283637" y="-207319"/>
            <a:ext cx="4392488" cy="1223963"/>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r>
              <a:rPr lang="it-IT" sz="3200" dirty="0">
                <a:latin typeface="CMU Serif" panose="02000603000000000000" pitchFamily="2" charset="0"/>
              </a:rPr>
              <a:t>Kernel:</a:t>
            </a:r>
          </a:p>
        </p:txBody>
      </p:sp>
    </p:spTree>
    <p:extLst>
      <p:ext uri="{BB962C8B-B14F-4D97-AF65-F5344CB8AC3E}">
        <p14:creationId xmlns:p14="http://schemas.microsoft.com/office/powerpoint/2010/main" val="655848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ottotitolo 4"/>
          <p:cNvSpPr>
            <a:spLocks noGrp="1"/>
          </p:cNvSpPr>
          <p:nvPr>
            <p:ph type="subTitle" idx="1"/>
          </p:nvPr>
        </p:nvSpPr>
        <p:spPr>
          <a:xfrm>
            <a:off x="1689733" y="2802273"/>
            <a:ext cx="8717708" cy="737786"/>
          </a:xfrm>
        </p:spPr>
        <p:txBody>
          <a:bodyPr rtlCol="0">
            <a:normAutofit/>
          </a:bodyPr>
          <a:lstStyle/>
          <a:p>
            <a:pPr rtl="0"/>
            <a:r>
              <a:rPr lang="it-IT" sz="4000" cap="none" dirty="0"/>
              <a:t>Implementazione OpenMP</a:t>
            </a:r>
            <a:endParaRPr lang="it-IT" sz="4000" dirty="0"/>
          </a:p>
        </p:txBody>
      </p:sp>
      <p:sp>
        <p:nvSpPr>
          <p:cNvPr id="3" name="TextBox 7">
            <a:extLst>
              <a:ext uri="{FF2B5EF4-FFF2-40B4-BE49-F238E27FC236}">
                <a16:creationId xmlns:a16="http://schemas.microsoft.com/office/drawing/2014/main" id="{EA7947CA-5BBC-643E-04D5-CD50DEE4808B}"/>
              </a:ext>
            </a:extLst>
          </p:cNvPr>
          <p:cNvSpPr txBox="1"/>
          <p:nvPr/>
        </p:nvSpPr>
        <p:spPr>
          <a:xfrm>
            <a:off x="1053852" y="261413"/>
            <a:ext cx="5040560" cy="443070"/>
          </a:xfrm>
          <a:prstGeom prst="rect">
            <a:avLst/>
          </a:prstGeom>
        </p:spPr>
        <p:txBody>
          <a:bodyPr wrap="square" lIns="0" tIns="0" rIns="0" bIns="0" rtlCol="0" anchor="t">
            <a:spAutoFit/>
          </a:bodyPr>
          <a:lstStyle/>
          <a:p>
            <a:pPr algn="l">
              <a:lnSpc>
                <a:spcPts val="1679"/>
              </a:lnSpc>
            </a:pPr>
            <a:r>
              <a:rPr lang="it-IT" sz="1600" b="1" i="0" dirty="0">
                <a:effectLst/>
                <a:latin typeface="CMU Serif" panose="02000603000000000000" pitchFamily="2" charset="0"/>
              </a:rPr>
              <a:t>Programmazione di Sistemi Embedded e Multicore </a:t>
            </a:r>
            <a:r>
              <a:rPr lang="en-US" sz="1600" spc="1" dirty="0">
                <a:solidFill>
                  <a:srgbClr val="FFFFFF"/>
                </a:solidFill>
                <a:latin typeface="CMU Serif" panose="02000603000000000000" pitchFamily="2" charset="0"/>
                <a:ea typeface="CMU Serif" panose="02000603000000000000" pitchFamily="2" charset="0"/>
                <a:cs typeface="CMU Serif" panose="02000603000000000000" pitchFamily="2" charset="0"/>
                <a:sym typeface="IBM Plex Sans"/>
              </a:rPr>
              <a:t>A.A 2024/2025 Prof. Daniele De Sensi</a:t>
            </a:r>
          </a:p>
        </p:txBody>
      </p:sp>
      <p:sp>
        <p:nvSpPr>
          <p:cNvPr id="4" name="TextBox 7">
            <a:extLst>
              <a:ext uri="{FF2B5EF4-FFF2-40B4-BE49-F238E27FC236}">
                <a16:creationId xmlns:a16="http://schemas.microsoft.com/office/drawing/2014/main" id="{68F81502-ACD9-68D0-A4E1-E2BD6983C097}"/>
              </a:ext>
            </a:extLst>
          </p:cNvPr>
          <p:cNvSpPr txBox="1"/>
          <p:nvPr/>
        </p:nvSpPr>
        <p:spPr>
          <a:xfrm>
            <a:off x="8326660" y="261414"/>
            <a:ext cx="3672408" cy="225062"/>
          </a:xfrm>
          <a:prstGeom prst="rect">
            <a:avLst/>
          </a:prstGeom>
        </p:spPr>
        <p:txBody>
          <a:bodyPr wrap="square" lIns="0" tIns="0" rIns="0" bIns="0" rtlCol="0" anchor="t">
            <a:spAutoFit/>
          </a:bodyPr>
          <a:lstStyle/>
          <a:p>
            <a:pPr algn="l">
              <a:lnSpc>
                <a:spcPts val="1679"/>
              </a:lnSpc>
            </a:pPr>
            <a:r>
              <a:rPr lang="it-IT" sz="1600" i="0" dirty="0">
                <a:effectLst/>
                <a:latin typeface="CMU Serif" panose="02000603000000000000" pitchFamily="2" charset="0"/>
              </a:rPr>
              <a:t>Cola Valerio – Cerboni Federico</a:t>
            </a:r>
            <a:endParaRPr lang="en-US" sz="1600" spc="1" dirty="0">
              <a:solidFill>
                <a:srgbClr val="FFFFFF"/>
              </a:solidFill>
              <a:latin typeface="CMU Serif" panose="02000603000000000000" pitchFamily="2" charset="0"/>
              <a:ea typeface="CMU Serif" panose="02000603000000000000" pitchFamily="2" charset="0"/>
              <a:cs typeface="CMU Serif" panose="02000603000000000000" pitchFamily="2" charset="0"/>
              <a:sym typeface="IBM Plex Sans"/>
            </a:endParaRPr>
          </a:p>
        </p:txBody>
      </p:sp>
      <p:sp>
        <p:nvSpPr>
          <p:cNvPr id="6" name="Freeform 2">
            <a:extLst>
              <a:ext uri="{FF2B5EF4-FFF2-40B4-BE49-F238E27FC236}">
                <a16:creationId xmlns:a16="http://schemas.microsoft.com/office/drawing/2014/main" id="{7D98CE38-FAF7-0947-37CE-43477529654F}"/>
              </a:ext>
            </a:extLst>
          </p:cNvPr>
          <p:cNvSpPr/>
          <p:nvPr/>
        </p:nvSpPr>
        <p:spPr>
          <a:xfrm>
            <a:off x="228074" y="5269080"/>
            <a:ext cx="526818" cy="642033"/>
          </a:xfrm>
          <a:custGeom>
            <a:avLst/>
            <a:gdLst/>
            <a:ahLst/>
            <a:cxnLst/>
            <a:rect l="l" t="t" r="r" b="b"/>
            <a:pathLst>
              <a:path w="526818" h="642033">
                <a:moveTo>
                  <a:pt x="0" y="0"/>
                </a:moveTo>
                <a:lnTo>
                  <a:pt x="526819" y="0"/>
                </a:lnTo>
                <a:lnTo>
                  <a:pt x="526819" y="642033"/>
                </a:lnTo>
                <a:lnTo>
                  <a:pt x="0" y="64203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3">
            <a:extLst>
              <a:ext uri="{FF2B5EF4-FFF2-40B4-BE49-F238E27FC236}">
                <a16:creationId xmlns:a16="http://schemas.microsoft.com/office/drawing/2014/main" id="{8DEBB594-D8C8-9DA3-C397-6101F608C8AA}"/>
              </a:ext>
            </a:extLst>
          </p:cNvPr>
          <p:cNvSpPr/>
          <p:nvPr/>
        </p:nvSpPr>
        <p:spPr>
          <a:xfrm>
            <a:off x="909836" y="5301208"/>
            <a:ext cx="1559795" cy="576691"/>
          </a:xfrm>
          <a:custGeom>
            <a:avLst/>
            <a:gdLst/>
            <a:ahLst/>
            <a:cxnLst/>
            <a:rect l="l" t="t" r="r" b="b"/>
            <a:pathLst>
              <a:path w="1559795" h="576691">
                <a:moveTo>
                  <a:pt x="0" y="0"/>
                </a:moveTo>
                <a:lnTo>
                  <a:pt x="1559795" y="0"/>
                </a:lnTo>
                <a:lnTo>
                  <a:pt x="1559795" y="576691"/>
                </a:lnTo>
                <a:lnTo>
                  <a:pt x="0" y="57669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extLst>
      <p:ext uri="{BB962C8B-B14F-4D97-AF65-F5344CB8AC3E}">
        <p14:creationId xmlns:p14="http://schemas.microsoft.com/office/powerpoint/2010/main" val="3507033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olo 6">
            <a:extLst>
              <a:ext uri="{FF2B5EF4-FFF2-40B4-BE49-F238E27FC236}">
                <a16:creationId xmlns:a16="http://schemas.microsoft.com/office/drawing/2014/main" id="{FD45444E-40A6-9A2C-92E7-0543023D3745}"/>
              </a:ext>
            </a:extLst>
          </p:cNvPr>
          <p:cNvSpPr>
            <a:spLocks noGrp="1"/>
          </p:cNvSpPr>
          <p:nvPr>
            <p:ph type="title"/>
          </p:nvPr>
        </p:nvSpPr>
        <p:spPr>
          <a:xfrm>
            <a:off x="6382444" y="188641"/>
            <a:ext cx="6531713" cy="954222"/>
          </a:xfrm>
        </p:spPr>
        <p:txBody>
          <a:bodyPr rtlCol="0"/>
          <a:lstStyle/>
          <a:p>
            <a:pPr rtl="0"/>
            <a:r>
              <a:rPr lang="it-IT" dirty="0"/>
              <a:t> 	</a:t>
            </a:r>
          </a:p>
        </p:txBody>
      </p:sp>
      <p:sp>
        <p:nvSpPr>
          <p:cNvPr id="8" name="Titolo 6">
            <a:extLst>
              <a:ext uri="{FF2B5EF4-FFF2-40B4-BE49-F238E27FC236}">
                <a16:creationId xmlns:a16="http://schemas.microsoft.com/office/drawing/2014/main" id="{CA247DAC-A594-46A1-E714-E6ECC2E21B04}"/>
              </a:ext>
            </a:extLst>
          </p:cNvPr>
          <p:cNvSpPr txBox="1">
            <a:spLocks/>
          </p:cNvSpPr>
          <p:nvPr/>
        </p:nvSpPr>
        <p:spPr>
          <a:xfrm>
            <a:off x="7960821" y="-207318"/>
            <a:ext cx="4392488" cy="1223963"/>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endParaRPr lang="it-IT" sz="3200" dirty="0">
              <a:latin typeface="CMU Serif" panose="02000603000000000000" pitchFamily="2" charset="0"/>
            </a:endParaRPr>
          </a:p>
        </p:txBody>
      </p:sp>
      <p:sp>
        <p:nvSpPr>
          <p:cNvPr id="19" name="Segnaposto contenuto 13">
            <a:extLst>
              <a:ext uri="{FF2B5EF4-FFF2-40B4-BE49-F238E27FC236}">
                <a16:creationId xmlns:a16="http://schemas.microsoft.com/office/drawing/2014/main" id="{6C5177CC-9321-C03B-F709-63A9A619E2AB}"/>
              </a:ext>
            </a:extLst>
          </p:cNvPr>
          <p:cNvSpPr txBox="1">
            <a:spLocks/>
          </p:cNvSpPr>
          <p:nvPr/>
        </p:nvSpPr>
        <p:spPr>
          <a:xfrm>
            <a:off x="7283637" y="1136089"/>
            <a:ext cx="4734018" cy="5760640"/>
          </a:xfrm>
          <a:prstGeom prst="rect">
            <a:avLst/>
          </a:prstGeom>
        </p:spPr>
        <p:txBody>
          <a:bodyPr vert="horz" lIns="121899" tIns="60949" rIns="121899" bIns="60949" rtlCol="0">
            <a:normAutofit fontScale="92500" lnSpcReduction="10000"/>
          </a:bodyPr>
          <a:lst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a:lstStyle>
          <a:p>
            <a:r>
              <a:rPr lang="it-IT" sz="1800" dirty="0">
                <a:effectLst/>
                <a:latin typeface="CMU Serif" panose="02000603000000000000" pitchFamily="2" charset="0"/>
                <a:ea typeface="CMU Serif" panose="02000603000000000000" pitchFamily="2" charset="0"/>
              </a:rPr>
              <a:t>Il primo ciclo for è stato parallelizzato poiché, nonostante i nostri tentativi, non siamo riusciti a parallelizzare anche i cicli annidati con collapse.</a:t>
            </a:r>
          </a:p>
          <a:p>
            <a:r>
              <a:rPr lang="it-IT" sz="1800" dirty="0">
                <a:effectLst/>
                <a:latin typeface="CMU Serif" panose="02000603000000000000" pitchFamily="2" charset="0"/>
                <a:ea typeface="CMU Serif" panose="02000603000000000000" pitchFamily="2" charset="0"/>
              </a:rPr>
              <a:t>Assieme all'omp for sono state rese private le variabili di controllo di ogni ciclo for, è stata utilizzata una reduction per effettuare la somma di </a:t>
            </a:r>
            <a:r>
              <a:rPr lang="it-IT" sz="1800" dirty="0">
                <a:solidFill>
                  <a:srgbClr val="9CDCFE"/>
                </a:solidFill>
                <a:effectLst/>
                <a:latin typeface="CMU Serif" panose="02000603000000000000" pitchFamily="2" charset="0"/>
                <a:ea typeface="CMU Serif" panose="02000603000000000000" pitchFamily="2" charset="0"/>
              </a:rPr>
              <a:t>pat_matches </a:t>
            </a:r>
            <a:r>
              <a:rPr lang="it-IT" sz="1800" dirty="0">
                <a:effectLst/>
                <a:latin typeface="CMU Serif" panose="02000603000000000000" pitchFamily="2" charset="0"/>
                <a:ea typeface="CMU Serif" panose="02000603000000000000" pitchFamily="2" charset="0"/>
              </a:rPr>
              <a:t>alla fine del blocco parallelo.</a:t>
            </a:r>
            <a:endParaRPr lang="it-IT" sz="1800" dirty="0">
              <a:latin typeface="CMU Serif" panose="02000603000000000000" pitchFamily="2" charset="0"/>
              <a:ea typeface="CMU Serif" panose="02000603000000000000" pitchFamily="2" charset="0"/>
            </a:endParaRPr>
          </a:p>
          <a:p>
            <a:r>
              <a:rPr lang="it-IT" sz="1800" kern="100" dirty="0">
                <a:effectLst/>
                <a:latin typeface="CMU Serif" panose="02000603000000000000" pitchFamily="2" charset="0"/>
                <a:ea typeface="CMU Serif" panose="02000603000000000000" pitchFamily="2" charset="0"/>
                <a:cs typeface="Times New Roman" panose="02020603050405020304" pitchFamily="18" charset="0"/>
              </a:rPr>
              <a:t>Lo schedule utilizzato è dynamic poiché nei test le sequenze hanno lunghezza variabile, di conseguenza ogni thread potrebbe concludere il lavoro con tempistiche diverse.</a:t>
            </a:r>
          </a:p>
          <a:p>
            <a:r>
              <a:rPr lang="it-IT" sz="1800" dirty="0">
                <a:effectLst/>
                <a:latin typeface="CMU Serif" panose="02000603000000000000" pitchFamily="2" charset="0"/>
                <a:ea typeface="CMU Serif" panose="02000603000000000000" pitchFamily="2" charset="0"/>
              </a:rPr>
              <a:t>In conclusione mediante la sezione critica si protegge l'accesso concorrente alla funzione </a:t>
            </a:r>
            <a:r>
              <a:rPr lang="it-IT" sz="1800" dirty="0">
                <a:solidFill>
                  <a:srgbClr val="9CDCFE"/>
                </a:solidFill>
                <a:effectLst/>
                <a:latin typeface="CMU Serif" panose="02000603000000000000" pitchFamily="2" charset="0"/>
                <a:ea typeface="CMU Serif" panose="02000603000000000000" pitchFamily="2" charset="0"/>
              </a:rPr>
              <a:t>increment_matches</a:t>
            </a:r>
            <a:r>
              <a:rPr lang="it-IT" sz="1800" dirty="0">
                <a:effectLst/>
                <a:latin typeface="CMU Serif" panose="02000603000000000000" pitchFamily="2" charset="0"/>
                <a:ea typeface="CMU Serif" panose="02000603000000000000" pitchFamily="2" charset="0"/>
              </a:rPr>
              <a:t>, che si occupa di modificare </a:t>
            </a:r>
            <a:r>
              <a:rPr lang="it-IT" sz="1800" dirty="0">
                <a:solidFill>
                  <a:srgbClr val="9CDCFE"/>
                </a:solidFill>
                <a:effectLst/>
                <a:latin typeface="CMU Serif" panose="02000603000000000000" pitchFamily="2" charset="0"/>
                <a:ea typeface="CMU Serif" panose="02000603000000000000" pitchFamily="2" charset="0"/>
              </a:rPr>
              <a:t>seq_matches</a:t>
            </a:r>
            <a:r>
              <a:rPr lang="it-IT" sz="1800" dirty="0">
                <a:effectLst/>
                <a:latin typeface="CMU Serif" panose="02000603000000000000" pitchFamily="2" charset="0"/>
                <a:ea typeface="CMU Serif" panose="02000603000000000000" pitchFamily="2" charset="0"/>
              </a:rPr>
              <a:t>, la quale è fondamentale per evitare che nell'array ci siano valori inferiori alla fine dell'esecuzione.</a:t>
            </a:r>
          </a:p>
          <a:p>
            <a:pPr marL="0" indent="0">
              <a:buFont typeface="Arial" pitchFamily="34" charset="0"/>
              <a:buNone/>
            </a:pPr>
            <a:r>
              <a:rPr lang="it-IT" sz="1800" dirty="0">
                <a:effectLst/>
                <a:latin typeface="CMU Serif" panose="02000603000000000000" pitchFamily="2" charset="0"/>
                <a:ea typeface="CMU Serif" panose="02000603000000000000" pitchFamily="2" charset="0"/>
              </a:rPr>
              <a:t> </a:t>
            </a:r>
            <a:endParaRPr lang="it-IT" sz="1800" dirty="0">
              <a:latin typeface="CMU Serif" panose="02000603000000000000" pitchFamily="2" charset="0"/>
              <a:ea typeface="CMU Serif" panose="02000603000000000000" pitchFamily="2" charset="0"/>
              <a:cs typeface="CMU Serif" panose="02000603000000000000" pitchFamily="2" charset="0"/>
            </a:endParaRPr>
          </a:p>
        </p:txBody>
      </p:sp>
      <p:sp>
        <p:nvSpPr>
          <p:cNvPr id="20" name="Titolo 6">
            <a:extLst>
              <a:ext uri="{FF2B5EF4-FFF2-40B4-BE49-F238E27FC236}">
                <a16:creationId xmlns:a16="http://schemas.microsoft.com/office/drawing/2014/main" id="{CE94594E-9E38-A497-ADF7-0B848A51F299}"/>
              </a:ext>
            </a:extLst>
          </p:cNvPr>
          <p:cNvSpPr txBox="1">
            <a:spLocks/>
          </p:cNvSpPr>
          <p:nvPr/>
        </p:nvSpPr>
        <p:spPr>
          <a:xfrm>
            <a:off x="7283637" y="-207319"/>
            <a:ext cx="4392488" cy="1223963"/>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r>
              <a:rPr lang="it-IT" sz="3200" dirty="0">
                <a:latin typeface="CMU Serif" panose="02000603000000000000" pitchFamily="2" charset="0"/>
              </a:rPr>
              <a:t>Blocco Parallelo:</a:t>
            </a:r>
          </a:p>
        </p:txBody>
      </p:sp>
      <p:pic>
        <p:nvPicPr>
          <p:cNvPr id="9" name="Immagine 8" descr="Immagine che contiene testo, elettronica, schermo, computer&#10;&#10;Descrizione generata automaticamente">
            <a:extLst>
              <a:ext uri="{FF2B5EF4-FFF2-40B4-BE49-F238E27FC236}">
                <a16:creationId xmlns:a16="http://schemas.microsoft.com/office/drawing/2014/main" id="{54453D9B-C815-E814-14BA-387CD54B04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335" y="0"/>
            <a:ext cx="7162424" cy="6858000"/>
          </a:xfrm>
          <a:prstGeom prst="rect">
            <a:avLst/>
          </a:prstGeom>
          <a:ln>
            <a:noFill/>
          </a:ln>
          <a:effectLst>
            <a:softEdge rad="112500"/>
          </a:effectLst>
        </p:spPr>
      </p:pic>
    </p:spTree>
    <p:extLst>
      <p:ext uri="{BB962C8B-B14F-4D97-AF65-F5344CB8AC3E}">
        <p14:creationId xmlns:p14="http://schemas.microsoft.com/office/powerpoint/2010/main" val="2353785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PlaceHolder 1"/>
          <p:cNvSpPr>
            <a:spLocks noGrp="1"/>
          </p:cNvSpPr>
          <p:nvPr>
            <p:ph type="title"/>
          </p:nvPr>
        </p:nvSpPr>
        <p:spPr>
          <a:xfrm>
            <a:off x="1625040" y="1731960"/>
            <a:ext cx="8285040" cy="1099080"/>
          </a:xfrm>
          <a:prstGeom prst="rect">
            <a:avLst/>
          </a:prstGeom>
          <a:noFill/>
          <a:ln w="0">
            <a:noFill/>
          </a:ln>
        </p:spPr>
        <p:txBody>
          <a:bodyPr lIns="122040" tIns="60840" rIns="122040" bIns="60840" anchor="b">
            <a:noAutofit/>
          </a:bodyPr>
          <a:lstStyle/>
          <a:p>
            <a:pPr indent="0" defTabSz="1218960">
              <a:lnSpc>
                <a:spcPct val="90000"/>
              </a:lnSpc>
              <a:buNone/>
              <a:tabLst>
                <a:tab pos="0" algn="l"/>
              </a:tabLst>
            </a:pPr>
            <a:r>
              <a:rPr lang="it-IT" sz="5400" b="0" u="none" strike="noStrike" dirty="0">
                <a:solidFill>
                  <a:schemeClr val="lt1"/>
                </a:solidFill>
                <a:uFillTx/>
                <a:latin typeface="CMU Serif"/>
              </a:rPr>
              <a:t>DNA Sequence </a:t>
            </a:r>
            <a:r>
              <a:rPr lang="it-IT" sz="5400" b="0" u="none" strike="noStrike" dirty="0" err="1">
                <a:solidFill>
                  <a:schemeClr val="lt1"/>
                </a:solidFill>
                <a:uFillTx/>
                <a:latin typeface="CMU Serif"/>
              </a:rPr>
              <a:t>Alignment</a:t>
            </a:r>
            <a:endParaRPr lang="en-GB" sz="5400" b="0" u="none" strike="noStrike" dirty="0">
              <a:solidFill>
                <a:srgbClr val="FFFFFF"/>
              </a:solidFill>
              <a:uFillTx/>
              <a:latin typeface="Arial"/>
            </a:endParaRPr>
          </a:p>
        </p:txBody>
      </p:sp>
      <p:sp>
        <p:nvSpPr>
          <p:cNvPr id="259" name="PlaceHolder 2"/>
          <p:cNvSpPr>
            <a:spLocks noGrp="1"/>
          </p:cNvSpPr>
          <p:nvPr>
            <p:ph type="subTitle"/>
          </p:nvPr>
        </p:nvSpPr>
        <p:spPr>
          <a:xfrm>
            <a:off x="1689840" y="2802240"/>
            <a:ext cx="8717040" cy="736920"/>
          </a:xfrm>
          <a:prstGeom prst="rect">
            <a:avLst/>
          </a:prstGeom>
          <a:noFill/>
          <a:ln w="0">
            <a:noFill/>
          </a:ln>
        </p:spPr>
        <p:txBody>
          <a:bodyPr lIns="122040" tIns="60840" rIns="122040" bIns="60840" anchor="t">
            <a:noAutofit/>
          </a:bodyPr>
          <a:lstStyle/>
          <a:p>
            <a:pPr indent="0" defTabSz="1218960">
              <a:lnSpc>
                <a:spcPct val="90000"/>
              </a:lnSpc>
              <a:buNone/>
              <a:tabLst>
                <a:tab pos="0" algn="l"/>
              </a:tabLst>
            </a:pPr>
            <a:r>
              <a:rPr lang="it-IT" sz="2800" b="0" u="none" strike="noStrike" spc="201" dirty="0">
                <a:solidFill>
                  <a:schemeClr val="accent1"/>
                </a:solidFill>
                <a:uFillTx/>
                <a:latin typeface="CMU Serif"/>
              </a:rPr>
              <a:t>Fase di Test</a:t>
            </a:r>
            <a:endParaRPr lang="en-GB" sz="2800" b="0" u="none" strike="noStrike" dirty="0">
              <a:solidFill>
                <a:srgbClr val="FFFFFF"/>
              </a:solidFill>
              <a:uFillTx/>
              <a:latin typeface="Arial"/>
            </a:endParaRPr>
          </a:p>
        </p:txBody>
      </p:sp>
      <p:sp>
        <p:nvSpPr>
          <p:cNvPr id="260" name="TextBox 7"/>
          <p:cNvSpPr/>
          <p:nvPr/>
        </p:nvSpPr>
        <p:spPr>
          <a:xfrm>
            <a:off x="1053720" y="261360"/>
            <a:ext cx="504000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1218960">
              <a:lnSpc>
                <a:spcPts val="1678"/>
              </a:lnSpc>
            </a:pPr>
            <a:r>
              <a:rPr lang="it-IT" sz="1600" b="1" u="none" strike="noStrike">
                <a:solidFill>
                  <a:schemeClr val="lt1"/>
                </a:solidFill>
                <a:uFillTx/>
                <a:latin typeface="CMU Serif"/>
              </a:rPr>
              <a:t>Programmazione di Sistemi Embedded e Multicore </a:t>
            </a:r>
            <a:r>
              <a:rPr lang="en-US" sz="1600" b="0" u="none" strike="noStrike">
                <a:solidFill>
                  <a:srgbClr val="FFFFFF"/>
                </a:solidFill>
                <a:uFillTx/>
                <a:latin typeface="CMU Serif"/>
                <a:ea typeface="CMU Serif"/>
              </a:rPr>
              <a:t>A.A 2024/2025 Prof. Daniele De Sensi</a:t>
            </a:r>
            <a:endParaRPr lang="en-GB" sz="1600" b="0" u="none" strike="noStrike">
              <a:solidFill>
                <a:srgbClr val="FFFFFF"/>
              </a:solidFill>
              <a:uFillTx/>
              <a:latin typeface="Arial"/>
            </a:endParaRPr>
          </a:p>
        </p:txBody>
      </p:sp>
      <p:sp>
        <p:nvSpPr>
          <p:cNvPr id="261" name="TextBox 7"/>
          <p:cNvSpPr/>
          <p:nvPr/>
        </p:nvSpPr>
        <p:spPr>
          <a:xfrm>
            <a:off x="8326800" y="261360"/>
            <a:ext cx="3671640" cy="213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1218960">
              <a:lnSpc>
                <a:spcPts val="1678"/>
              </a:lnSpc>
            </a:pPr>
            <a:r>
              <a:rPr lang="it-IT" sz="1600" b="0" u="none" strike="noStrike">
                <a:solidFill>
                  <a:schemeClr val="lt1"/>
                </a:solidFill>
                <a:uFillTx/>
                <a:latin typeface="CMU Serif"/>
              </a:rPr>
              <a:t>Cola Valerio – Cerboni Federico</a:t>
            </a:r>
            <a:endParaRPr lang="en-GB" sz="1600" b="0" u="none" strike="noStrike">
              <a:solidFill>
                <a:srgbClr val="FFFFFF"/>
              </a:solidFill>
              <a:uFillTx/>
              <a:latin typeface="Arial"/>
            </a:endParaRPr>
          </a:p>
        </p:txBody>
      </p:sp>
      <p:sp>
        <p:nvSpPr>
          <p:cNvPr id="262" name="Freeform 2"/>
          <p:cNvSpPr/>
          <p:nvPr/>
        </p:nvSpPr>
        <p:spPr>
          <a:xfrm>
            <a:off x="228240" y="5268960"/>
            <a:ext cx="525960" cy="641160"/>
          </a:xfrm>
          <a:custGeom>
            <a:avLst/>
            <a:gdLst>
              <a:gd name="textAreaLeft" fmla="*/ 0 w 525960"/>
              <a:gd name="textAreaRight" fmla="*/ 526680 w 525960"/>
              <a:gd name="textAreaTop" fmla="*/ 0 h 641160"/>
              <a:gd name="textAreaBottom" fmla="*/ 641880 h 641160"/>
            </a:gdLst>
            <a:ahLst/>
            <a:cxnLst/>
            <a:rect l="textAreaLeft" t="textAreaTop" r="textAreaRight" b="textAreaBottom"/>
            <a:pathLst>
              <a:path w="526818" h="642033">
                <a:moveTo>
                  <a:pt x="0" y="0"/>
                </a:moveTo>
                <a:lnTo>
                  <a:pt x="526819" y="0"/>
                </a:lnTo>
                <a:lnTo>
                  <a:pt x="526819" y="642033"/>
                </a:lnTo>
                <a:lnTo>
                  <a:pt x="0" y="642033"/>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GB" sz="1800" b="0" u="none" strike="noStrike">
              <a:solidFill>
                <a:srgbClr val="000000"/>
              </a:solidFill>
              <a:uFillTx/>
              <a:latin typeface="Arial"/>
            </a:endParaRPr>
          </a:p>
        </p:txBody>
      </p:sp>
      <p:sp>
        <p:nvSpPr>
          <p:cNvPr id="263" name="Freeform 3"/>
          <p:cNvSpPr/>
          <p:nvPr/>
        </p:nvSpPr>
        <p:spPr>
          <a:xfrm>
            <a:off x="909720" y="5301360"/>
            <a:ext cx="1559160" cy="576000"/>
          </a:xfrm>
          <a:custGeom>
            <a:avLst/>
            <a:gdLst>
              <a:gd name="textAreaLeft" fmla="*/ 0 w 1559160"/>
              <a:gd name="textAreaRight" fmla="*/ 1559880 w 1559160"/>
              <a:gd name="textAreaTop" fmla="*/ 0 h 576000"/>
              <a:gd name="textAreaBottom" fmla="*/ 576720 h 576000"/>
            </a:gdLst>
            <a:ahLst/>
            <a:cxnLst/>
            <a:rect l="textAreaLeft" t="textAreaTop" r="textAreaRight" b="textAreaBottom"/>
            <a:pathLst>
              <a:path w="1559795" h="576691">
                <a:moveTo>
                  <a:pt x="0" y="0"/>
                </a:moveTo>
                <a:lnTo>
                  <a:pt x="1559795" y="0"/>
                </a:lnTo>
                <a:lnTo>
                  <a:pt x="1559795" y="576691"/>
                </a:lnTo>
                <a:lnTo>
                  <a:pt x="0" y="576691"/>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GB" sz="1800" b="0" u="none" strike="noStrike">
              <a:solidFill>
                <a:srgbClr val="000000"/>
              </a:solidFill>
              <a:uFillTx/>
              <a:latin typeface="Arial"/>
            </a:endParaRPr>
          </a:p>
        </p:txBody>
      </p:sp>
      <p:sp>
        <p:nvSpPr>
          <p:cNvPr id="264" name="CasellaDiTesto 8"/>
          <p:cNvSpPr/>
          <p:nvPr/>
        </p:nvSpPr>
        <p:spPr>
          <a:xfrm>
            <a:off x="4042080" y="3570120"/>
            <a:ext cx="7956000" cy="2558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it-IT" sz="1800" b="0" u="none" strike="noStrike" dirty="0">
                <a:solidFill>
                  <a:schemeClr val="lt1"/>
                </a:solidFill>
                <a:uFillTx/>
                <a:latin typeface="CMU Serif"/>
                <a:ea typeface="CMU Serif"/>
              </a:rPr>
              <a:t>I test sono stati creati in modo da verificare diverse situazioni con complessità e quantità di dati crescenti.</a:t>
            </a:r>
            <a:endParaRPr lang="en-GB" sz="1800" b="0" u="none" strike="noStrike" dirty="0">
              <a:solidFill>
                <a:srgbClr val="FFFFFF"/>
              </a:solidFill>
              <a:uFillTx/>
              <a:latin typeface="Arial"/>
            </a:endParaRPr>
          </a:p>
          <a:p>
            <a:pPr>
              <a:lnSpc>
                <a:spcPct val="100000"/>
              </a:lnSpc>
            </a:pPr>
            <a:r>
              <a:rPr lang="it-IT" sz="1800" b="0" u="none" strike="noStrike" dirty="0">
                <a:solidFill>
                  <a:schemeClr val="lt1"/>
                </a:solidFill>
                <a:uFillTx/>
                <a:latin typeface="CMU Serif"/>
                <a:ea typeface="CMU Serif"/>
              </a:rPr>
              <a:t>Le tipologie di test effettuati sono i seguenti:</a:t>
            </a:r>
            <a:endParaRPr lang="en-GB" sz="1800" b="0" u="none" strike="noStrike" dirty="0">
              <a:solidFill>
                <a:srgbClr val="FFFFFF"/>
              </a:solidFill>
              <a:uFillTx/>
              <a:latin typeface="Arial"/>
            </a:endParaRPr>
          </a:p>
          <a:p>
            <a:pPr>
              <a:lnSpc>
                <a:spcPct val="100000"/>
              </a:lnSpc>
            </a:pPr>
            <a:r>
              <a:rPr lang="it-IT" sz="1800" b="0" u="none" strike="noStrike" dirty="0">
                <a:solidFill>
                  <a:schemeClr val="lt1"/>
                </a:solidFill>
                <a:uFillTx/>
                <a:latin typeface="CMU Serif"/>
                <a:ea typeface="CMU Serif"/>
              </a:rPr>
              <a:t>1. Test dove aumenta la lunghezza della sequenza</a:t>
            </a:r>
            <a:endParaRPr lang="en-GB" sz="1800" b="0" u="none" strike="noStrike" dirty="0">
              <a:solidFill>
                <a:srgbClr val="FFFFFF"/>
              </a:solidFill>
              <a:uFillTx/>
              <a:latin typeface="Arial"/>
            </a:endParaRPr>
          </a:p>
          <a:p>
            <a:pPr>
              <a:lnSpc>
                <a:spcPct val="100000"/>
              </a:lnSpc>
            </a:pPr>
            <a:r>
              <a:rPr lang="it-IT" sz="1800" b="0" u="none" strike="noStrike" dirty="0">
                <a:solidFill>
                  <a:schemeClr val="lt1"/>
                </a:solidFill>
                <a:uFillTx/>
                <a:latin typeface="CMU Serif"/>
                <a:ea typeface="CMU Serif"/>
              </a:rPr>
              <a:t>2. Test dove aumenta il numero di pattern da cercare</a:t>
            </a:r>
            <a:endParaRPr lang="en-GB" sz="1800" b="0" u="none" strike="noStrike" dirty="0">
              <a:solidFill>
                <a:srgbClr val="FFFFFF"/>
              </a:solidFill>
              <a:uFillTx/>
              <a:latin typeface="Arial"/>
            </a:endParaRPr>
          </a:p>
          <a:p>
            <a:pPr>
              <a:lnSpc>
                <a:spcPct val="100000"/>
              </a:lnSpc>
            </a:pPr>
            <a:r>
              <a:rPr lang="it-IT" sz="1800" b="0" u="none" strike="noStrike" dirty="0">
                <a:solidFill>
                  <a:schemeClr val="lt1"/>
                </a:solidFill>
                <a:uFillTx/>
                <a:latin typeface="CMU Serif"/>
                <a:ea typeface="CMU Serif"/>
              </a:rPr>
              <a:t>3. Test dove aumentano la lunghezza della sequenza, il numero di pattern e la lunghezza dei pattern stessi.</a:t>
            </a:r>
            <a:endParaRPr lang="en-GB" sz="1800" b="0" u="none" strike="noStrike" dirty="0">
              <a:solidFill>
                <a:srgbClr val="FFFFFF"/>
              </a:solidFill>
              <a:uFillTx/>
              <a:latin typeface="Arial"/>
            </a:endParaRPr>
          </a:p>
          <a:p>
            <a:pPr>
              <a:lnSpc>
                <a:spcPct val="100000"/>
              </a:lnSpc>
            </a:pPr>
            <a:r>
              <a:rPr lang="it-IT" sz="1800" b="0" u="none" strike="noStrike" dirty="0">
                <a:solidFill>
                  <a:schemeClr val="lt1"/>
                </a:solidFill>
                <a:uFillTx/>
                <a:latin typeface="CMU Serif"/>
                <a:ea typeface="CMU Serif"/>
              </a:rPr>
              <a:t>L’hardware utilizzato nei test è quello disponibile nel Sapienza HPC Cluster, con CPU AMD </a:t>
            </a:r>
            <a:r>
              <a:rPr lang="it-IT" sz="1800" b="0" u="none" strike="noStrike" dirty="0" err="1">
                <a:solidFill>
                  <a:schemeClr val="lt1"/>
                </a:solidFill>
                <a:uFillTx/>
                <a:latin typeface="CMU Serif"/>
                <a:ea typeface="CMU Serif"/>
              </a:rPr>
              <a:t>Epyc</a:t>
            </a:r>
            <a:r>
              <a:rPr lang="it-IT" sz="1800" b="0" u="none" strike="noStrike" dirty="0">
                <a:solidFill>
                  <a:schemeClr val="lt1"/>
                </a:solidFill>
                <a:uFillTx/>
                <a:latin typeface="CMU Serif"/>
                <a:ea typeface="CMU Serif"/>
              </a:rPr>
              <a:t> 7301 e GPU Nvidia Quadro RTX 6000</a:t>
            </a:r>
            <a:endParaRPr lang="en-GB" sz="1800" b="0" u="none" strike="noStrike" dirty="0">
              <a:solidFill>
                <a:srgbClr val="FFFFFF"/>
              </a:solidFill>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PlaceHolder 1"/>
          <p:cNvSpPr>
            <a:spLocks noGrp="1"/>
          </p:cNvSpPr>
          <p:nvPr>
            <p:ph type="title"/>
          </p:nvPr>
        </p:nvSpPr>
        <p:spPr>
          <a:xfrm>
            <a:off x="6382440" y="188640"/>
            <a:ext cx="6531120" cy="953640"/>
          </a:xfrm>
          <a:prstGeom prst="rect">
            <a:avLst/>
          </a:prstGeom>
          <a:noFill/>
          <a:ln w="0">
            <a:noFill/>
          </a:ln>
        </p:spPr>
        <p:txBody>
          <a:bodyPr lIns="122040" tIns="60840" rIns="122040" bIns="60840" anchor="b">
            <a:noAutofit/>
          </a:bodyPr>
          <a:lstStyle/>
          <a:p>
            <a:pPr indent="0" defTabSz="1218960">
              <a:lnSpc>
                <a:spcPct val="90000"/>
              </a:lnSpc>
              <a:buNone/>
              <a:tabLst>
                <a:tab pos="0" algn="l"/>
              </a:tabLst>
            </a:pPr>
            <a:r>
              <a:rPr lang="it-IT" sz="3600" b="0" u="none" strike="noStrike">
                <a:solidFill>
                  <a:schemeClr val="lt1"/>
                </a:solidFill>
                <a:uFillTx/>
                <a:latin typeface="CMU Serif"/>
              </a:rPr>
              <a:t> 	</a:t>
            </a:r>
            <a:endParaRPr lang="en-GB" sz="3600" b="0" u="none" strike="noStrike">
              <a:solidFill>
                <a:srgbClr val="FFFFFF"/>
              </a:solidFill>
              <a:uFillTx/>
              <a:latin typeface="Arial"/>
            </a:endParaRPr>
          </a:p>
        </p:txBody>
      </p:sp>
      <p:sp>
        <p:nvSpPr>
          <p:cNvPr id="266" name="Titolo 6"/>
          <p:cNvSpPr/>
          <p:nvPr/>
        </p:nvSpPr>
        <p:spPr>
          <a:xfrm>
            <a:off x="3286080" y="-568800"/>
            <a:ext cx="7165080" cy="1223280"/>
          </a:xfrm>
          <a:prstGeom prst="rect">
            <a:avLst/>
          </a:prstGeom>
          <a:noFill/>
          <a:ln w="0">
            <a:noFill/>
          </a:ln>
        </p:spPr>
        <p:style>
          <a:lnRef idx="0">
            <a:scrgbClr r="0" g="0" b="0"/>
          </a:lnRef>
          <a:fillRef idx="0">
            <a:scrgbClr r="0" g="0" b="0"/>
          </a:fillRef>
          <a:effectRef idx="0">
            <a:scrgbClr r="0" g="0" b="0"/>
          </a:effectRef>
          <a:fontRef idx="minor"/>
        </p:style>
        <p:txBody>
          <a:bodyPr lIns="122040" tIns="60840" rIns="122040" bIns="60840" anchor="b">
            <a:normAutofit/>
          </a:bodyPr>
          <a:lstStyle/>
          <a:p>
            <a:pPr defTabSz="1218960">
              <a:lnSpc>
                <a:spcPct val="90000"/>
              </a:lnSpc>
            </a:pPr>
            <a:r>
              <a:rPr lang="it-IT" sz="3200" b="0" u="none" strike="noStrike">
                <a:solidFill>
                  <a:schemeClr val="lt1"/>
                </a:solidFill>
                <a:uFillTx/>
                <a:latin typeface="CMU Serif"/>
              </a:rPr>
              <a:t>Test Lunghezza Sequenza DNA:</a:t>
            </a:r>
            <a:endParaRPr lang="en-GB" sz="3200" b="0" u="none" strike="noStrike">
              <a:solidFill>
                <a:srgbClr val="FFFFFF"/>
              </a:solidFill>
              <a:uFillTx/>
              <a:latin typeface="Arial"/>
            </a:endParaRPr>
          </a:p>
        </p:txBody>
      </p:sp>
      <p:graphicFrame>
        <p:nvGraphicFramePr>
          <p:cNvPr id="267" name="Grafico 8"/>
          <p:cNvGraphicFramePr/>
          <p:nvPr>
            <p:extLst>
              <p:ext uri="{D42A27DB-BD31-4B8C-83A1-F6EECF244321}">
                <p14:modId xmlns:p14="http://schemas.microsoft.com/office/powerpoint/2010/main" val="44638468"/>
              </p:ext>
            </p:extLst>
          </p:nvPr>
        </p:nvGraphicFramePr>
        <p:xfrm>
          <a:off x="-9000" y="692640"/>
          <a:ext cx="6099120" cy="4921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68" name="Grafico 9"/>
          <p:cNvGraphicFramePr/>
          <p:nvPr/>
        </p:nvGraphicFramePr>
        <p:xfrm>
          <a:off x="6094440" y="692640"/>
          <a:ext cx="6099120" cy="4921200"/>
        </p:xfrm>
        <a:graphic>
          <a:graphicData uri="http://schemas.openxmlformats.org/drawingml/2006/chart">
            <c:chart xmlns:c="http://schemas.openxmlformats.org/drawingml/2006/chart" xmlns:r="http://schemas.openxmlformats.org/officeDocument/2006/relationships" r:id="rId4"/>
          </a:graphicData>
        </a:graphic>
      </p:graphicFrame>
      <p:sp>
        <p:nvSpPr>
          <p:cNvPr id="269" name="CasellaDiTesto 11"/>
          <p:cNvSpPr/>
          <p:nvPr/>
        </p:nvSpPr>
        <p:spPr>
          <a:xfrm>
            <a:off x="261720" y="5733360"/>
            <a:ext cx="1418472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1218960">
              <a:lnSpc>
                <a:spcPct val="100000"/>
              </a:lnSpc>
            </a:pPr>
            <a:r>
              <a:rPr lang="it-IT" sz="1800" b="0" u="none" strike="noStrike" dirty="0">
                <a:solidFill>
                  <a:schemeClr val="lt1"/>
                </a:solidFill>
                <a:uFillTx/>
                <a:latin typeface="CMU Serif"/>
                <a:ea typeface="Source Han Sans CN"/>
              </a:rPr>
              <a:t>Dal secondo test MPI e OpenMP diventano più efficienti e scalano con l’aumentare del numero di processi.</a:t>
            </a:r>
            <a:endParaRPr lang="en-GB" sz="1800" b="0" u="none" strike="noStrike" dirty="0">
              <a:solidFill>
                <a:srgbClr val="FFFFFF"/>
              </a:solidFill>
              <a:uFillTx/>
              <a:latin typeface="Arial"/>
            </a:endParaRPr>
          </a:p>
          <a:p>
            <a:pPr defTabSz="1218960">
              <a:lnSpc>
                <a:spcPct val="100000"/>
              </a:lnSpc>
            </a:pPr>
            <a:r>
              <a:rPr lang="it-IT" sz="1800" b="0" u="none" strike="noStrike" dirty="0">
                <a:solidFill>
                  <a:schemeClr val="lt1"/>
                </a:solidFill>
                <a:uFillTx/>
                <a:latin typeface="CMU Serif"/>
                <a:ea typeface="Source Han Sans CN"/>
              </a:rPr>
              <a:t>MPI con 32 processi risulta sempre peggiore rispetto alla versione con 16 processi (overhead).</a:t>
            </a:r>
            <a:endParaRPr lang="en-GB" sz="1800" b="0" u="none" strike="noStrike" dirty="0">
              <a:solidFill>
                <a:srgbClr val="FFFFFF"/>
              </a:solidFill>
              <a:uFillTx/>
              <a:latin typeface="Arial"/>
            </a:endParaRPr>
          </a:p>
          <a:p>
            <a:pPr defTabSz="1218960">
              <a:lnSpc>
                <a:spcPct val="100000"/>
              </a:lnSpc>
            </a:pPr>
            <a:r>
              <a:rPr lang="it-IT" sz="1800" b="0" u="none" strike="noStrike" dirty="0">
                <a:solidFill>
                  <a:schemeClr val="lt1"/>
                </a:solidFill>
                <a:uFillTx/>
                <a:latin typeface="CMU Serif"/>
                <a:ea typeface="Source Han Sans CN"/>
              </a:rPr>
              <a:t>CUDA e MPI+CUDA risultano sempre peggiori in efficienza rispetto al sequenziale.</a:t>
            </a:r>
            <a:endParaRPr lang="en-GB" sz="1800" b="0" u="none" strike="noStrike" dirty="0">
              <a:solidFill>
                <a:srgbClr val="FFFFFF"/>
              </a:solidFill>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PlaceHolder 1"/>
          <p:cNvSpPr>
            <a:spLocks noGrp="1"/>
          </p:cNvSpPr>
          <p:nvPr>
            <p:ph type="title"/>
          </p:nvPr>
        </p:nvSpPr>
        <p:spPr>
          <a:xfrm>
            <a:off x="6382440" y="188640"/>
            <a:ext cx="6531120" cy="953640"/>
          </a:xfrm>
          <a:prstGeom prst="rect">
            <a:avLst/>
          </a:prstGeom>
          <a:noFill/>
          <a:ln w="0">
            <a:noFill/>
          </a:ln>
        </p:spPr>
        <p:txBody>
          <a:bodyPr lIns="122040" tIns="60840" rIns="122040" bIns="60840" anchor="b">
            <a:noAutofit/>
          </a:bodyPr>
          <a:lstStyle/>
          <a:p>
            <a:pPr indent="0" defTabSz="1218960">
              <a:lnSpc>
                <a:spcPct val="90000"/>
              </a:lnSpc>
              <a:buNone/>
              <a:tabLst>
                <a:tab pos="0" algn="l"/>
              </a:tabLst>
            </a:pPr>
            <a:r>
              <a:rPr lang="it-IT" sz="3600" b="0" u="none" strike="noStrike">
                <a:solidFill>
                  <a:schemeClr val="lt1"/>
                </a:solidFill>
                <a:uFillTx/>
                <a:latin typeface="CMU Serif"/>
              </a:rPr>
              <a:t> 	</a:t>
            </a:r>
            <a:endParaRPr lang="en-GB" sz="3600" b="0" u="none" strike="noStrike">
              <a:solidFill>
                <a:srgbClr val="FFFFFF"/>
              </a:solidFill>
              <a:uFillTx/>
              <a:latin typeface="Arial"/>
            </a:endParaRPr>
          </a:p>
        </p:txBody>
      </p:sp>
      <p:sp>
        <p:nvSpPr>
          <p:cNvPr id="271" name="Titolo 6"/>
          <p:cNvSpPr/>
          <p:nvPr/>
        </p:nvSpPr>
        <p:spPr>
          <a:xfrm>
            <a:off x="3286080" y="-568800"/>
            <a:ext cx="7165080" cy="1223280"/>
          </a:xfrm>
          <a:prstGeom prst="rect">
            <a:avLst/>
          </a:prstGeom>
          <a:noFill/>
          <a:ln w="0">
            <a:noFill/>
          </a:ln>
        </p:spPr>
        <p:style>
          <a:lnRef idx="0">
            <a:scrgbClr r="0" g="0" b="0"/>
          </a:lnRef>
          <a:fillRef idx="0">
            <a:scrgbClr r="0" g="0" b="0"/>
          </a:fillRef>
          <a:effectRef idx="0">
            <a:scrgbClr r="0" g="0" b="0"/>
          </a:effectRef>
          <a:fontRef idx="minor"/>
        </p:style>
        <p:txBody>
          <a:bodyPr lIns="122040" tIns="60840" rIns="122040" bIns="60840" anchor="b">
            <a:normAutofit/>
          </a:bodyPr>
          <a:lstStyle/>
          <a:p>
            <a:pPr defTabSz="1218960">
              <a:lnSpc>
                <a:spcPct val="90000"/>
              </a:lnSpc>
            </a:pPr>
            <a:r>
              <a:rPr lang="it-IT" sz="3200" b="0" u="none" strike="noStrike">
                <a:solidFill>
                  <a:schemeClr val="lt1"/>
                </a:solidFill>
                <a:uFillTx/>
                <a:latin typeface="CMU Serif"/>
              </a:rPr>
              <a:t>Test numero di Pattern:</a:t>
            </a:r>
            <a:endParaRPr lang="en-GB" sz="3200" b="0" u="none" strike="noStrike">
              <a:solidFill>
                <a:srgbClr val="FFFFFF"/>
              </a:solidFill>
              <a:uFillTx/>
              <a:latin typeface="Arial"/>
            </a:endParaRPr>
          </a:p>
        </p:txBody>
      </p:sp>
      <p:sp>
        <p:nvSpPr>
          <p:cNvPr id="272" name="CasellaDiTesto 11"/>
          <p:cNvSpPr/>
          <p:nvPr/>
        </p:nvSpPr>
        <p:spPr>
          <a:xfrm>
            <a:off x="225720" y="5949360"/>
            <a:ext cx="1173672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it-IT" sz="1800" b="0" u="none" strike="noStrike" dirty="0">
                <a:solidFill>
                  <a:schemeClr val="lt1"/>
                </a:solidFill>
                <a:uFillTx/>
                <a:latin typeface="CMU Serif"/>
                <a:ea typeface="CMU Serif"/>
              </a:rPr>
              <a:t>MPI e OpenMP sono più efficienti del sequenziale: scalano linearmente all’aumentare del numero di processi/</a:t>
            </a:r>
            <a:r>
              <a:rPr lang="it-IT" sz="1800" b="0" u="none" strike="noStrike" dirty="0" err="1">
                <a:solidFill>
                  <a:schemeClr val="lt1"/>
                </a:solidFill>
                <a:uFillTx/>
                <a:latin typeface="CMU Serif"/>
                <a:ea typeface="CMU Serif"/>
              </a:rPr>
              <a:t>threads</a:t>
            </a:r>
            <a:r>
              <a:rPr lang="it-IT" sz="1800" b="0" u="none" strike="noStrike" dirty="0">
                <a:solidFill>
                  <a:schemeClr val="lt1"/>
                </a:solidFill>
                <a:uFillTx/>
                <a:latin typeface="CMU Serif"/>
                <a:ea typeface="CMU Serif"/>
              </a:rPr>
              <a:t>. CUDA e MPI+CUDA migliorano con più pattern, con MPI+CUDA che raggiunge la metà del tempo di esecuzione rispetto a CUDA nei test più pesanti.</a:t>
            </a:r>
            <a:endParaRPr lang="en-GB" sz="1800" b="0" u="none" strike="noStrike" dirty="0">
              <a:solidFill>
                <a:srgbClr val="FFFFFF"/>
              </a:solidFill>
              <a:uFillTx/>
              <a:latin typeface="Arial"/>
            </a:endParaRPr>
          </a:p>
        </p:txBody>
      </p:sp>
      <p:graphicFrame>
        <p:nvGraphicFramePr>
          <p:cNvPr id="274" name="Grafico 3"/>
          <p:cNvGraphicFramePr/>
          <p:nvPr/>
        </p:nvGraphicFramePr>
        <p:xfrm>
          <a:off x="0" y="658080"/>
          <a:ext cx="6145920" cy="5074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 name="Grafico 1">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2040471049"/>
              </p:ext>
            </p:extLst>
          </p:nvPr>
        </p:nvGraphicFramePr>
        <p:xfrm>
          <a:off x="0" y="654480"/>
          <a:ext cx="6238428" cy="5074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 name="Grafico 2">
            <a:extLst>
              <a:ext uri="{FF2B5EF4-FFF2-40B4-BE49-F238E27FC236}">
                <a16:creationId xmlns:a16="http://schemas.microsoft.com/office/drawing/2014/main" id="{00000000-0008-0000-0000-000003000000}"/>
              </a:ext>
            </a:extLst>
          </p:cNvPr>
          <p:cNvGraphicFramePr>
            <a:graphicFrameLocks/>
          </p:cNvGraphicFramePr>
          <p:nvPr>
            <p:extLst>
              <p:ext uri="{D42A27DB-BD31-4B8C-83A1-F6EECF244321}">
                <p14:modId xmlns:p14="http://schemas.microsoft.com/office/powerpoint/2010/main" val="2901187512"/>
              </p:ext>
            </p:extLst>
          </p:nvPr>
        </p:nvGraphicFramePr>
        <p:xfrm>
          <a:off x="6213735" y="650880"/>
          <a:ext cx="5975089" cy="5074200"/>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Titolo 6"/>
          <p:cNvSpPr/>
          <p:nvPr/>
        </p:nvSpPr>
        <p:spPr>
          <a:xfrm>
            <a:off x="3286080" y="-503640"/>
            <a:ext cx="7165080" cy="1223280"/>
          </a:xfrm>
          <a:prstGeom prst="rect">
            <a:avLst/>
          </a:prstGeom>
          <a:noFill/>
          <a:ln w="0">
            <a:noFill/>
          </a:ln>
        </p:spPr>
        <p:style>
          <a:lnRef idx="0">
            <a:scrgbClr r="0" g="0" b="0"/>
          </a:lnRef>
          <a:fillRef idx="0">
            <a:scrgbClr r="0" g="0" b="0"/>
          </a:fillRef>
          <a:effectRef idx="0">
            <a:scrgbClr r="0" g="0" b="0"/>
          </a:effectRef>
          <a:fontRef idx="minor"/>
        </p:style>
        <p:txBody>
          <a:bodyPr lIns="122040" tIns="60840" rIns="122040" bIns="60840" anchor="b">
            <a:normAutofit/>
          </a:bodyPr>
          <a:lstStyle/>
          <a:p>
            <a:pPr defTabSz="1218960">
              <a:lnSpc>
                <a:spcPct val="90000"/>
              </a:lnSpc>
            </a:pPr>
            <a:r>
              <a:rPr lang="it-IT" sz="3200" b="0" u="none" strike="noStrike">
                <a:solidFill>
                  <a:schemeClr val="lt1"/>
                </a:solidFill>
                <a:uFillTx/>
                <a:latin typeface="CMU Serif"/>
              </a:rPr>
              <a:t>Nel dettaglio:</a:t>
            </a:r>
            <a:endParaRPr lang="en-GB" sz="3200" b="0" u="none" strike="noStrike">
              <a:solidFill>
                <a:srgbClr val="FFFFFF"/>
              </a:solidFill>
              <a:uFillTx/>
              <a:latin typeface="Arial"/>
            </a:endParaRPr>
          </a:p>
        </p:txBody>
      </p:sp>
      <p:sp>
        <p:nvSpPr>
          <p:cNvPr id="276" name="CasellaDiTesto 11"/>
          <p:cNvSpPr/>
          <p:nvPr/>
        </p:nvSpPr>
        <p:spPr>
          <a:xfrm>
            <a:off x="493200" y="1080000"/>
            <a:ext cx="11386440" cy="4794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defTabSz="1218960">
              <a:lnSpc>
                <a:spcPct val="100000"/>
              </a:lnSpc>
              <a:spcBef>
                <a:spcPts val="850"/>
              </a:spcBef>
              <a:spcAft>
                <a:spcPts val="850"/>
              </a:spcAft>
              <a:buClr>
                <a:srgbClr val="FFFFFF"/>
              </a:buClr>
              <a:buFont typeface="Wingdings" charset="2"/>
              <a:buChar char=""/>
            </a:pPr>
            <a:r>
              <a:rPr lang="it-IT" sz="1800" b="0" u="none" strike="noStrike" dirty="0">
                <a:solidFill>
                  <a:schemeClr val="lt1"/>
                </a:solidFill>
                <a:uFillTx/>
                <a:latin typeface="CMU Serif"/>
                <a:ea typeface="CMU Serif"/>
              </a:rPr>
              <a:t>SPEEDUP: MPI mantiene un buon </a:t>
            </a:r>
            <a:r>
              <a:rPr lang="it-IT" sz="1800" b="0" u="none" strike="noStrike" dirty="0" err="1">
                <a:solidFill>
                  <a:schemeClr val="lt1"/>
                </a:solidFill>
                <a:uFillTx/>
                <a:latin typeface="CMU Serif"/>
                <a:ea typeface="CMU Serif"/>
              </a:rPr>
              <a:t>speedup</a:t>
            </a:r>
            <a:r>
              <a:rPr lang="it-IT" sz="1800" b="0" u="none" strike="noStrike" dirty="0">
                <a:solidFill>
                  <a:schemeClr val="lt1"/>
                </a:solidFill>
                <a:uFillTx/>
                <a:latin typeface="CMU Serif"/>
                <a:ea typeface="CMU Serif"/>
              </a:rPr>
              <a:t> incrementandolo con input più grandi, OpenMP si mantiene costante tranne nelle versioni con molti </a:t>
            </a:r>
            <a:r>
              <a:rPr lang="it-IT" sz="1800" b="0" u="none" strike="noStrike" dirty="0" err="1">
                <a:solidFill>
                  <a:schemeClr val="lt1"/>
                </a:solidFill>
                <a:uFillTx/>
                <a:latin typeface="CMU Serif"/>
                <a:ea typeface="CMU Serif"/>
              </a:rPr>
              <a:t>threads</a:t>
            </a:r>
            <a:r>
              <a:rPr lang="it-IT" sz="1800" b="0" u="none" strike="noStrike" dirty="0">
                <a:solidFill>
                  <a:schemeClr val="lt1"/>
                </a:solidFill>
                <a:uFillTx/>
                <a:latin typeface="CMU Serif"/>
                <a:ea typeface="CMU Serif"/>
              </a:rPr>
              <a:t>, CUDA e MPI+CUDA passano da uno </a:t>
            </a:r>
            <a:r>
              <a:rPr lang="it-IT" sz="1800" b="0" u="none" strike="noStrike" dirty="0" err="1">
                <a:solidFill>
                  <a:schemeClr val="lt1"/>
                </a:solidFill>
                <a:uFillTx/>
                <a:latin typeface="CMU Serif"/>
                <a:ea typeface="CMU Serif"/>
              </a:rPr>
              <a:t>speedup</a:t>
            </a:r>
            <a:r>
              <a:rPr lang="it-IT" sz="1800" b="0" u="none" strike="noStrike" dirty="0">
                <a:solidFill>
                  <a:schemeClr val="lt1"/>
                </a:solidFill>
                <a:uFillTx/>
                <a:latin typeface="CMU Serif"/>
                <a:ea typeface="CMU Serif"/>
              </a:rPr>
              <a:t> molto basso ad uno molto alto all’aumentare del numero di input.</a:t>
            </a:r>
            <a:endParaRPr lang="en-GB" sz="1800" b="0" u="none" strike="noStrike" dirty="0">
              <a:solidFill>
                <a:srgbClr val="FFFFFF"/>
              </a:solidFill>
              <a:uFillTx/>
              <a:latin typeface="Arial"/>
            </a:endParaRPr>
          </a:p>
          <a:p>
            <a:pPr marL="216000" indent="-216000" defTabSz="1218960">
              <a:lnSpc>
                <a:spcPct val="100000"/>
              </a:lnSpc>
              <a:spcBef>
                <a:spcPts val="850"/>
              </a:spcBef>
              <a:spcAft>
                <a:spcPts val="850"/>
              </a:spcAft>
              <a:buClr>
                <a:srgbClr val="FFFFFF"/>
              </a:buClr>
              <a:buFont typeface="Wingdings" charset="2"/>
              <a:buChar char=""/>
            </a:pPr>
            <a:r>
              <a:rPr lang="it-IT" sz="1800" b="0" u="none" strike="noStrike" dirty="0">
                <a:solidFill>
                  <a:schemeClr val="lt1"/>
                </a:solidFill>
                <a:uFillTx/>
                <a:latin typeface="CMU Serif"/>
                <a:ea typeface="CMU Serif"/>
              </a:rPr>
              <a:t>EFFICENZA: MPI e OpenMP mantengono una buona efficienza tendente a 1 in tutte le versioni con test di complessità medio elevata. CUDA e MPI+CUDA arrivano ad oltrepassare il valore 1 in efficienza grazie al </a:t>
            </a:r>
            <a:r>
              <a:rPr lang="it-IT" sz="1800" b="0" u="none" strike="noStrike" dirty="0" err="1">
                <a:solidFill>
                  <a:schemeClr val="lt1"/>
                </a:solidFill>
                <a:uFillTx/>
                <a:latin typeface="CMU Serif"/>
                <a:ea typeface="CMU Serif"/>
              </a:rPr>
              <a:t>latency</a:t>
            </a:r>
            <a:r>
              <a:rPr lang="it-IT" sz="1800" b="0" u="none" strike="noStrike" dirty="0">
                <a:solidFill>
                  <a:schemeClr val="lt1"/>
                </a:solidFill>
                <a:uFillTx/>
                <a:latin typeface="CMU Serif"/>
                <a:ea typeface="CMU Serif"/>
              </a:rPr>
              <a:t> </a:t>
            </a:r>
            <a:r>
              <a:rPr lang="it-IT" sz="1800" b="0" u="none" strike="noStrike" dirty="0" err="1">
                <a:solidFill>
                  <a:schemeClr val="lt1"/>
                </a:solidFill>
                <a:uFillTx/>
                <a:latin typeface="CMU Serif"/>
                <a:ea typeface="CMU Serif"/>
              </a:rPr>
              <a:t>hiding</a:t>
            </a:r>
            <a:r>
              <a:rPr lang="it-IT" sz="1800" b="0" u="none" strike="noStrike" dirty="0">
                <a:solidFill>
                  <a:schemeClr val="lt1"/>
                </a:solidFill>
                <a:uFillTx/>
                <a:latin typeface="CMU Serif"/>
                <a:ea typeface="CMU Serif"/>
              </a:rPr>
              <a:t>.</a:t>
            </a:r>
            <a:endParaRPr lang="en-GB" sz="1800" b="0" u="none" strike="noStrike" dirty="0">
              <a:solidFill>
                <a:srgbClr val="FFFFFF"/>
              </a:solidFill>
              <a:uFillTx/>
              <a:latin typeface="Arial"/>
            </a:endParaRPr>
          </a:p>
          <a:p>
            <a:pPr marL="216000" indent="-216000" defTabSz="1218960">
              <a:lnSpc>
                <a:spcPct val="100000"/>
              </a:lnSpc>
              <a:spcBef>
                <a:spcPts val="850"/>
              </a:spcBef>
              <a:spcAft>
                <a:spcPts val="850"/>
              </a:spcAft>
              <a:buClr>
                <a:srgbClr val="FFFFFF"/>
              </a:buClr>
              <a:buFont typeface="Wingdings" charset="2"/>
              <a:buChar char=""/>
            </a:pPr>
            <a:r>
              <a:rPr lang="it-IT" sz="1800" b="0" u="none" strike="noStrike" dirty="0">
                <a:solidFill>
                  <a:schemeClr val="lt1"/>
                </a:solidFill>
                <a:uFillTx/>
                <a:latin typeface="CMU Serif"/>
                <a:ea typeface="CMU Serif"/>
              </a:rPr>
              <a:t>STRONG SCALING: Con piccoli input lo strong scaling è pessimo, ma aumentando la complessità dei test MPI ha uno strong scaling molto buono, OpenMP non altrettanto con molti </a:t>
            </a:r>
            <a:r>
              <a:rPr lang="it-IT" sz="1800" b="0" u="none" strike="noStrike" dirty="0" err="1">
                <a:solidFill>
                  <a:schemeClr val="lt1"/>
                </a:solidFill>
                <a:uFillTx/>
                <a:latin typeface="CMU Serif"/>
                <a:ea typeface="CMU Serif"/>
              </a:rPr>
              <a:t>threads</a:t>
            </a:r>
            <a:r>
              <a:rPr lang="it-IT" sz="1800" b="0" u="none" strike="noStrike" dirty="0">
                <a:solidFill>
                  <a:schemeClr val="lt1"/>
                </a:solidFill>
                <a:uFillTx/>
                <a:latin typeface="CMU Serif"/>
                <a:ea typeface="CMU Serif"/>
              </a:rPr>
              <a:t>, </a:t>
            </a:r>
            <a:endParaRPr lang="en-GB" sz="1800" b="0" u="none" strike="noStrike" dirty="0">
              <a:solidFill>
                <a:srgbClr val="FFFFFF"/>
              </a:solidFill>
              <a:uFillTx/>
              <a:latin typeface="Arial"/>
            </a:endParaRPr>
          </a:p>
          <a:p>
            <a:pPr marL="216000" indent="-216000" defTabSz="1218960">
              <a:lnSpc>
                <a:spcPct val="100000"/>
              </a:lnSpc>
              <a:spcBef>
                <a:spcPts val="850"/>
              </a:spcBef>
              <a:spcAft>
                <a:spcPts val="850"/>
              </a:spcAft>
              <a:buClr>
                <a:srgbClr val="FFFFFF"/>
              </a:buClr>
              <a:buFont typeface="Wingdings" charset="2"/>
              <a:buChar char=""/>
            </a:pPr>
            <a:r>
              <a:rPr lang="it-IT" sz="1800" b="0" u="none" strike="noStrike" dirty="0">
                <a:solidFill>
                  <a:schemeClr val="lt1"/>
                </a:solidFill>
                <a:uFillTx/>
                <a:latin typeface="CMU Serif"/>
                <a:ea typeface="CMU Serif"/>
              </a:rPr>
              <a:t>WEAK SCALING: Quando arriviamo al massimo della saturazione del processore, con 32 processi MPI e 64 </a:t>
            </a:r>
            <a:r>
              <a:rPr lang="it-IT" sz="1800" b="0" u="none" strike="noStrike" dirty="0" err="1">
                <a:solidFill>
                  <a:schemeClr val="lt1"/>
                </a:solidFill>
                <a:uFillTx/>
                <a:latin typeface="CMU Serif"/>
                <a:ea typeface="CMU Serif"/>
              </a:rPr>
              <a:t>threads</a:t>
            </a:r>
            <a:r>
              <a:rPr lang="it-IT" sz="1800" b="0" u="none" strike="noStrike" dirty="0">
                <a:solidFill>
                  <a:schemeClr val="lt1"/>
                </a:solidFill>
                <a:uFillTx/>
                <a:latin typeface="CMU Serif"/>
                <a:ea typeface="CMU Serif"/>
              </a:rPr>
              <a:t> OpenMP, Il </a:t>
            </a:r>
            <a:r>
              <a:rPr lang="it-IT" sz="1800" b="0" u="none" strike="noStrike" dirty="0" err="1">
                <a:solidFill>
                  <a:schemeClr val="lt1"/>
                </a:solidFill>
                <a:uFillTx/>
                <a:latin typeface="CMU Serif"/>
                <a:ea typeface="CMU Serif"/>
              </a:rPr>
              <a:t>weak</a:t>
            </a:r>
            <a:r>
              <a:rPr lang="it-IT" sz="1800" b="0" u="none" strike="noStrike" dirty="0">
                <a:solidFill>
                  <a:schemeClr val="lt1"/>
                </a:solidFill>
                <a:uFillTx/>
                <a:latin typeface="CMU Serif"/>
                <a:ea typeface="CMU Serif"/>
              </a:rPr>
              <a:t> scaling peggiora. Negli altri casi risulta molto buono.</a:t>
            </a:r>
            <a:endParaRPr lang="en-GB" sz="1800" b="0" u="none" strike="noStrike" dirty="0">
              <a:solidFill>
                <a:srgbClr val="FFFFFF"/>
              </a:solidFill>
              <a:uFillTx/>
              <a:latin typeface="Arial"/>
            </a:endParaRPr>
          </a:p>
          <a:p>
            <a:pPr marL="216000" indent="-216000" defTabSz="1218960">
              <a:lnSpc>
                <a:spcPct val="100000"/>
              </a:lnSpc>
              <a:spcBef>
                <a:spcPts val="850"/>
              </a:spcBef>
              <a:spcAft>
                <a:spcPts val="850"/>
              </a:spcAft>
              <a:buClr>
                <a:srgbClr val="FFFFFF"/>
              </a:buClr>
              <a:buFont typeface="Wingdings" charset="2"/>
              <a:buChar char=""/>
            </a:pPr>
            <a:r>
              <a:rPr lang="it-IT" sz="1800" b="0" u="none" strike="noStrike" dirty="0">
                <a:solidFill>
                  <a:schemeClr val="lt1"/>
                </a:solidFill>
                <a:uFillTx/>
                <a:latin typeface="CMU Serif"/>
                <a:ea typeface="CMU Serif"/>
              </a:rPr>
              <a:t>OCCUPANCY: Nei programmi CUDA, l’ </a:t>
            </a:r>
            <a:r>
              <a:rPr lang="it-IT" sz="1800" b="0" u="none" strike="noStrike" dirty="0" err="1">
                <a:solidFill>
                  <a:schemeClr val="lt1"/>
                </a:solidFill>
                <a:uFillTx/>
                <a:latin typeface="CMU Serif"/>
                <a:ea typeface="CMU Serif"/>
              </a:rPr>
              <a:t>occupancy</a:t>
            </a:r>
            <a:r>
              <a:rPr lang="it-IT" sz="1800" b="0" u="none" strike="noStrike" dirty="0">
                <a:solidFill>
                  <a:schemeClr val="lt1"/>
                </a:solidFill>
                <a:uFillTx/>
                <a:latin typeface="CMU Serif"/>
                <a:ea typeface="CMU Serif"/>
              </a:rPr>
              <a:t> è stata verificata con l’ausilio del profiler Nvidia </a:t>
            </a:r>
            <a:r>
              <a:rPr lang="it-IT" sz="1800" b="0" u="none" strike="noStrike" dirty="0" err="1">
                <a:solidFill>
                  <a:schemeClr val="lt1"/>
                </a:solidFill>
                <a:uFillTx/>
                <a:latin typeface="CMU Serif"/>
                <a:ea typeface="CMU Serif"/>
              </a:rPr>
              <a:t>Nsight</a:t>
            </a:r>
            <a:r>
              <a:rPr lang="it-IT" sz="1800" b="0" u="none" strike="noStrike" dirty="0">
                <a:solidFill>
                  <a:schemeClr val="lt1"/>
                </a:solidFill>
                <a:uFillTx/>
                <a:latin typeface="CMU Serif"/>
                <a:ea typeface="CMU Serif"/>
              </a:rPr>
              <a:t> Compute. L’ </a:t>
            </a:r>
            <a:r>
              <a:rPr lang="it-IT" sz="1800" b="0" u="none" strike="noStrike" dirty="0" err="1">
                <a:solidFill>
                  <a:schemeClr val="lt1"/>
                </a:solidFill>
                <a:uFillTx/>
                <a:latin typeface="CMU Serif"/>
                <a:ea typeface="CMU Serif"/>
              </a:rPr>
              <a:t>occupancy</a:t>
            </a:r>
            <a:r>
              <a:rPr lang="it-IT" sz="1800" b="0" u="none" strike="noStrike" dirty="0">
                <a:solidFill>
                  <a:schemeClr val="lt1"/>
                </a:solidFill>
                <a:uFillTx/>
                <a:latin typeface="CMU Serif"/>
                <a:ea typeface="CMU Serif"/>
              </a:rPr>
              <a:t> cambia con il variare della dimensione dei blocchi, oscillando tra valori del 50% e del 100%. Non ci sono quindi ulteriori limitazioni come poteva essere la dimensione dei registri.</a:t>
            </a:r>
            <a:endParaRPr lang="en-GB" sz="1800" b="0" u="none" strike="noStrike" dirty="0">
              <a:solidFill>
                <a:srgbClr val="FFFFFF"/>
              </a:solidFill>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PlaceHolder 1"/>
          <p:cNvSpPr>
            <a:spLocks noGrp="1"/>
          </p:cNvSpPr>
          <p:nvPr>
            <p:ph type="title"/>
          </p:nvPr>
        </p:nvSpPr>
        <p:spPr>
          <a:xfrm>
            <a:off x="6382440" y="188640"/>
            <a:ext cx="6531120" cy="953640"/>
          </a:xfrm>
          <a:prstGeom prst="rect">
            <a:avLst/>
          </a:prstGeom>
          <a:noFill/>
          <a:ln w="0">
            <a:noFill/>
          </a:ln>
        </p:spPr>
        <p:txBody>
          <a:bodyPr lIns="122040" tIns="60840" rIns="122040" bIns="60840" anchor="b">
            <a:noAutofit/>
          </a:bodyPr>
          <a:lstStyle/>
          <a:p>
            <a:pPr indent="0" defTabSz="1218960">
              <a:lnSpc>
                <a:spcPct val="90000"/>
              </a:lnSpc>
              <a:buNone/>
              <a:tabLst>
                <a:tab pos="0" algn="l"/>
              </a:tabLst>
            </a:pPr>
            <a:r>
              <a:rPr lang="it-IT" sz="3600" b="0" u="none" strike="noStrike">
                <a:solidFill>
                  <a:schemeClr val="lt1"/>
                </a:solidFill>
                <a:uFillTx/>
                <a:latin typeface="CMU Serif"/>
              </a:rPr>
              <a:t> 	</a:t>
            </a:r>
            <a:endParaRPr lang="en-GB" sz="3600" b="0" u="none" strike="noStrike">
              <a:solidFill>
                <a:srgbClr val="FFFFFF"/>
              </a:solidFill>
              <a:uFillTx/>
              <a:latin typeface="Arial"/>
            </a:endParaRPr>
          </a:p>
        </p:txBody>
      </p:sp>
      <p:sp>
        <p:nvSpPr>
          <p:cNvPr id="278" name="Titolo 6"/>
          <p:cNvSpPr/>
          <p:nvPr/>
        </p:nvSpPr>
        <p:spPr>
          <a:xfrm>
            <a:off x="3286080" y="88900"/>
            <a:ext cx="6531120" cy="565580"/>
          </a:xfrm>
          <a:prstGeom prst="rect">
            <a:avLst/>
          </a:prstGeom>
          <a:noFill/>
          <a:ln w="0">
            <a:noFill/>
          </a:ln>
        </p:spPr>
        <p:style>
          <a:lnRef idx="0">
            <a:scrgbClr r="0" g="0" b="0"/>
          </a:lnRef>
          <a:fillRef idx="0">
            <a:scrgbClr r="0" g="0" b="0"/>
          </a:fillRef>
          <a:effectRef idx="0">
            <a:scrgbClr r="0" g="0" b="0"/>
          </a:effectRef>
          <a:fontRef idx="minor"/>
        </p:style>
        <p:txBody>
          <a:bodyPr lIns="122040" tIns="60840" rIns="122040" bIns="60840" anchor="b">
            <a:normAutofit lnSpcReduction="10000"/>
          </a:bodyPr>
          <a:lstStyle/>
          <a:p>
            <a:pPr defTabSz="1218960">
              <a:lnSpc>
                <a:spcPct val="90000"/>
              </a:lnSpc>
            </a:pPr>
            <a:r>
              <a:rPr lang="it-IT" sz="3200" b="0" u="none" strike="noStrike" dirty="0">
                <a:solidFill>
                  <a:schemeClr val="lt1"/>
                </a:solidFill>
                <a:uFillTx/>
                <a:latin typeface="CMU Serif"/>
              </a:rPr>
              <a:t>Test complessi:</a:t>
            </a:r>
            <a:endParaRPr lang="en-GB" sz="3200" b="0" u="none" strike="noStrike" dirty="0">
              <a:solidFill>
                <a:srgbClr val="FFFFFF"/>
              </a:solidFill>
              <a:uFillTx/>
              <a:latin typeface="Arial"/>
            </a:endParaRPr>
          </a:p>
        </p:txBody>
      </p:sp>
      <p:sp>
        <p:nvSpPr>
          <p:cNvPr id="279" name="CasellaDiTesto 11"/>
          <p:cNvSpPr/>
          <p:nvPr/>
        </p:nvSpPr>
        <p:spPr>
          <a:xfrm>
            <a:off x="8614800" y="620640"/>
            <a:ext cx="3455640" cy="5301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it-IT" sz="1800" b="0" u="none" strike="noStrike" dirty="0">
                <a:solidFill>
                  <a:schemeClr val="lt1"/>
                </a:solidFill>
                <a:uFillTx/>
                <a:latin typeface="CMU Serif"/>
                <a:ea typeface="CMU Serif"/>
              </a:rPr>
              <a:t>Nei test </a:t>
            </a:r>
            <a:r>
              <a:rPr lang="it-IT" sz="1800" b="0" u="none" strike="noStrike" dirty="0" err="1">
                <a:solidFill>
                  <a:schemeClr val="lt1"/>
                </a:solidFill>
                <a:uFillTx/>
                <a:latin typeface="CMU Serif"/>
                <a:ea typeface="CMU Serif"/>
              </a:rPr>
              <a:t>piu</a:t>
            </a:r>
            <a:r>
              <a:rPr lang="it-IT" sz="1800" b="0" u="none" strike="noStrike" dirty="0">
                <a:solidFill>
                  <a:schemeClr val="lt1"/>
                </a:solidFill>
                <a:uFillTx/>
                <a:latin typeface="CMU Serif"/>
                <a:ea typeface="CMU Serif"/>
              </a:rPr>
              <a:t> complessi, con input piccoli, le versioni parallele sono inizialmente meno efficienti rispetto al sequenziale. Man mano che i test proseguono, MPI e OpenMP scalano linearmente, con MPI inizialmente più veloce e OpenMP che prevale nei test più complessi. CUDA e MPI+CUDA diventano più veloci dal test 4 e 5, rispettivamente. </a:t>
            </a:r>
            <a:endParaRPr lang="en-GB" sz="1800" b="0" u="none" strike="noStrike" dirty="0">
              <a:solidFill>
                <a:srgbClr val="FFFFFF"/>
              </a:solidFill>
              <a:uFillTx/>
              <a:latin typeface="Arial"/>
            </a:endParaRPr>
          </a:p>
          <a:p>
            <a:pPr defTabSz="1218960">
              <a:lnSpc>
                <a:spcPct val="100000"/>
              </a:lnSpc>
            </a:pPr>
            <a:r>
              <a:rPr lang="it-IT" sz="1800" b="0" u="none" strike="noStrike" dirty="0">
                <a:solidFill>
                  <a:schemeClr val="lt1"/>
                </a:solidFill>
                <a:uFillTx/>
                <a:latin typeface="CMU Serif"/>
                <a:ea typeface="CMU Serif"/>
              </a:rPr>
              <a:t>Tuttavia, le performance non scalano sempre linearmente: CUDA risulta molto più efficiente nel test 4, mentre MPI+CUDA domina nei test 5 e 6.</a:t>
            </a:r>
            <a:endParaRPr lang="en-GB" sz="1800" b="0" u="none" strike="noStrike" dirty="0">
              <a:solidFill>
                <a:srgbClr val="FFFFFF"/>
              </a:solidFill>
              <a:uFillTx/>
              <a:latin typeface="Arial"/>
            </a:endParaRPr>
          </a:p>
        </p:txBody>
      </p:sp>
      <p:graphicFrame>
        <p:nvGraphicFramePr>
          <p:cNvPr id="280" name="Grafico 2"/>
          <p:cNvGraphicFramePr/>
          <p:nvPr/>
        </p:nvGraphicFramePr>
        <p:xfrm>
          <a:off x="0" y="620640"/>
          <a:ext cx="8470080" cy="62366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 name="Grafico 1">
            <a:extLst>
              <a:ext uri="{FF2B5EF4-FFF2-40B4-BE49-F238E27FC236}">
                <a16:creationId xmlns:a16="http://schemas.microsoft.com/office/drawing/2014/main" id="{00000000-0008-0000-0000-000007000000}"/>
              </a:ext>
            </a:extLst>
          </p:cNvPr>
          <p:cNvGraphicFramePr>
            <a:graphicFrameLocks/>
          </p:cNvGraphicFramePr>
          <p:nvPr/>
        </p:nvGraphicFramePr>
        <p:xfrm>
          <a:off x="0" y="617822"/>
          <a:ext cx="8470080" cy="62366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 name="Grafico 2">
            <a:extLst>
              <a:ext uri="{FF2B5EF4-FFF2-40B4-BE49-F238E27FC236}">
                <a16:creationId xmlns:a16="http://schemas.microsoft.com/office/drawing/2014/main" id="{00000000-0008-0000-0000-000006000000}"/>
              </a:ext>
            </a:extLst>
          </p:cNvPr>
          <p:cNvGraphicFramePr>
            <a:graphicFrameLocks/>
          </p:cNvGraphicFramePr>
          <p:nvPr>
            <p:extLst>
              <p:ext uri="{D42A27DB-BD31-4B8C-83A1-F6EECF244321}">
                <p14:modId xmlns:p14="http://schemas.microsoft.com/office/powerpoint/2010/main" val="2247106650"/>
              </p:ext>
            </p:extLst>
          </p:nvPr>
        </p:nvGraphicFramePr>
        <p:xfrm>
          <a:off x="0" y="617822"/>
          <a:ext cx="8470079" cy="623664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021753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PlaceHolder 1"/>
          <p:cNvSpPr>
            <a:spLocks noGrp="1"/>
          </p:cNvSpPr>
          <p:nvPr>
            <p:ph type="title"/>
          </p:nvPr>
        </p:nvSpPr>
        <p:spPr>
          <a:xfrm>
            <a:off x="6382440" y="188640"/>
            <a:ext cx="6531120" cy="953640"/>
          </a:xfrm>
          <a:prstGeom prst="rect">
            <a:avLst/>
          </a:prstGeom>
          <a:noFill/>
          <a:ln w="0">
            <a:noFill/>
          </a:ln>
        </p:spPr>
        <p:txBody>
          <a:bodyPr lIns="122040" tIns="60840" rIns="122040" bIns="60840" anchor="b">
            <a:noAutofit/>
          </a:bodyPr>
          <a:lstStyle/>
          <a:p>
            <a:pPr indent="0" defTabSz="1218960">
              <a:lnSpc>
                <a:spcPct val="90000"/>
              </a:lnSpc>
              <a:buNone/>
              <a:tabLst>
                <a:tab pos="0" algn="l"/>
              </a:tabLst>
            </a:pPr>
            <a:r>
              <a:rPr lang="it-IT" sz="3600" b="0" u="none" strike="noStrike">
                <a:solidFill>
                  <a:schemeClr val="lt1"/>
                </a:solidFill>
                <a:uFillTx/>
                <a:latin typeface="CMU Serif"/>
              </a:rPr>
              <a:t> 	</a:t>
            </a:r>
            <a:endParaRPr lang="en-GB" sz="3600" b="0" u="none" strike="noStrike">
              <a:solidFill>
                <a:srgbClr val="FFFFFF"/>
              </a:solidFill>
              <a:uFillTx/>
              <a:latin typeface="Arial"/>
            </a:endParaRPr>
          </a:p>
        </p:txBody>
      </p:sp>
      <p:sp>
        <p:nvSpPr>
          <p:cNvPr id="278" name="Titolo 6"/>
          <p:cNvSpPr/>
          <p:nvPr/>
        </p:nvSpPr>
        <p:spPr>
          <a:xfrm>
            <a:off x="3286080" y="88900"/>
            <a:ext cx="6531120" cy="565580"/>
          </a:xfrm>
          <a:prstGeom prst="rect">
            <a:avLst/>
          </a:prstGeom>
          <a:noFill/>
          <a:ln w="0">
            <a:noFill/>
          </a:ln>
        </p:spPr>
        <p:style>
          <a:lnRef idx="0">
            <a:scrgbClr r="0" g="0" b="0"/>
          </a:lnRef>
          <a:fillRef idx="0">
            <a:scrgbClr r="0" g="0" b="0"/>
          </a:fillRef>
          <a:effectRef idx="0">
            <a:scrgbClr r="0" g="0" b="0"/>
          </a:effectRef>
          <a:fontRef idx="minor"/>
        </p:style>
        <p:txBody>
          <a:bodyPr lIns="122040" tIns="60840" rIns="122040" bIns="60840" anchor="b">
            <a:normAutofit lnSpcReduction="10000"/>
          </a:bodyPr>
          <a:lstStyle/>
          <a:p>
            <a:pPr defTabSz="1218960">
              <a:lnSpc>
                <a:spcPct val="90000"/>
              </a:lnSpc>
            </a:pPr>
            <a:r>
              <a:rPr lang="it-IT" sz="3200" b="0" u="none" strike="noStrike" dirty="0">
                <a:solidFill>
                  <a:schemeClr val="lt1"/>
                </a:solidFill>
                <a:uFillTx/>
                <a:latin typeface="CMU Serif"/>
              </a:rPr>
              <a:t>Test complessi:</a:t>
            </a:r>
            <a:endParaRPr lang="en-GB" sz="3200" b="0" u="none" strike="noStrike" dirty="0">
              <a:solidFill>
                <a:srgbClr val="FFFFFF"/>
              </a:solidFill>
              <a:uFillTx/>
              <a:latin typeface="Arial"/>
            </a:endParaRPr>
          </a:p>
        </p:txBody>
      </p:sp>
      <p:sp>
        <p:nvSpPr>
          <p:cNvPr id="279" name="CasellaDiTesto 11"/>
          <p:cNvSpPr/>
          <p:nvPr/>
        </p:nvSpPr>
        <p:spPr>
          <a:xfrm>
            <a:off x="8614800" y="620640"/>
            <a:ext cx="3455640" cy="5301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it-IT" sz="1800" b="0" u="none" strike="noStrike" dirty="0">
                <a:solidFill>
                  <a:schemeClr val="lt1"/>
                </a:solidFill>
                <a:uFillTx/>
                <a:latin typeface="CMU Serif"/>
                <a:ea typeface="CMU Serif"/>
              </a:rPr>
              <a:t>Nei test </a:t>
            </a:r>
            <a:r>
              <a:rPr lang="it-IT" sz="1800" b="0" u="none" strike="noStrike" dirty="0" err="1">
                <a:solidFill>
                  <a:schemeClr val="lt1"/>
                </a:solidFill>
                <a:uFillTx/>
                <a:latin typeface="CMU Serif"/>
                <a:ea typeface="CMU Serif"/>
              </a:rPr>
              <a:t>piu</a:t>
            </a:r>
            <a:r>
              <a:rPr lang="it-IT" sz="1800" b="0" u="none" strike="noStrike" dirty="0">
                <a:solidFill>
                  <a:schemeClr val="lt1"/>
                </a:solidFill>
                <a:uFillTx/>
                <a:latin typeface="CMU Serif"/>
                <a:ea typeface="CMU Serif"/>
              </a:rPr>
              <a:t> complessi, con input piccoli, le versioni parallele sono inizialmente meno efficienti rispetto al sequenziale. Man mano che i test proseguono, MPI e OpenMP scalano linearmente, con MPI inizialmente più veloce e OpenMP che prevale nei test più complessi. CUDA e MPI+CUDA diventano più veloci dal test 4 e 5, rispettivamente. </a:t>
            </a:r>
            <a:endParaRPr lang="en-GB" sz="1800" b="0" u="none" strike="noStrike" dirty="0">
              <a:solidFill>
                <a:srgbClr val="FFFFFF"/>
              </a:solidFill>
              <a:uFillTx/>
              <a:latin typeface="Arial"/>
            </a:endParaRPr>
          </a:p>
          <a:p>
            <a:pPr defTabSz="1218960">
              <a:lnSpc>
                <a:spcPct val="100000"/>
              </a:lnSpc>
            </a:pPr>
            <a:r>
              <a:rPr lang="it-IT" sz="1800" b="0" u="none" strike="noStrike" dirty="0">
                <a:solidFill>
                  <a:schemeClr val="lt1"/>
                </a:solidFill>
                <a:uFillTx/>
                <a:latin typeface="CMU Serif"/>
                <a:ea typeface="CMU Serif"/>
              </a:rPr>
              <a:t>Tuttavia, le performance non scalano sempre linearmente: CUDA risulta molto più efficiente nel test 4, mentre MPI+CUDA domina nei test 5 e 6.</a:t>
            </a:r>
            <a:endParaRPr lang="en-GB" sz="1800" b="0" u="none" strike="noStrike" dirty="0">
              <a:solidFill>
                <a:srgbClr val="FFFFFF"/>
              </a:solidFill>
              <a:uFillTx/>
              <a:latin typeface="Arial"/>
            </a:endParaRPr>
          </a:p>
        </p:txBody>
      </p:sp>
      <p:graphicFrame>
        <p:nvGraphicFramePr>
          <p:cNvPr id="280" name="Grafico 2"/>
          <p:cNvGraphicFramePr/>
          <p:nvPr/>
        </p:nvGraphicFramePr>
        <p:xfrm>
          <a:off x="0" y="620640"/>
          <a:ext cx="8470080" cy="62366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 name="Grafico 1">
            <a:extLst>
              <a:ext uri="{FF2B5EF4-FFF2-40B4-BE49-F238E27FC236}">
                <a16:creationId xmlns:a16="http://schemas.microsoft.com/office/drawing/2014/main" id="{00000000-0008-0000-0000-000007000000}"/>
              </a:ext>
            </a:extLst>
          </p:cNvPr>
          <p:cNvGraphicFramePr>
            <a:graphicFrameLocks/>
          </p:cNvGraphicFramePr>
          <p:nvPr>
            <p:extLst>
              <p:ext uri="{D42A27DB-BD31-4B8C-83A1-F6EECF244321}">
                <p14:modId xmlns:p14="http://schemas.microsoft.com/office/powerpoint/2010/main" val="920476435"/>
              </p:ext>
            </p:extLst>
          </p:nvPr>
        </p:nvGraphicFramePr>
        <p:xfrm>
          <a:off x="0" y="617822"/>
          <a:ext cx="8470080" cy="623664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PlaceHolder 1"/>
          <p:cNvSpPr>
            <a:spLocks noGrp="1"/>
          </p:cNvSpPr>
          <p:nvPr>
            <p:ph type="title"/>
          </p:nvPr>
        </p:nvSpPr>
        <p:spPr>
          <a:xfrm>
            <a:off x="900000" y="94680"/>
            <a:ext cx="10439640" cy="624960"/>
          </a:xfrm>
          <a:prstGeom prst="rect">
            <a:avLst/>
          </a:prstGeom>
          <a:noFill/>
          <a:ln w="0">
            <a:noFill/>
          </a:ln>
        </p:spPr>
        <p:txBody>
          <a:bodyPr lIns="0" tIns="0" rIns="0" bIns="0" anchor="ctr">
            <a:noAutofit/>
          </a:bodyPr>
          <a:lstStyle/>
          <a:p>
            <a:pPr indent="0" algn="ctr">
              <a:lnSpc>
                <a:spcPct val="100000"/>
              </a:lnSpc>
              <a:buNone/>
              <a:tabLst>
                <a:tab pos="0" algn="l"/>
              </a:tabLst>
            </a:pPr>
            <a:r>
              <a:rPr lang="it-IT" sz="2800" b="1" u="none" strike="noStrike">
                <a:solidFill>
                  <a:schemeClr val="lt1"/>
                </a:solidFill>
                <a:uFillTx/>
                <a:latin typeface="Calibri"/>
              </a:rPr>
              <a:t>Conclusioni:</a:t>
            </a:r>
            <a:endParaRPr lang="en-GB" sz="2800" b="0" u="none" strike="noStrike">
              <a:solidFill>
                <a:srgbClr val="FFFFFF"/>
              </a:solidFill>
              <a:uFillTx/>
              <a:latin typeface="Arial"/>
            </a:endParaRPr>
          </a:p>
        </p:txBody>
      </p:sp>
      <p:sp>
        <p:nvSpPr>
          <p:cNvPr id="282" name="PlaceHolder 2"/>
          <p:cNvSpPr>
            <a:spLocks noGrp="1"/>
          </p:cNvSpPr>
          <p:nvPr>
            <p:ph type="subTitle"/>
          </p:nvPr>
        </p:nvSpPr>
        <p:spPr>
          <a:xfrm>
            <a:off x="360000" y="720000"/>
            <a:ext cx="11519640" cy="5854320"/>
          </a:xfrm>
          <a:prstGeom prst="rect">
            <a:avLst/>
          </a:prstGeom>
          <a:noFill/>
          <a:ln w="0">
            <a:noFill/>
          </a:ln>
        </p:spPr>
        <p:txBody>
          <a:bodyPr lIns="0" tIns="0" rIns="0" bIns="0" anchor="t">
            <a:noAutofit/>
          </a:bodyPr>
          <a:lstStyle/>
          <a:p>
            <a:pPr marL="216000" indent="-216000">
              <a:lnSpc>
                <a:spcPct val="100000"/>
              </a:lnSpc>
              <a:spcBef>
                <a:spcPts val="850"/>
              </a:spcBef>
              <a:spcAft>
                <a:spcPts val="850"/>
              </a:spcAft>
              <a:buClr>
                <a:srgbClr val="FFFFFF"/>
              </a:buClr>
              <a:buSzPct val="45000"/>
              <a:buFont typeface="Wingdings" charset="2"/>
              <a:buChar char=""/>
            </a:pPr>
            <a:r>
              <a:rPr lang="en-GB" sz="1600" b="1" u="none" strike="noStrike" dirty="0">
                <a:solidFill>
                  <a:srgbClr val="FFFFFF"/>
                </a:solidFill>
                <a:uFillTx/>
                <a:latin typeface="Arial"/>
              </a:rPr>
              <a:t>MPI</a:t>
            </a:r>
            <a:r>
              <a:rPr lang="en-GB" sz="1600" b="0" u="none" strike="noStrike" dirty="0">
                <a:solidFill>
                  <a:srgbClr val="FFFFFF"/>
                </a:solidFill>
                <a:uFillTx/>
                <a:latin typeface="Arial"/>
              </a:rPr>
              <a:t>: </a:t>
            </a:r>
            <a:r>
              <a:rPr lang="it-IT" sz="1600" b="0" u="none" strike="noStrike" dirty="0">
                <a:solidFill>
                  <a:srgbClr val="FFFFFF"/>
                </a:solidFill>
                <a:uFillTx/>
                <a:latin typeface="CMU Serif"/>
                <a:ea typeface="Source Han Sans CN"/>
              </a:rPr>
              <a:t>Con input di piccola dimensione, l’overhead incide pesantemente e riduce le performance del programma, ma con input di media e grande dimensione, i costi di comunicazione vengono compensati dalla maggiore parallelizzazione, grazie alla divisione equa tra i processi dei </a:t>
            </a:r>
            <a:r>
              <a:rPr lang="it-IT" sz="1600" b="0" u="none" strike="noStrike" dirty="0" err="1">
                <a:solidFill>
                  <a:srgbClr val="FFFFFF"/>
                </a:solidFill>
                <a:uFillTx/>
                <a:latin typeface="CMU Serif"/>
                <a:ea typeface="Source Han Sans CN"/>
              </a:rPr>
              <a:t>patter</a:t>
            </a:r>
            <a:r>
              <a:rPr lang="it-IT" sz="1600" b="0" u="none" strike="noStrike" dirty="0">
                <a:solidFill>
                  <a:srgbClr val="FFFFFF"/>
                </a:solidFill>
                <a:uFillTx/>
                <a:latin typeface="CMU Serif"/>
                <a:ea typeface="Source Han Sans CN"/>
              </a:rPr>
              <a:t>, e dal fatto che la comunicazione tra processi avviene solamente all’inizio e alla fine dell’esecuzione.</a:t>
            </a:r>
            <a:endParaRPr lang="en-GB" sz="1600" b="0" u="none" strike="noStrike" dirty="0">
              <a:solidFill>
                <a:srgbClr val="FFFFFF"/>
              </a:solidFill>
              <a:uFillTx/>
              <a:latin typeface="Arial"/>
            </a:endParaRPr>
          </a:p>
          <a:p>
            <a:pPr marL="216000" indent="-216000">
              <a:lnSpc>
                <a:spcPct val="100000"/>
              </a:lnSpc>
              <a:spcBef>
                <a:spcPts val="850"/>
              </a:spcBef>
              <a:spcAft>
                <a:spcPts val="850"/>
              </a:spcAft>
              <a:buClr>
                <a:srgbClr val="FFFFFF"/>
              </a:buClr>
              <a:buSzPct val="45000"/>
              <a:buFont typeface="Wingdings" charset="2"/>
              <a:buChar char=""/>
            </a:pPr>
            <a:r>
              <a:rPr lang="it-IT" sz="1600" b="1" u="none" strike="noStrike" dirty="0">
                <a:solidFill>
                  <a:srgbClr val="FFFFFF"/>
                </a:solidFill>
                <a:uFillTx/>
                <a:latin typeface="CMU Serif"/>
                <a:ea typeface="Source Han Sans CN"/>
              </a:rPr>
              <a:t>OpenMP</a:t>
            </a:r>
            <a:r>
              <a:rPr lang="it-IT" sz="1600" b="0" u="none" strike="noStrike" dirty="0">
                <a:solidFill>
                  <a:srgbClr val="FFFFFF"/>
                </a:solidFill>
                <a:uFillTx/>
                <a:latin typeface="CMU Serif"/>
                <a:ea typeface="Source Han Sans CN"/>
              </a:rPr>
              <a:t>: confrontandolo con MPI a parità di processi\</a:t>
            </a:r>
            <a:r>
              <a:rPr lang="it-IT" sz="1600" b="0" u="none" strike="noStrike" dirty="0" err="1">
                <a:solidFill>
                  <a:srgbClr val="FFFFFF"/>
                </a:solidFill>
                <a:uFillTx/>
                <a:latin typeface="CMU Serif"/>
                <a:ea typeface="Source Han Sans CN"/>
              </a:rPr>
              <a:t>threads</a:t>
            </a:r>
            <a:r>
              <a:rPr lang="it-IT" sz="1600" b="0" u="none" strike="noStrike" dirty="0">
                <a:solidFill>
                  <a:srgbClr val="FFFFFF"/>
                </a:solidFill>
                <a:uFillTx/>
                <a:latin typeface="CMU Serif"/>
                <a:ea typeface="Source Han Sans CN"/>
              </a:rPr>
              <a:t>, risulta sempre più lento di quest’ ultimo nei test più piccoli, ma con input più grandi diventa sempre più veloce. Questo è dovuto al fatto che OpenMP si basa sul paradigma di parallelizzazione a memoria condivisa, non introducendo un significativo overhead di comunicazione. OpenMP mostra i suoi punti deboli solamente nei casi in cui si verificano molti conflitti di memoria.</a:t>
            </a:r>
            <a:endParaRPr lang="en-GB" sz="1600" b="0" u="none" strike="noStrike" dirty="0">
              <a:solidFill>
                <a:srgbClr val="FFFFFF"/>
              </a:solidFill>
              <a:uFillTx/>
              <a:latin typeface="Arial"/>
            </a:endParaRPr>
          </a:p>
          <a:p>
            <a:pPr marL="216000" indent="-216000">
              <a:lnSpc>
                <a:spcPct val="100000"/>
              </a:lnSpc>
              <a:spcBef>
                <a:spcPts val="850"/>
              </a:spcBef>
              <a:spcAft>
                <a:spcPts val="850"/>
              </a:spcAft>
              <a:buClr>
                <a:srgbClr val="FFFFFF"/>
              </a:buClr>
              <a:buSzPct val="45000"/>
              <a:buFont typeface="Wingdings" charset="2"/>
              <a:buChar char=""/>
            </a:pPr>
            <a:r>
              <a:rPr lang="it-IT" sz="1600" b="1" u="none" strike="noStrike" dirty="0">
                <a:solidFill>
                  <a:srgbClr val="FFFFFF"/>
                </a:solidFill>
                <a:uFillTx/>
                <a:latin typeface="CMU Serif"/>
                <a:ea typeface="Source Han Sans CN"/>
              </a:rPr>
              <a:t>CUDA</a:t>
            </a:r>
            <a:r>
              <a:rPr lang="it-IT" sz="1600" b="0" u="none" strike="noStrike" dirty="0">
                <a:solidFill>
                  <a:srgbClr val="FFFFFF"/>
                </a:solidFill>
                <a:uFillTx/>
                <a:latin typeface="CMU Serif"/>
                <a:ea typeface="Source Han Sans CN"/>
              </a:rPr>
              <a:t>: L’alto parallelismo della GPU viene sfruttato solamente con test grandi, ma quando avviene ciò casi CUDA risulta decisamente più veloce di tutte le versioni parallele precedenti. Questo perché tanti pattern da cercare corrispondono a tanti thread in esecuzione sulla </a:t>
            </a:r>
            <a:r>
              <a:rPr lang="it-IT" sz="1600" b="0" u="none" strike="noStrike" dirty="0" err="1">
                <a:solidFill>
                  <a:srgbClr val="FFFFFF"/>
                </a:solidFill>
                <a:uFillTx/>
                <a:latin typeface="CMU Serif"/>
                <a:ea typeface="Source Han Sans CN"/>
              </a:rPr>
              <a:t>gpu</a:t>
            </a:r>
            <a:r>
              <a:rPr lang="it-IT" sz="1600" b="0" u="none" strike="noStrike" dirty="0">
                <a:solidFill>
                  <a:srgbClr val="FFFFFF"/>
                </a:solidFill>
                <a:uFillTx/>
                <a:latin typeface="CMU Serif"/>
                <a:ea typeface="Source Han Sans CN"/>
              </a:rPr>
              <a:t>, e gli SM potranno usufruire della capacità di sostituire senza costi i vari </a:t>
            </a:r>
            <a:r>
              <a:rPr lang="it-IT" sz="1600" b="0" u="none" strike="noStrike" dirty="0" err="1">
                <a:solidFill>
                  <a:srgbClr val="FFFFFF"/>
                </a:solidFill>
                <a:uFillTx/>
                <a:latin typeface="CMU Serif"/>
                <a:ea typeface="Source Han Sans CN"/>
              </a:rPr>
              <a:t>warp</a:t>
            </a:r>
            <a:r>
              <a:rPr lang="it-IT" sz="1600" b="0" u="none" strike="noStrike" dirty="0">
                <a:solidFill>
                  <a:srgbClr val="FFFFFF"/>
                </a:solidFill>
                <a:uFillTx/>
                <a:latin typeface="CMU Serif"/>
                <a:ea typeface="Source Han Sans CN"/>
              </a:rPr>
              <a:t> che vanno in pausa. Si ha quindi una buona </a:t>
            </a:r>
            <a:r>
              <a:rPr lang="it-IT" sz="1600" b="0" u="none" strike="noStrike" dirty="0" err="1">
                <a:solidFill>
                  <a:srgbClr val="FFFFFF"/>
                </a:solidFill>
                <a:uFillTx/>
                <a:latin typeface="CMU Serif"/>
                <a:ea typeface="Source Han Sans CN"/>
              </a:rPr>
              <a:t>occupancy</a:t>
            </a:r>
            <a:r>
              <a:rPr lang="it-IT" sz="1600" b="0" u="none" strike="noStrike" dirty="0">
                <a:solidFill>
                  <a:srgbClr val="FFFFFF"/>
                </a:solidFill>
                <a:uFillTx/>
                <a:latin typeface="CMU Serif"/>
                <a:ea typeface="Source Han Sans CN"/>
              </a:rPr>
              <a:t>, e si riesce a sfruttare bene il </a:t>
            </a:r>
            <a:r>
              <a:rPr lang="it-IT" sz="1600" b="0" u="none" strike="noStrike" dirty="0" err="1">
                <a:solidFill>
                  <a:srgbClr val="FFFFFF"/>
                </a:solidFill>
                <a:uFillTx/>
                <a:latin typeface="CMU Serif"/>
                <a:ea typeface="Source Han Sans CN"/>
              </a:rPr>
              <a:t>latency</a:t>
            </a:r>
            <a:r>
              <a:rPr lang="it-IT" sz="1600" b="0" u="none" strike="noStrike" dirty="0">
                <a:solidFill>
                  <a:srgbClr val="FFFFFF"/>
                </a:solidFill>
                <a:uFillTx/>
                <a:latin typeface="CMU Serif"/>
                <a:ea typeface="Source Han Sans CN"/>
              </a:rPr>
              <a:t> </a:t>
            </a:r>
            <a:r>
              <a:rPr lang="it-IT" sz="1600" b="0" u="none" strike="noStrike" dirty="0" err="1">
                <a:solidFill>
                  <a:srgbClr val="FFFFFF"/>
                </a:solidFill>
                <a:uFillTx/>
                <a:latin typeface="CMU Serif"/>
                <a:ea typeface="Source Han Sans CN"/>
              </a:rPr>
              <a:t>hiding</a:t>
            </a:r>
            <a:r>
              <a:rPr lang="it-IT" sz="1600" b="0" u="none" strike="noStrike" dirty="0">
                <a:solidFill>
                  <a:srgbClr val="FFFFFF"/>
                </a:solidFill>
                <a:uFillTx/>
                <a:latin typeface="CMU Serif"/>
                <a:ea typeface="Source Han Sans CN"/>
              </a:rPr>
              <a:t>, caratteristiche uniche di questo tipo di hardware. Con test piccoli invece risultano migliori le CPU in quanto, non avendo a disposizione molti </a:t>
            </a:r>
            <a:r>
              <a:rPr lang="it-IT" sz="1600" b="0" u="none" strike="noStrike" dirty="0" err="1">
                <a:solidFill>
                  <a:srgbClr val="FFFFFF"/>
                </a:solidFill>
                <a:uFillTx/>
                <a:latin typeface="CMU Serif"/>
                <a:ea typeface="Source Han Sans CN"/>
              </a:rPr>
              <a:t>threads</a:t>
            </a:r>
            <a:r>
              <a:rPr lang="it-IT" sz="1600" b="0" u="none" strike="noStrike" dirty="0">
                <a:solidFill>
                  <a:srgbClr val="FFFFFF"/>
                </a:solidFill>
                <a:uFillTx/>
                <a:latin typeface="CMU Serif"/>
                <a:ea typeface="Source Han Sans CN"/>
              </a:rPr>
              <a:t> da eseguire, l’ hardware non viene utilizzato nella sua completezza, e vengono meno le caratteristiche già citate, che rendono il calcolo parallelo su GPU molto efficiente.</a:t>
            </a:r>
            <a:endParaRPr lang="en-GB" sz="1600" b="0" u="none" strike="noStrike" dirty="0">
              <a:solidFill>
                <a:srgbClr val="FFFFFF"/>
              </a:solidFill>
              <a:uFillTx/>
              <a:latin typeface="Arial"/>
            </a:endParaRPr>
          </a:p>
          <a:p>
            <a:pPr marL="216000" indent="-216000">
              <a:lnSpc>
                <a:spcPct val="100000"/>
              </a:lnSpc>
              <a:spcBef>
                <a:spcPts val="850"/>
              </a:spcBef>
              <a:spcAft>
                <a:spcPts val="850"/>
              </a:spcAft>
              <a:buClr>
                <a:srgbClr val="FFFFFF"/>
              </a:buClr>
              <a:buSzPct val="45000"/>
              <a:buFont typeface="Wingdings" charset="2"/>
              <a:buChar char=""/>
            </a:pPr>
            <a:r>
              <a:rPr lang="it-IT" sz="1600" b="1" u="none" strike="noStrike" dirty="0">
                <a:solidFill>
                  <a:srgbClr val="FFFFFF"/>
                </a:solidFill>
                <a:uFillTx/>
                <a:latin typeface="CMU Serif"/>
                <a:ea typeface="Source Han Sans CN"/>
              </a:rPr>
              <a:t>MPI+CUDA</a:t>
            </a:r>
            <a:r>
              <a:rPr lang="it-IT" sz="1600" b="0" u="none" strike="noStrike" dirty="0">
                <a:solidFill>
                  <a:srgbClr val="FFFFFF"/>
                </a:solidFill>
                <a:uFillTx/>
                <a:latin typeface="CMU Serif"/>
                <a:ea typeface="Source Han Sans CN"/>
              </a:rPr>
              <a:t>: Le stesse cose si applicano ovviamente anche a MPI + CUDA, in quanto la computazione viene effettuata sempre dalle GPU. Infatti il vantaggio di usare due GPU in parallelo si vede solo in quei test che hanno tantissimi pattern da ricercare. Altrimenti il vantaggio di avere due GPU in parallelo rispetto alla versione CUDA normale viene meno per 2 motivi: per l’overhead introdotto da MPI, e soprattutto perché, siccome ogni GPU avrà la metà dei pattern da verificare, ovvero la metà dei thread da eseguire, l’</a:t>
            </a:r>
            <a:r>
              <a:rPr lang="it-IT" sz="1600" b="0" u="none" strike="noStrike" dirty="0" err="1">
                <a:solidFill>
                  <a:srgbClr val="FFFFFF"/>
                </a:solidFill>
                <a:uFillTx/>
                <a:latin typeface="CMU Serif"/>
                <a:ea typeface="Source Han Sans CN"/>
              </a:rPr>
              <a:t>occupancy</a:t>
            </a:r>
            <a:r>
              <a:rPr lang="it-IT" sz="1600" b="0" u="none" strike="noStrike" dirty="0">
                <a:solidFill>
                  <a:srgbClr val="FFFFFF"/>
                </a:solidFill>
                <a:uFillTx/>
                <a:latin typeface="CMU Serif"/>
                <a:ea typeface="Source Han Sans CN"/>
              </a:rPr>
              <a:t> diminuisce, soprattutto quando i pattern in partenza sono pochi.</a:t>
            </a:r>
            <a:endParaRPr lang="en-GB" sz="1600" b="0" u="none" strike="noStrike" dirty="0">
              <a:solidFill>
                <a:srgbClr val="FFFFFF"/>
              </a:solidFill>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theme/theme1.xml><?xml version="1.0" encoding="utf-8"?>
<a:theme xmlns:a="http://schemas.openxmlformats.org/drawingml/2006/main" name="Tecnologia 16x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name="Office_9533237_TF02787990.potx" id="{498C47A6-4F7F-4A21-A47B-45258853BE3D}" vid="{26A642C0-B31C-44AA-8A27-2CBE4AFBB4A0}"/>
    </a:ext>
  </a:extLst>
</a:theme>
</file>

<file path=ppt/theme/theme2.xml><?xml version="1.0" encoding="utf-8"?>
<a:theme xmlns:a="http://schemas.openxmlformats.org/drawingml/2006/main" name="Tema di Offic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Tema di Offic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36F65B-1B07-41EE-A0E8-BC6EF3855225}">
  <ds:schemaRefs>
    <ds:schemaRef ds:uri="http://schemas.microsoft.com/sharepoint/v3/contenttype/forms"/>
  </ds:schemaRefs>
</ds:datastoreItem>
</file>

<file path=customXml/itemProps2.xml><?xml version="1.0" encoding="utf-8"?>
<ds:datastoreItem xmlns:ds="http://schemas.openxmlformats.org/officeDocument/2006/customXml" ds:itemID="{60C67BEE-D13F-4BD2-98A5-34D8A0977F68}">
  <ds:schemaRefs>
    <ds:schemaRef ds:uri="4873beb7-5857-4685-be1f-d57550cc96cc"/>
    <ds:schemaRef ds:uri="http://schemas.openxmlformats.org/package/2006/metadata/core-properties"/>
    <ds:schemaRef ds:uri="http://purl.org/dc/terms/"/>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Presentazione con linee di circuito triple (widescreen)</Template>
  <TotalTime>219</TotalTime>
  <Words>2235</Words>
  <Application>Microsoft Office PowerPoint</Application>
  <PresentationFormat>Personalizzato</PresentationFormat>
  <Paragraphs>152</Paragraphs>
  <Slides>24</Slides>
  <Notes>23</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24</vt:i4>
      </vt:variant>
    </vt:vector>
  </HeadingPairs>
  <TitlesOfParts>
    <vt:vector size="31" baseType="lpstr">
      <vt:lpstr>Aptos Narrow</vt:lpstr>
      <vt:lpstr>Arial</vt:lpstr>
      <vt:lpstr>Calibri</vt:lpstr>
      <vt:lpstr>CMU Serif</vt:lpstr>
      <vt:lpstr>Times New Roman</vt:lpstr>
      <vt:lpstr>Wingdings</vt:lpstr>
      <vt:lpstr>Tecnologia 16x9</vt:lpstr>
      <vt:lpstr>DNA Sequence Alignment</vt:lpstr>
      <vt:lpstr>Presentazione standard di PowerPoint</vt:lpstr>
      <vt:lpstr>Ogni Rank:</vt:lpstr>
      <vt:lpstr>Fase di ricerca:</vt:lpstr>
      <vt:lpstr>Problema</vt:lpstr>
      <vt:lpstr>Gestione seq_matches:</vt:lpstr>
      <vt:lpstr>Gestione pat_found e pat_matches:</vt:lpstr>
      <vt:lpstr>Presentazione standard di PowerPoint</vt:lpstr>
      <vt:lpstr>  </vt:lpstr>
      <vt:lpstr>  </vt:lpstr>
      <vt:lpstr>  </vt:lpstr>
      <vt:lpstr>  </vt:lpstr>
      <vt:lpstr>Presentazione standard di PowerPoint</vt:lpstr>
      <vt:lpstr>  </vt:lpstr>
      <vt:lpstr>  </vt:lpstr>
      <vt:lpstr>Presentazione standard di PowerPoint</vt:lpstr>
      <vt:lpstr>  </vt:lpstr>
      <vt:lpstr>DNA Sequence Alignment</vt:lpstr>
      <vt:lpstr>  </vt:lpstr>
      <vt:lpstr>  </vt:lpstr>
      <vt:lpstr>Presentazione standard di PowerPoint</vt:lpstr>
      <vt:lpstr>  </vt:lpstr>
      <vt:lpstr>  </vt:lpstr>
      <vt:lpstr>Conclusioni: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Vale Cola</dc:creator>
  <cp:lastModifiedBy>Vale Cola</cp:lastModifiedBy>
  <cp:revision>8</cp:revision>
  <dcterms:created xsi:type="dcterms:W3CDTF">2025-01-30T17:08:50Z</dcterms:created>
  <dcterms:modified xsi:type="dcterms:W3CDTF">2025-02-10T15:43:16Z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